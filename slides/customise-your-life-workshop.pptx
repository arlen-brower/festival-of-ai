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901ce7df564467" /><Relationship Type="http://schemas.openxmlformats.org/officeDocument/2006/relationships/extended-properties" Target="/docProps/app.xml" Id="R873282656e7f42a8" /><Relationship Type="http://schemas.openxmlformats.org/officeDocument/2006/relationships/officeDocument" Target="/ppt/presentation.xml" Id="Rb4a8711b02ed4376" /></Relationships>
</file>

<file path=ppt/presentation.xml><?xml version="1.0" encoding="utf-8"?>
<p:presentation xmlns:p="http://schemas.openxmlformats.org/presentationml/2006/main">
  <p:sldMasterIdLst>
    <p:sldMasterId xmlns:r="http://schemas.openxmlformats.org/officeDocument/2006/relationships" id="2147483648" r:id="R9540c38045f1483c"/>
  </p:sldMasterIdLst>
  <p:notesMasterIdLst>
    <p:notesMasterId xmlns:r="http://schemas.openxmlformats.org/officeDocument/2006/relationships" r:id="R5f2e0d0baffc407b"/>
  </p:notesMasterIdLst>
  <p:sldIdLst>
    <p:sldId xmlns:r="http://schemas.openxmlformats.org/officeDocument/2006/relationships" id="256" r:id="R9dc76ffdc52b44bf"/>
    <p:sldId xmlns:r="http://schemas.openxmlformats.org/officeDocument/2006/relationships" id="257" r:id="Rc9b8d185ad32402e"/>
    <p:sldId xmlns:r="http://schemas.openxmlformats.org/officeDocument/2006/relationships" id="258" r:id="R0a9296028a2a4ea9"/>
    <p:sldId xmlns:r="http://schemas.openxmlformats.org/officeDocument/2006/relationships" id="259" r:id="Rafc3fa7255a34a0b"/>
    <p:sldId xmlns:r="http://schemas.openxmlformats.org/officeDocument/2006/relationships" id="260" r:id="R35896e8527894f5b"/>
    <p:sldId xmlns:r="http://schemas.openxmlformats.org/officeDocument/2006/relationships" id="261" r:id="Rd8c451c4b8dc4bd1"/>
    <p:sldId xmlns:r="http://schemas.openxmlformats.org/officeDocument/2006/relationships" id="262" r:id="Rd35664d65f114c47"/>
    <p:sldId xmlns:r="http://schemas.openxmlformats.org/officeDocument/2006/relationships" id="263" r:id="Ra262244e7ed244fb"/>
    <p:sldId xmlns:r="http://schemas.openxmlformats.org/officeDocument/2006/relationships" id="264" r:id="R6450bc97f5c444f3"/>
    <p:sldId xmlns:r="http://schemas.openxmlformats.org/officeDocument/2006/relationships" id="265" r:id="R1a4cb79eb44d4634"/>
    <p:sldId xmlns:r="http://schemas.openxmlformats.org/officeDocument/2006/relationships" id="266" r:id="R8b99f447f6a54031"/>
    <p:sldId xmlns:r="http://schemas.openxmlformats.org/officeDocument/2006/relationships" id="267" r:id="R604444527b344f6f"/>
    <p:sldId xmlns:r="http://schemas.openxmlformats.org/officeDocument/2006/relationships" id="268" r:id="Rfc7e84cac66b4c3a"/>
    <p:sldId xmlns:r="http://schemas.openxmlformats.org/officeDocument/2006/relationships" id="269" r:id="R7e9f1d4eb31844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1b4b47a3d347a9" /><Relationship Type="http://schemas.openxmlformats.org/officeDocument/2006/relationships/slideMaster" Target="/ppt/slideMasters/slideMaster1.xml" Id="R9540c38045f1483c" /><Relationship Type="http://schemas.openxmlformats.org/officeDocument/2006/relationships/notesMaster" Target="/ppt/notesMasters/notesMaster1.xml" Id="R5f2e0d0baffc407b" /><Relationship Type="http://schemas.openxmlformats.org/officeDocument/2006/relationships/presProps" Target="/ppt/presProps.xml" Id="Rfb525f61bac84cc4" /><Relationship Type="http://schemas.openxmlformats.org/officeDocument/2006/relationships/tableStyles" Target="/ppt/tableStyles.xml" Id="Rddf258a1d5d74cfa" /><Relationship Type="http://schemas.openxmlformats.org/officeDocument/2006/relationships/slide" Target="/ppt/slides/slide1.xml" Id="R9dc76ffdc52b44bf" /><Relationship Type="http://schemas.openxmlformats.org/officeDocument/2006/relationships/slide" Target="/ppt/slides/slide2.xml" Id="Rc9b8d185ad32402e" /><Relationship Type="http://schemas.openxmlformats.org/officeDocument/2006/relationships/slide" Target="/ppt/slides/slide3.xml" Id="R0a9296028a2a4ea9" /><Relationship Type="http://schemas.openxmlformats.org/officeDocument/2006/relationships/slide" Target="/ppt/slides/slide4.xml" Id="Rafc3fa7255a34a0b" /><Relationship Type="http://schemas.openxmlformats.org/officeDocument/2006/relationships/slide" Target="/ppt/slides/slide5.xml" Id="R35896e8527894f5b" /><Relationship Type="http://schemas.openxmlformats.org/officeDocument/2006/relationships/slide" Target="/ppt/slides/slide6.xml" Id="Rd8c451c4b8dc4bd1" /><Relationship Type="http://schemas.openxmlformats.org/officeDocument/2006/relationships/slide" Target="/ppt/slides/slide7.xml" Id="Rd35664d65f114c47" /><Relationship Type="http://schemas.openxmlformats.org/officeDocument/2006/relationships/slide" Target="/ppt/slides/slide8.xml" Id="Ra262244e7ed244fb" /><Relationship Type="http://schemas.openxmlformats.org/officeDocument/2006/relationships/slide" Target="/ppt/slides/slide9.xml" Id="R6450bc97f5c444f3" /><Relationship Type="http://schemas.openxmlformats.org/officeDocument/2006/relationships/slide" Target="/ppt/slides/slide10.xml" Id="R1a4cb79eb44d4634" /><Relationship Type="http://schemas.openxmlformats.org/officeDocument/2006/relationships/slide" Target="/ppt/slides/slide11.xml" Id="R8b99f447f6a54031" /><Relationship Type="http://schemas.openxmlformats.org/officeDocument/2006/relationships/slide" Target="/ppt/slides/slide12.xml" Id="R604444527b344f6f" /><Relationship Type="http://schemas.openxmlformats.org/officeDocument/2006/relationships/slide" Target="/ppt/slides/slide13.xml" Id="Rfc7e84cac66b4c3a" /><Relationship Type="http://schemas.openxmlformats.org/officeDocument/2006/relationships/slide" Target="/ppt/slides/slide14.xml" Id="R7e9f1d4eb31844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deb65e64974c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e4f2cee4864a37" /><Relationship Type="http://schemas.openxmlformats.org/officeDocument/2006/relationships/notesMaster" Target="/ppt/notesMasters/notesMaster1.xml" Id="R066cf41b1ffb41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5d8e7d70b24d76" /><Relationship Type="http://schemas.openxmlformats.org/officeDocument/2006/relationships/notesMaster" Target="/ppt/notesMasters/notesMaster1.xml" Id="Rf5ac8bd04d9b48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21541500e04d27" /><Relationship Type="http://schemas.openxmlformats.org/officeDocument/2006/relationships/notesMaster" Target="/ppt/notesMasters/notesMaster1.xml" Id="R4e7a7dd0711d46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ea801b0d8f4f0f" /><Relationship Type="http://schemas.openxmlformats.org/officeDocument/2006/relationships/notesMaster" Target="/ppt/notesMasters/notesMaster1.xml" Id="Re7ee55bd89674b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7b1a04bcc44b93" /><Relationship Type="http://schemas.openxmlformats.org/officeDocument/2006/relationships/notesMaster" Target="/ppt/notesMasters/notesMaster1.xml" Id="R9080af1bdc7c4b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0b8e38c8fa4429" /><Relationship Type="http://schemas.openxmlformats.org/officeDocument/2006/relationships/notesMaster" Target="/ppt/notesMasters/notesMaster1.xml" Id="R8a9ec53b6b5d45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79fc8a746c4f5a" /><Relationship Type="http://schemas.openxmlformats.org/officeDocument/2006/relationships/notesMaster" Target="/ppt/notesMasters/notesMaster1.xml" Id="Rd68801e69e5847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ee6a9b2b9442bc" /><Relationship Type="http://schemas.openxmlformats.org/officeDocument/2006/relationships/notesMaster" Target="/ppt/notesMasters/notesMaster1.xml" Id="R897141d942cc43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e470ab9d4e4387" /><Relationship Type="http://schemas.openxmlformats.org/officeDocument/2006/relationships/notesMaster" Target="/ppt/notesMasters/notesMaster1.xml" Id="Rb9e0e2cf07a74d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33459102bc4d5f" /><Relationship Type="http://schemas.openxmlformats.org/officeDocument/2006/relationships/notesMaster" Target="/ppt/notesMasters/notesMaster1.xml" Id="Rd85ae9b5e9ea4d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30c9823a684633" /><Relationship Type="http://schemas.openxmlformats.org/officeDocument/2006/relationships/notesMaster" Target="/ppt/notesMasters/notesMaster1.xml" Id="Rea06926f9bb447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af7dcfbb0a49b0" /><Relationship Type="http://schemas.openxmlformats.org/officeDocument/2006/relationships/notesMaster" Target="/ppt/notesMasters/notesMaster1.xml" Id="R3712b124f0ea44b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3646f99a944874" /><Relationship Type="http://schemas.openxmlformats.org/officeDocument/2006/relationships/notesMaster" Target="/ppt/notesMasters/notesMaster1.xml" Id="Rff48268869ac4b0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78cac7920c41b0" /><Relationship Type="http://schemas.openxmlformats.org/officeDocument/2006/relationships/notesMaster" Target="/ppt/notesMasters/notesMaster1.xml" Id="R4e3b5e1a3c3742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0:00–0:02. Welcome the room in one sentence, then say: ‘This is not about building the next big app. It is about the little irritations nobody else will prioritise for you.’ Switch immediately to Firefox and reveal the completed dashboard. Do not explain your biography or the technology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0:02–0:04. Return to this slide after the live before/after reveal. Ask the question and take two or three quick responses. The point is not the weather tile; it is that a page people see every day can reflect their own priorities. Say clearly that the image is a concept visual, while the browser demo is the working artifact.</a:t>
            </a:r>
          </a:p>
          <a:p xmlns:a="http://schemas.openxmlformats.org/drawingml/2006/main">
            <a:r>
              <a:t/>
            </a:r>
          </a:p>
          <a:p xmlns:a="http://schemas.openxmlformats.org/drawingml/2006/main">
            <a:r>
              <a:t>[Sources]</a:t>
            </a:r>
          </a:p>
          <a:p xmlns:a="http://schemas.openxmlformats.org/drawingml/2006/main">
            <a:r>
              <a:t>- OpenAI ImageGen; concept dashboard generated 17 August 2026; prompt recorded in .tmp/slides-build/source-notes.txt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0:04–0:06. Give one authentic example from your own work for each sentence. Keep each example under 20 seconds. Emphasise repeated, inspectable, low-stakes friction—not a large organisational transformation.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0:06–0:08. Define ‘tiny’ using the three ones. The release criterion is not commercial polish; it is whether the tool reliably saves effort or makes the repeated job easier for its intended 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0:08–0:12. This is the central reframing for non-programmers. AI can lower the syntax barrier, but it does not know the real purpose, acceptable data, consequences, or definition of correct. Say: ‘You can make consequential choices without understanding every line, but you cannot delegate responsibility for those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0:12–0:14. Give participants about 90 seconds to write two or three candidate irritations. Read the verbs aloud. Tell them explicitly not to paste confidential, student, health, HR, client, or research information into an AI tool during the workshop.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0:14–0:18. Leave this slide up while participants fill the core brief. Ask them to include one concrete example. Circulate and reduce scope. If someone proposes a large system, ask: ‘What is the smallest useful moment inside that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0:18–0:20. Run this tightly. Give 30 seconds to explain, 20 seconds for the question and answer, then swap. Do not invite reports back yet; preserve momentum for the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0:20–0:30. Switch away from the deck. Show the completed brief, paste the prepared prompt, and explain only three clauses: ordinary browser files, local storage/minimum permissions, and no unrequested features. Use a prepared checkpoint if generation stalls. Load the temporary Firefox extension, add a task, open a new tab to test persistence, reject a blank task, then ask the room to choose one contained change. End when the tests pass. Do not polish.</a:t>
            </a:r>
          </a:p>
          <a:p xmlns:a="http://schemas.openxmlformats.org/drawingml/2006/main">
            <a:r>
              <a:t/>
            </a:r>
          </a:p>
          <a:p xmlns:a="http://schemas.openxmlformats.org/drawingml/2006/main">
            <a:r>
              <a:t>[Sources]</a:t>
            </a:r>
          </a:p>
          <a:p xmlns:a="http://schemas.openxmlformats.org/drawingml/2006/main">
            <a:r>
              <a:t>- Mozilla MDN, chrome_url_overrides: https://developer.mozilla.org/en-US/docs/Mozilla/Add-ons/WebExtensions/manifest.json/chrome_url_overrides</a:t>
            </a:r>
          </a:p>
          <a:p xmlns:a="http://schemas.openxmlformats.org/drawingml/2006/main">
            <a:r>
              <a:t>- Mozilla Extension Workshop, temporary installation: https://extensionworkshop.com/documentation/develop/temporary-installation-in-firefox/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0:30–0:36. Present these as two equally valid lanes, not technical versus non-technical people. Encourage pairs. A participant who leaves with a sharper brief has made real progress. A dashboard participant should prototype one tile, not an entire productivity suite.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0:36–0:40. Partners try one normal, one edge, and one safe-failure case. Ask them to record one requested change or one reason not to continue. Reinforce that ‘it opened once’ is not a meaningful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0:40–0:42. Ask: ‘What changed besides the screen?’ Draw out location data, a third party, host permissions, network dependency, attribution, stale results, and offline behaviour. Explain that the workshop version avoids automatic geolocation and uses a user-chosen location. Also disclose that temporary Firefox extensions disappear on restart and persistent installation in standard Firefox requires Mozilla signing.</a:t>
            </a:r>
          </a:p>
          <a:p xmlns:a="http://schemas.openxmlformats.org/drawingml/2006/main">
            <a:r>
              <a:t/>
            </a:r>
          </a:p>
          <a:p xmlns:a="http://schemas.openxmlformats.org/drawingml/2006/main">
            <a:r>
              <a:t>[Sources]</a:t>
            </a:r>
          </a:p>
          <a:p xmlns:a="http://schemas.openxmlformats.org/drawingml/2006/main">
            <a:r>
              <a:t>- Open-Meteo API documentation: https://open-meteo.com/en/docs</a:t>
            </a:r>
          </a:p>
          <a:p xmlns:a="http://schemas.openxmlformats.org/drawingml/2006/main">
            <a:r>
              <a:t>- Mozilla Support, add-on signing: https://support.mozilla.org/en-US/kb/add-on-signing-in-firefox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0:42–0:43. Move quickly. Ask five questions aloud: What leaves the device? How will I notice a wrong result? What can it change or send? Who else is affected? What will need maintenance? Make clear that red does not mean ‘never’; it means not as an improvised 45-minute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0:43–0:45. Ask everyone to choose and write one next action. Explicitly say that ‘stop; this is not useful or safe enough’ is also a successful conclusion. Close with the quote on the right. Leave this slide on screen for the final question and resource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97b437edfb45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3a043911964c3c" /><Relationship Type="http://schemas.openxmlformats.org/officeDocument/2006/relationships/slideLayout" Target="/ppt/slideLayouts/slideLayout1.xml" Id="Rb4859550a34046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859550a34046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82875b29ed4810" /><Relationship Type="http://schemas.openxmlformats.org/officeDocument/2006/relationships/notesSlide" Target="/ppt/notesSlides/notesSlide1.xml" Id="R8b7dab4a5ddd4a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921ffb6ce545d7" /><Relationship Type="http://schemas.openxmlformats.org/officeDocument/2006/relationships/image" Target="/ppt/media/image.png" Id="R385e09f0d01b4aab" /><Relationship Type="http://schemas.openxmlformats.org/officeDocument/2006/relationships/notesSlide" Target="/ppt/notesSlides/notesSlide2.xml" Id="R17d33d96092c44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85a2ee3bbf4cb6" /><Relationship Type="http://schemas.openxmlformats.org/officeDocument/2006/relationships/notesSlide" Target="/ppt/notesSlides/notesSlide3.xml" Id="R14e5426e9abd4a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304ebd5d2e04c79" /><Relationship Type="http://schemas.openxmlformats.org/officeDocument/2006/relationships/notesSlide" Target="/ppt/notesSlides/notesSlide4.xml" Id="Re650999c1e2448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9a516f91dd4d26" /><Relationship Type="http://schemas.openxmlformats.org/officeDocument/2006/relationships/notesSlide" Target="/ppt/notesSlides/notesSlide5.xml" Id="Rafae0b15a40342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f57860fd77488a" /><Relationship Type="http://schemas.openxmlformats.org/officeDocument/2006/relationships/notesSlide" Target="/ppt/notesSlides/notesSlide6.xml" Id="R26b9856cb72541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ccb7567aa04c9e" /><Relationship Type="http://schemas.openxmlformats.org/officeDocument/2006/relationships/notesSlide" Target="/ppt/notesSlides/notesSlide7.xml" Id="R8496e6f7147d47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92346e381c4ed2" /><Relationship Type="http://schemas.openxmlformats.org/officeDocument/2006/relationships/notesSlide" Target="/ppt/notesSlides/notesSlide8.xml" Id="Rad9f2bb71daa48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5def2bc0824b5c" /><Relationship Type="http://schemas.openxmlformats.org/officeDocument/2006/relationships/notesSlide" Target="/ppt/notesSlides/notesSlide9.xml" Id="R3c1443a607f742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6ff01d068114b7a" /><Relationship Type="http://schemas.openxmlformats.org/officeDocument/2006/relationships/notesSlide" Target="/ppt/notesSlides/notesSlide10.xml" Id="R13f7a2f53c4f46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ec158d7334d40fb" /><Relationship Type="http://schemas.openxmlformats.org/officeDocument/2006/relationships/notesSlide" Target="/ppt/notesSlides/notesSlide11.xml" Id="R34ff8bec97224b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6e433a728694e5b" /><Relationship Type="http://schemas.openxmlformats.org/officeDocument/2006/relationships/notesSlide" Target="/ppt/notesSlides/notesSlide12.xml" Id="R5e9ed40003c641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0ecee651de84924" /><Relationship Type="http://schemas.openxmlformats.org/officeDocument/2006/relationships/notesSlide" Target="/ppt/notesSlides/notesSlide13.xml" Id="R597f3a4a6ed744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2b415b6054a444e" /><Relationship Type="http://schemas.openxmlformats.org/officeDocument/2006/relationships/hyperlink" Target="https://github.com/arlen-brower/festival-of-ai" TargetMode="External" Id="Rde721a3de16e4b50" /><Relationship Type="http://schemas.openxmlformats.org/officeDocument/2006/relationships/notesSlide" Target="/ppt/notesSlides/notesSlide14.xml" Id="Rc0d7951944c64f8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ver-kicker">
            <a:extLst xmlns:a="http://schemas.openxmlformats.org/drawingml/2006/main">
              <a:ext uri="{FF2B5EF4-FFF2-40B4-BE49-F238E27FC236}">
                <a16:creationId xmlns:a16="http://schemas.microsoft.com/office/drawing/2014/main" id="{B4377DD8-079D-4B4D-BE13-651402BF9923}"/>
              </a:ext>
            </a:extLst>
          </p:cNvPr>
          <p:cNvSpPr>
            <a:spLocks xmlns:a="http://schemas.openxmlformats.org/drawingml/2006/main" noGrp="1"/>
          </p:cNvSpPr>
          <p:nvPr/>
        </p:nvSpPr>
        <p:spPr>
          <a:xfrm xmlns:a="http://schemas.openxmlformats.org/drawingml/2006/main">
            <a:off x="533400" y="4572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FESTIVAL OF AI</a:t>
            </a:r>
          </a:p>
        </p:txBody>
      </p:sp>
      <p:sp>
        <p:nvSpPr>
          <p:cNvPr id="2" name="cover-title">
            <a:extLst xmlns:a="http://schemas.openxmlformats.org/drawingml/2006/main">
              <a:ext uri="{FF2B5EF4-FFF2-40B4-BE49-F238E27FC236}">
                <a16:creationId xmlns:a16="http://schemas.microsoft.com/office/drawing/2014/main" id="{4E18D32D-5977-4DD0-A9FB-BE69932AF739}"/>
              </a:ext>
            </a:extLst>
          </p:cNvPr>
          <p:cNvSpPr>
            <a:spLocks xmlns:a="http://schemas.openxmlformats.org/drawingml/2006/main" noGrp="1"/>
          </p:cNvSpPr>
          <p:nvPr/>
        </p:nvSpPr>
        <p:spPr>
          <a:xfrm xmlns:a="http://schemas.openxmlformats.org/drawingml/2006/main">
            <a:off x="533400" y="1714500"/>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5700" b="1">
                <a:solidFill>
                  <a:srgbClr val="111111"/>
                </a:solidFill>
                <a:latin typeface="Arial"/>
                <a:ea typeface="Arial"/>
                <a:cs typeface="Arial"/>
              </a:defRPr>
            </a:pPr>
            <a:r>
              <a:rPr sz="5700" b="1">
                <a:solidFill>
                  <a:srgbClr val="111111"/>
                </a:solidFill>
                <a:latin typeface="Arial"/>
                <a:ea typeface="Arial"/>
                <a:cs typeface="Arial"/>
              </a:rPr>
              <a:t>Customise Your Life</a:t>
            </a:r>
          </a:p>
        </p:txBody>
      </p:sp>
      <p:sp>
        <p:nvSpPr>
          <p:cNvPr id="3" name="cover-subtitle">
            <a:extLst xmlns:a="http://schemas.openxmlformats.org/drawingml/2006/main">
              <a:ext uri="{FF2B5EF4-FFF2-40B4-BE49-F238E27FC236}">
                <a16:creationId xmlns:a16="http://schemas.microsoft.com/office/drawing/2014/main" id="{F35513BA-F30A-44C1-97DF-C7EB6B25FB7B}"/>
              </a:ext>
            </a:extLst>
          </p:cNvPr>
          <p:cNvSpPr>
            <a:spLocks xmlns:a="http://schemas.openxmlformats.org/drawingml/2006/main" noGrp="1"/>
          </p:cNvSpPr>
          <p:nvPr/>
        </p:nvSpPr>
        <p:spPr>
          <a:xfrm xmlns:a="http://schemas.openxmlformats.org/drawingml/2006/main">
            <a:off x="533400" y="28575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a:solidFill>
                  <a:srgbClr val="5E6670"/>
                </a:solidFill>
                <a:latin typeface="Arial"/>
                <a:ea typeface="Arial"/>
                <a:cs typeface="Arial"/>
              </a:defRPr>
            </a:pPr>
            <a:r>
              <a:rPr sz="2550">
                <a:solidFill>
                  <a:srgbClr val="5E6670"/>
                </a:solidFill>
                <a:latin typeface="Arial"/>
                <a:ea typeface="Arial"/>
                <a:cs typeface="Arial"/>
              </a:rPr>
              <a:t>Building tiny personal tools with AI</a:t>
            </a:r>
          </a:p>
        </p:txBody>
      </p:sp>
      <p:sp>
        <p:nvSpPr>
          <p:cNvPr id="4" name="cover-rule">
            <a:extLst xmlns:a="http://schemas.openxmlformats.org/drawingml/2006/main">
              <a:ext uri="{FF2B5EF4-FFF2-40B4-BE49-F238E27FC236}">
                <a16:creationId xmlns:a16="http://schemas.microsoft.com/office/drawing/2014/main" id="{22219E67-80EC-4C91-A75C-832BDDC4D95F}"/>
              </a:ext>
            </a:extLst>
          </p:cNvPr>
          <p:cNvSpPr>
            <a:spLocks xmlns:a="http://schemas.openxmlformats.org/drawingml/2006/main" noGrp="1"/>
          </p:cNvSpPr>
          <p:nvPr/>
        </p:nvSpPr>
        <p:spPr>
          <a:xfrm xmlns:a="http://schemas.openxmlformats.org/drawingml/2006/main">
            <a:off x="533400" y="4610100"/>
            <a:ext cx="1714500" cy="0"/>
          </a:xfrm>
          <a:prstGeom xmlns:a="http://schemas.openxmlformats.org/drawingml/2006/main" prst="line">
            <a:avLst/>
          </a:prstGeom>
          <a:noFill xmlns:a="http://schemas.openxmlformats.org/drawingml/2006/main"/>
          <a:ln xmlns:a="http://schemas.openxmlformats.org/drawingml/2006/main" w="66675">
            <a:solidFill>
              <a:srgbClr val="6DCBF4"/>
            </a:solidFill>
            <a:prstDash val="solid"/>
          </a:ln>
        </p:spPr>
      </p:sp>
      <p:sp>
        <p:nvSpPr>
          <p:cNvPr id="5" name="cover-presenter">
            <a:extLst xmlns:a="http://schemas.openxmlformats.org/drawingml/2006/main">
              <a:ext uri="{FF2B5EF4-FFF2-40B4-BE49-F238E27FC236}">
                <a16:creationId xmlns:a16="http://schemas.microsoft.com/office/drawing/2014/main" id="{8413B411-4CEE-42F4-8EA9-BF0A0C660A38}"/>
              </a:ext>
            </a:extLst>
          </p:cNvPr>
          <p:cNvSpPr>
            <a:spLocks xmlns:a="http://schemas.openxmlformats.org/drawingml/2006/main" noGrp="1"/>
          </p:cNvSpPr>
          <p:nvPr/>
        </p:nvSpPr>
        <p:spPr>
          <a:xfrm xmlns:a="http://schemas.openxmlformats.org/drawingml/2006/main">
            <a:off x="533400" y="49530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Arlen Brower</a:t>
            </a:r>
          </a:p>
        </p:txBody>
      </p:sp>
      <p:sp>
        <p:nvSpPr>
          <p:cNvPr id="6" name="cover-role">
            <a:extLst xmlns:a="http://schemas.openxmlformats.org/drawingml/2006/main">
              <a:ext uri="{FF2B5EF4-FFF2-40B4-BE49-F238E27FC236}">
                <a16:creationId xmlns:a16="http://schemas.microsoft.com/office/drawing/2014/main" id="{50791347-B889-4B42-B1A8-D7F2DC115EB8}"/>
              </a:ext>
            </a:extLst>
          </p:cNvPr>
          <p:cNvSpPr>
            <a:spLocks xmlns:a="http://schemas.openxmlformats.org/drawingml/2006/main" noGrp="1"/>
          </p:cNvSpPr>
          <p:nvPr/>
        </p:nvSpPr>
        <p:spPr>
          <a:xfrm xmlns:a="http://schemas.openxmlformats.org/drawingml/2006/main">
            <a:off x="533400" y="5391150"/>
            <a:ext cx="657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a:solidFill>
                  <a:srgbClr val="5E6670"/>
                </a:solidFill>
                <a:latin typeface="Arial"/>
                <a:ea typeface="Arial"/>
                <a:cs typeface="Arial"/>
              </a:defRPr>
            </a:pPr>
            <a:r>
              <a:rPr sz="1500">
                <a:solidFill>
                  <a:srgbClr val="5E6670"/>
                </a:solidFill>
                <a:latin typeface="Arial"/>
                <a:ea typeface="Arial"/>
                <a:cs typeface="Arial"/>
              </a:rPr>
              <a:t>Computer Science Lecturer · Industry Projects &amp; Placements</a:t>
            </a:r>
          </a:p>
        </p:txBody>
      </p:sp>
    </p:spTree>
    <p:extLst>
      <p:ext uri="{BB962C8B-B14F-4D97-AF65-F5344CB8AC3E}">
        <p14:creationId xmlns:p14="http://schemas.microsoft.com/office/powerpoint/2010/main" val="4778454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ro-kicker">
            <a:extLst xmlns:a="http://schemas.openxmlformats.org/drawingml/2006/main">
              <a:ext uri="{FF2B5EF4-FFF2-40B4-BE49-F238E27FC236}">
                <a16:creationId xmlns:a16="http://schemas.microsoft.com/office/drawing/2014/main" id="{68D26AE8-9F1C-4591-AB6A-C174D587A9AC}"/>
              </a:ext>
            </a:extLst>
          </p:cNvPr>
          <p:cNvSpPr>
            <a:spLocks xmlns:a="http://schemas.openxmlformats.org/drawingml/2006/main" noGrp="1"/>
          </p:cNvSpPr>
          <p:nvPr/>
        </p:nvSpPr>
        <p:spPr>
          <a:xfrm xmlns:a="http://schemas.openxmlformats.org/drawingml/2006/main">
            <a:off x="533400" y="4381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MY BROWSER, MY RULES</a:t>
            </a:r>
          </a:p>
        </p:txBody>
      </p:sp>
      <p:sp>
        <p:nvSpPr>
          <p:cNvPr id="2" name="hero-question">
            <a:extLst xmlns:a="http://schemas.openxmlformats.org/drawingml/2006/main">
              <a:ext uri="{FF2B5EF4-FFF2-40B4-BE49-F238E27FC236}">
                <a16:creationId xmlns:a16="http://schemas.microsoft.com/office/drawing/2014/main" id="{DF6FA93F-0F93-4AC9-9DB8-733C515D6B0D}"/>
              </a:ext>
            </a:extLst>
          </p:cNvPr>
          <p:cNvSpPr>
            <a:spLocks xmlns:a="http://schemas.openxmlformats.org/drawingml/2006/main" noGrp="1"/>
          </p:cNvSpPr>
          <p:nvPr/>
        </p:nvSpPr>
        <p:spPr>
          <a:xfrm xmlns:a="http://schemas.openxmlformats.org/drawingml/2006/main">
            <a:off x="533400" y="1352550"/>
            <a:ext cx="4191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a:solidFill>
                  <a:srgbClr val="111111"/>
                </a:solidFill>
                <a:latin typeface="Arial"/>
                <a:ea typeface="Arial"/>
                <a:cs typeface="Arial"/>
              </a:defRPr>
            </a:pPr>
            <a:r>
              <a:rPr sz="4350" b="1">
                <a:solidFill>
                  <a:srgbClr val="111111"/>
                </a:solidFill>
                <a:latin typeface="Arial"/>
                <a:ea typeface="Arial"/>
                <a:cs typeface="Arial"/>
              </a:rPr>
              <a:t>What would you want this page to do for you?</a:t>
            </a:r>
          </a:p>
        </p:txBody>
      </p:sp>
      <p:sp>
        <p:nvSpPr>
          <p:cNvPr id="3" name="hero-caption">
            <a:extLst xmlns:a="http://schemas.openxmlformats.org/drawingml/2006/main">
              <a:ext uri="{FF2B5EF4-FFF2-40B4-BE49-F238E27FC236}">
                <a16:creationId xmlns:a16="http://schemas.microsoft.com/office/drawing/2014/main" id="{3601CD0D-7055-4732-8BCF-7C7B4E2F4CA1}"/>
              </a:ext>
            </a:extLst>
          </p:cNvPr>
          <p:cNvSpPr>
            <a:spLocks xmlns:a="http://schemas.openxmlformats.org/drawingml/2006/main" noGrp="1"/>
          </p:cNvSpPr>
          <p:nvPr/>
        </p:nvSpPr>
        <p:spPr>
          <a:xfrm xmlns:a="http://schemas.openxmlformats.org/drawingml/2006/main">
            <a:off x="533400" y="4400550"/>
            <a:ext cx="4000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A greeting. Three tasks. Useful links. Weather. One thing that is unmistakably yours.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85e09f0d01b4aab"/>
          <a:stretch xmlns:a="http://schemas.openxmlformats.org/drawingml/2006/main"/>
        </p:blipFill>
        <p:spPr>
          <a:xfrm xmlns:a="http://schemas.openxmlformats.org/drawingml/2006/main">
            <a:off x="4476750" y="1336571"/>
            <a:ext cx="7334250" cy="4127709"/>
          </a:xfrm>
          <a:prstGeom xmlns:a="http://schemas.openxmlformats.org/drawingml/2006/main" prst="rect">
            <a:avLst/>
          </a:prstGeom>
        </p:spPr>
      </p:pic>
      <p:sp>
        <p:nvSpPr>
          <p:cNvPr id="5" name="hero-page">
            <a:extLst xmlns:a="http://schemas.openxmlformats.org/drawingml/2006/main">
              <a:ext uri="{FF2B5EF4-FFF2-40B4-BE49-F238E27FC236}">
                <a16:creationId xmlns:a16="http://schemas.microsoft.com/office/drawing/2014/main" id="{EF9EF8A5-FFF3-4509-A44D-991A3A8BF2A0}"/>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5E6670"/>
                </a:solidFill>
                <a:latin typeface="Arial"/>
                <a:ea typeface="Arial"/>
                <a:cs typeface="Arial"/>
              </a:defRPr>
            </a:pPr>
            <a:r>
              <a:rPr sz="1200">
                <a:solidFill>
                  <a:srgbClr val="5E6670"/>
                </a:solidFill>
                <a:latin typeface="Arial"/>
                <a:ea typeface="Arial"/>
                <a:cs typeface="Arial"/>
              </a:rPr>
              <a:t>02</a:t>
            </a:r>
          </a:p>
        </p:txBody>
      </p:sp>
    </p:spTree>
    <p:extLst>
      <p:ext uri="{BB962C8B-B14F-4D97-AF65-F5344CB8AC3E}">
        <p14:creationId xmlns:p14="http://schemas.microsoft.com/office/powerpoint/2010/main" val="19047273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3">
            <a:extLst xmlns:a="http://schemas.openxmlformats.org/drawingml/2006/main">
              <a:ext uri="{FF2B5EF4-FFF2-40B4-BE49-F238E27FC236}">
                <a16:creationId xmlns:a16="http://schemas.microsoft.com/office/drawing/2014/main" id="{3157F5A6-0CAD-4A56-9052-F154BA5A461A}"/>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START WITH FRICTION</a:t>
            </a:r>
          </a:p>
        </p:txBody>
      </p:sp>
      <p:sp>
        <p:nvSpPr>
          <p:cNvPr id="2" name="title-3">
            <a:extLst xmlns:a="http://schemas.openxmlformats.org/drawingml/2006/main">
              <a:ext uri="{FF2B5EF4-FFF2-40B4-BE49-F238E27FC236}">
                <a16:creationId xmlns:a16="http://schemas.microsoft.com/office/drawing/2014/main" id="{3D923E4F-86F5-4B24-98CA-382CA321CABF}"/>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The little irritations are worth noticing</a:t>
            </a:r>
          </a:p>
        </p:txBody>
      </p:sp>
      <p:sp>
        <p:nvSpPr>
          <p:cNvPr id="3" name="page-3">
            <a:extLst xmlns:a="http://schemas.openxmlformats.org/drawingml/2006/main">
              <a:ext uri="{FF2B5EF4-FFF2-40B4-BE49-F238E27FC236}">
                <a16:creationId xmlns:a16="http://schemas.microsoft.com/office/drawing/2014/main" id="{82917CC8-4BD6-4451-8ECC-69181354738D}"/>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5E6670"/>
                </a:solidFill>
                <a:latin typeface="Arial"/>
                <a:ea typeface="Arial"/>
                <a:cs typeface="Arial"/>
              </a:defRPr>
            </a:pPr>
            <a:r>
              <a:rPr sz="1200">
                <a:solidFill>
                  <a:srgbClr val="5E6670"/>
                </a:solidFill>
                <a:latin typeface="Arial"/>
                <a:ea typeface="Arial"/>
                <a:cs typeface="Arial"/>
              </a:rPr>
              <a:t>03</a:t>
            </a:r>
          </a:p>
        </p:txBody>
      </p:sp>
      <p:sp>
        <p:nvSpPr>
          <p:cNvPr id="4" name="friction-lead">
            <a:extLst xmlns:a="http://schemas.openxmlformats.org/drawingml/2006/main">
              <a:ext uri="{FF2B5EF4-FFF2-40B4-BE49-F238E27FC236}">
                <a16:creationId xmlns:a16="http://schemas.microsoft.com/office/drawing/2014/main" id="{D1178FC0-78FD-4039-BB50-6111D16E6500}"/>
              </a:ext>
            </a:extLst>
          </p:cNvPr>
          <p:cNvSpPr>
            <a:spLocks xmlns:a="http://schemas.openxmlformats.org/drawingml/2006/main" noGrp="1"/>
          </p:cNvSpPr>
          <p:nvPr/>
        </p:nvSpPr>
        <p:spPr>
          <a:xfrm xmlns:a="http://schemas.openxmlformats.org/drawingml/2006/main">
            <a:off x="533400" y="179070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a:solidFill>
                  <a:srgbClr val="5E6670"/>
                </a:solidFill>
                <a:latin typeface="Arial"/>
                <a:ea typeface="Arial"/>
                <a:cs typeface="Arial"/>
              </a:defRPr>
            </a:pPr>
            <a:r>
              <a:rPr sz="2025">
                <a:solidFill>
                  <a:srgbClr val="5E6670"/>
                </a:solidFill>
                <a:latin typeface="Arial"/>
                <a:ea typeface="Arial"/>
                <a:cs typeface="Arial"/>
              </a:rPr>
              <a:t>Good tiny tools often begin with a sentence you have stopped saying out loud:</a:t>
            </a:r>
          </a:p>
        </p:txBody>
      </p:sp>
      <p:sp>
        <p:nvSpPr>
          <p:cNvPr id="5" name="column-rule-1">
            <a:extLst xmlns:a="http://schemas.openxmlformats.org/drawingml/2006/main">
              <a:ext uri="{FF2B5EF4-FFF2-40B4-BE49-F238E27FC236}">
                <a16:creationId xmlns:a16="http://schemas.microsoft.com/office/drawing/2014/main" id="{33AAB865-4638-43B2-9C65-352F87FB81B5}"/>
              </a:ext>
            </a:extLst>
          </p:cNvPr>
          <p:cNvSpPr>
            <a:spLocks xmlns:a="http://schemas.openxmlformats.org/drawingml/2006/main" noGrp="1"/>
          </p:cNvSpPr>
          <p:nvPr/>
        </p:nvSpPr>
        <p:spPr>
          <a:xfrm xmlns:a="http://schemas.openxmlformats.org/drawingml/2006/main">
            <a:off x="533400" y="2933700"/>
            <a:ext cx="3333750" cy="0"/>
          </a:xfrm>
          <a:prstGeom xmlns:a="http://schemas.openxmlformats.org/drawingml/2006/main" prst="line">
            <a:avLst/>
          </a:prstGeom>
          <a:noFill xmlns:a="http://schemas.openxmlformats.org/drawingml/2006/main"/>
          <a:ln xmlns:a="http://schemas.openxmlformats.org/drawingml/2006/main" w="47625">
            <a:solidFill>
              <a:srgbClr val="3D8DFF"/>
            </a:solidFill>
            <a:prstDash val="solid"/>
          </a:ln>
        </p:spPr>
      </p:sp>
      <p:sp>
        <p:nvSpPr>
          <p:cNvPr id="6" name="column-label-1">
            <a:extLst xmlns:a="http://schemas.openxmlformats.org/drawingml/2006/main">
              <a:ext uri="{FF2B5EF4-FFF2-40B4-BE49-F238E27FC236}">
                <a16:creationId xmlns:a16="http://schemas.microsoft.com/office/drawing/2014/main" id="{1E9CFC72-7C3F-4528-8857-1C44E7466A84}"/>
              </a:ext>
            </a:extLst>
          </p:cNvPr>
          <p:cNvSpPr>
            <a:spLocks xmlns:a="http://schemas.openxmlformats.org/drawingml/2006/main" noGrp="1"/>
          </p:cNvSpPr>
          <p:nvPr/>
        </p:nvSpPr>
        <p:spPr>
          <a:xfrm xmlns:a="http://schemas.openxmlformats.org/drawingml/2006/main">
            <a:off x="533400" y="31623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Arial"/>
                <a:ea typeface="Arial"/>
                <a:cs typeface="Arial"/>
              </a:defRPr>
            </a:pPr>
            <a:r>
              <a:rPr sz="2250" b="1">
                <a:solidFill>
                  <a:srgbClr val="111111"/>
                </a:solidFill>
                <a:latin typeface="Arial"/>
                <a:ea typeface="Arial"/>
                <a:cs typeface="Arial"/>
              </a:rPr>
              <a:t>“I copy this again.”</a:t>
            </a:r>
          </a:p>
        </p:txBody>
      </p:sp>
      <p:sp>
        <p:nvSpPr>
          <p:cNvPr id="7" name="column-body-1">
            <a:extLst xmlns:a="http://schemas.openxmlformats.org/drawingml/2006/main">
              <a:ext uri="{FF2B5EF4-FFF2-40B4-BE49-F238E27FC236}">
                <a16:creationId xmlns:a16="http://schemas.microsoft.com/office/drawing/2014/main" id="{747F8E1E-F99C-4740-8C90-67F9DF92BB67}"/>
              </a:ext>
            </a:extLst>
          </p:cNvPr>
          <p:cNvSpPr>
            <a:spLocks xmlns:a="http://schemas.openxmlformats.org/drawingml/2006/main" noGrp="1"/>
          </p:cNvSpPr>
          <p:nvPr/>
        </p:nvSpPr>
        <p:spPr>
          <a:xfrm xmlns:a="http://schemas.openxmlformats.org/drawingml/2006/main">
            <a:off x="533400" y="38100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Moving the same information between places, then cleaning it up by hand.</a:t>
            </a:r>
          </a:p>
        </p:txBody>
      </p:sp>
      <p:sp>
        <p:nvSpPr>
          <p:cNvPr id="8" name="column-rule-2">
            <a:extLst xmlns:a="http://schemas.openxmlformats.org/drawingml/2006/main">
              <a:ext uri="{FF2B5EF4-FFF2-40B4-BE49-F238E27FC236}">
                <a16:creationId xmlns:a16="http://schemas.microsoft.com/office/drawing/2014/main" id="{46735238-D97A-4E31-8C80-AD86F9EA9148}"/>
              </a:ext>
            </a:extLst>
          </p:cNvPr>
          <p:cNvSpPr>
            <a:spLocks xmlns:a="http://schemas.openxmlformats.org/drawingml/2006/main" noGrp="1"/>
          </p:cNvSpPr>
          <p:nvPr/>
        </p:nvSpPr>
        <p:spPr>
          <a:xfrm xmlns:a="http://schemas.openxmlformats.org/drawingml/2006/main">
            <a:off x="4429125" y="2933700"/>
            <a:ext cx="3333750" cy="0"/>
          </a:xfrm>
          <a:prstGeom xmlns:a="http://schemas.openxmlformats.org/drawingml/2006/main" prst="line">
            <a:avLst/>
          </a:prstGeom>
          <a:noFill xmlns:a="http://schemas.openxmlformats.org/drawingml/2006/main"/>
          <a:ln xmlns:a="http://schemas.openxmlformats.org/drawingml/2006/main" w="47625">
            <a:solidFill>
              <a:srgbClr val="3D8DFF"/>
            </a:solidFill>
            <a:prstDash val="solid"/>
          </a:ln>
        </p:spPr>
      </p:sp>
      <p:sp>
        <p:nvSpPr>
          <p:cNvPr id="9" name="column-label-2">
            <a:extLst xmlns:a="http://schemas.openxmlformats.org/drawingml/2006/main">
              <a:ext uri="{FF2B5EF4-FFF2-40B4-BE49-F238E27FC236}">
                <a16:creationId xmlns:a16="http://schemas.microsoft.com/office/drawing/2014/main" id="{993695B1-F485-4777-9D1F-00BF385346D7}"/>
              </a:ext>
            </a:extLst>
          </p:cNvPr>
          <p:cNvSpPr>
            <a:spLocks xmlns:a="http://schemas.openxmlformats.org/drawingml/2006/main" noGrp="1"/>
          </p:cNvSpPr>
          <p:nvPr/>
        </p:nvSpPr>
        <p:spPr>
          <a:xfrm xmlns:a="http://schemas.openxmlformats.org/drawingml/2006/main">
            <a:off x="4429125" y="31623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Arial"/>
                <a:ea typeface="Arial"/>
                <a:cs typeface="Arial"/>
              </a:defRPr>
            </a:pPr>
            <a:r>
              <a:rPr sz="2250" b="1">
                <a:solidFill>
                  <a:srgbClr val="111111"/>
                </a:solidFill>
                <a:latin typeface="Arial"/>
                <a:ea typeface="Arial"/>
                <a:cs typeface="Arial"/>
              </a:rPr>
              <a:t>“I rearrange this again.”</a:t>
            </a:r>
          </a:p>
        </p:txBody>
      </p:sp>
      <p:sp>
        <p:nvSpPr>
          <p:cNvPr id="10" name="column-body-2">
            <a:extLst xmlns:a="http://schemas.openxmlformats.org/drawingml/2006/main">
              <a:ext uri="{FF2B5EF4-FFF2-40B4-BE49-F238E27FC236}">
                <a16:creationId xmlns:a16="http://schemas.microsoft.com/office/drawing/2014/main" id="{10AAB7B8-41A4-495C-87A1-A783C960B651}"/>
              </a:ext>
            </a:extLst>
          </p:cNvPr>
          <p:cNvSpPr>
            <a:spLocks xmlns:a="http://schemas.openxmlformats.org/drawingml/2006/main" noGrp="1"/>
          </p:cNvSpPr>
          <p:nvPr/>
        </p:nvSpPr>
        <p:spPr>
          <a:xfrm xmlns:a="http://schemas.openxmlformats.org/drawingml/2006/main">
            <a:off x="4429125" y="38100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Turning messy notes, lists, or dates into the same useful structure.</a:t>
            </a:r>
          </a:p>
        </p:txBody>
      </p:sp>
      <p:sp>
        <p:nvSpPr>
          <p:cNvPr id="11" name="column-rule-3">
            <a:extLst xmlns:a="http://schemas.openxmlformats.org/drawingml/2006/main">
              <a:ext uri="{FF2B5EF4-FFF2-40B4-BE49-F238E27FC236}">
                <a16:creationId xmlns:a16="http://schemas.microsoft.com/office/drawing/2014/main" id="{725A0005-E0F6-41DA-9042-0F7130465BD3}"/>
              </a:ext>
            </a:extLst>
          </p:cNvPr>
          <p:cNvSpPr>
            <a:spLocks xmlns:a="http://schemas.openxmlformats.org/drawingml/2006/main" noGrp="1"/>
          </p:cNvSpPr>
          <p:nvPr/>
        </p:nvSpPr>
        <p:spPr>
          <a:xfrm xmlns:a="http://schemas.openxmlformats.org/drawingml/2006/main">
            <a:off x="8324850" y="2933700"/>
            <a:ext cx="3333750" cy="0"/>
          </a:xfrm>
          <a:prstGeom xmlns:a="http://schemas.openxmlformats.org/drawingml/2006/main" prst="line">
            <a:avLst/>
          </a:prstGeom>
          <a:noFill xmlns:a="http://schemas.openxmlformats.org/drawingml/2006/main"/>
          <a:ln xmlns:a="http://schemas.openxmlformats.org/drawingml/2006/main" w="47625">
            <a:solidFill>
              <a:srgbClr val="3D8DFF"/>
            </a:solidFill>
            <a:prstDash val="solid"/>
          </a:ln>
        </p:spPr>
      </p:sp>
      <p:sp>
        <p:nvSpPr>
          <p:cNvPr id="12" name="column-label-3">
            <a:extLst xmlns:a="http://schemas.openxmlformats.org/drawingml/2006/main">
              <a:ext uri="{FF2B5EF4-FFF2-40B4-BE49-F238E27FC236}">
                <a16:creationId xmlns:a16="http://schemas.microsoft.com/office/drawing/2014/main" id="{60DAE47D-E665-4E33-9F7B-D0CCD37932DC}"/>
              </a:ext>
            </a:extLst>
          </p:cNvPr>
          <p:cNvSpPr>
            <a:spLocks xmlns:a="http://schemas.openxmlformats.org/drawingml/2006/main" noGrp="1"/>
          </p:cNvSpPr>
          <p:nvPr/>
        </p:nvSpPr>
        <p:spPr>
          <a:xfrm xmlns:a="http://schemas.openxmlformats.org/drawingml/2006/main">
            <a:off x="8324850" y="31623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Arial"/>
                <a:ea typeface="Arial"/>
                <a:cs typeface="Arial"/>
              </a:defRPr>
            </a:pPr>
            <a:r>
              <a:rPr sz="2250" b="1">
                <a:solidFill>
                  <a:srgbClr val="111111"/>
                </a:solidFill>
                <a:latin typeface="Arial"/>
                <a:ea typeface="Arial"/>
                <a:cs typeface="Arial"/>
              </a:rPr>
              <a:t>“I click this again.”</a:t>
            </a:r>
          </a:p>
        </p:txBody>
      </p:sp>
      <p:sp>
        <p:nvSpPr>
          <p:cNvPr id="13" name="column-body-3">
            <a:extLst xmlns:a="http://schemas.openxmlformats.org/drawingml/2006/main">
              <a:ext uri="{FF2B5EF4-FFF2-40B4-BE49-F238E27FC236}">
                <a16:creationId xmlns:a16="http://schemas.microsoft.com/office/drawing/2014/main" id="{109593F0-14DD-4CB5-95DE-7C598310B1D6}"/>
              </a:ext>
            </a:extLst>
          </p:cNvPr>
          <p:cNvSpPr>
            <a:spLocks xmlns:a="http://schemas.openxmlformats.org/drawingml/2006/main" noGrp="1"/>
          </p:cNvSpPr>
          <p:nvPr/>
        </p:nvSpPr>
        <p:spPr>
          <a:xfrm xmlns:a="http://schemas.openxmlformats.org/drawingml/2006/main">
            <a:off x="8324850" y="38100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Repeating a small sequence because no existing tool fits exactly.</a:t>
            </a:r>
          </a:p>
        </p:txBody>
      </p:sp>
    </p:spTree>
    <p:extLst>
      <p:ext uri="{BB962C8B-B14F-4D97-AF65-F5344CB8AC3E}">
        <p14:creationId xmlns:p14="http://schemas.microsoft.com/office/powerpoint/2010/main" val="14310413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4">
            <a:extLst xmlns:a="http://schemas.openxmlformats.org/drawingml/2006/main">
              <a:ext uri="{FF2B5EF4-FFF2-40B4-BE49-F238E27FC236}">
                <a16:creationId xmlns:a16="http://schemas.microsoft.com/office/drawing/2014/main" id="{62BC7B16-F0E4-4A8B-A676-F876815C1913}"/>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A USEFUL DEFINITION</a:t>
            </a:r>
          </a:p>
        </p:txBody>
      </p:sp>
      <p:sp>
        <p:nvSpPr>
          <p:cNvPr id="2" name="title-4">
            <a:extLst xmlns:a="http://schemas.openxmlformats.org/drawingml/2006/main">
              <a:ext uri="{FF2B5EF4-FFF2-40B4-BE49-F238E27FC236}">
                <a16:creationId xmlns:a16="http://schemas.microsoft.com/office/drawing/2014/main" id="{00118FBA-E4FA-4272-8C62-1E1F297B32D7}"/>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Software for one can be deliberately tiny</a:t>
            </a:r>
          </a:p>
        </p:txBody>
      </p:sp>
      <p:sp>
        <p:nvSpPr>
          <p:cNvPr id="3" name="page-4">
            <a:extLst xmlns:a="http://schemas.openxmlformats.org/drawingml/2006/main">
              <a:ext uri="{FF2B5EF4-FFF2-40B4-BE49-F238E27FC236}">
                <a16:creationId xmlns:a16="http://schemas.microsoft.com/office/drawing/2014/main" id="{04DF3D08-8CA2-43B8-88EE-BEB0801F4051}"/>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5E6670"/>
                </a:solidFill>
                <a:latin typeface="Arial"/>
                <a:ea typeface="Arial"/>
                <a:cs typeface="Arial"/>
              </a:defRPr>
            </a:pPr>
            <a:r>
              <a:rPr sz="1200">
                <a:solidFill>
                  <a:srgbClr val="5E6670"/>
                </a:solidFill>
                <a:latin typeface="Arial"/>
                <a:ea typeface="Arial"/>
                <a:cs typeface="Arial"/>
              </a:rPr>
              <a:t>04</a:t>
            </a:r>
          </a:p>
        </p:txBody>
      </p:sp>
      <p:sp>
        <p:nvSpPr>
          <p:cNvPr id="4" name="one-number-0">
            <a:extLst xmlns:a="http://schemas.openxmlformats.org/drawingml/2006/main">
              <a:ext uri="{FF2B5EF4-FFF2-40B4-BE49-F238E27FC236}">
                <a16:creationId xmlns:a16="http://schemas.microsoft.com/office/drawing/2014/main" id="{6733D7A1-DB90-4243-A996-502121DE6F42}"/>
              </a:ext>
            </a:extLst>
          </p:cNvPr>
          <p:cNvSpPr>
            <a:spLocks xmlns:a="http://schemas.openxmlformats.org/drawingml/2006/main" noGrp="1"/>
          </p:cNvSpPr>
          <p:nvPr/>
        </p:nvSpPr>
        <p:spPr>
          <a:xfrm xmlns:a="http://schemas.openxmlformats.org/drawingml/2006/main">
            <a:off x="666750" y="2038350"/>
            <a:ext cx="114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3D8DFF"/>
                </a:solidFill>
                <a:latin typeface="Arial"/>
                <a:ea typeface="Arial"/>
                <a:cs typeface="Arial"/>
              </a:defRPr>
            </a:pPr>
            <a:r>
              <a:rPr sz="7800" b="1">
                <a:solidFill>
                  <a:srgbClr val="3D8DFF"/>
                </a:solidFill>
                <a:latin typeface="Arial"/>
                <a:ea typeface="Arial"/>
                <a:cs typeface="Arial"/>
              </a:rPr>
              <a:t>1</a:t>
            </a:r>
          </a:p>
        </p:txBody>
      </p:sp>
      <p:sp>
        <p:nvSpPr>
          <p:cNvPr id="5" name="one-label-0">
            <a:extLst xmlns:a="http://schemas.openxmlformats.org/drawingml/2006/main">
              <a:ext uri="{FF2B5EF4-FFF2-40B4-BE49-F238E27FC236}">
                <a16:creationId xmlns:a16="http://schemas.microsoft.com/office/drawing/2014/main" id="{08443BD9-B154-4985-93C2-37EE63A950CF}"/>
              </a:ext>
            </a:extLst>
          </p:cNvPr>
          <p:cNvSpPr>
            <a:spLocks xmlns:a="http://schemas.openxmlformats.org/drawingml/2006/main" noGrp="1"/>
          </p:cNvSpPr>
          <p:nvPr/>
        </p:nvSpPr>
        <p:spPr>
          <a:xfrm xmlns:a="http://schemas.openxmlformats.org/drawingml/2006/main">
            <a:off x="1666875" y="23622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Arial"/>
                <a:ea typeface="Arial"/>
                <a:cs typeface="Arial"/>
              </a:defRPr>
            </a:pPr>
            <a:r>
              <a:rPr sz="2250" b="1">
                <a:solidFill>
                  <a:srgbClr val="111111"/>
                </a:solidFill>
                <a:latin typeface="Arial"/>
                <a:ea typeface="Arial"/>
                <a:cs typeface="Arial"/>
              </a:rPr>
              <a:t>person</a:t>
            </a:r>
          </a:p>
        </p:txBody>
      </p:sp>
      <p:sp>
        <p:nvSpPr>
          <p:cNvPr id="6" name="one-body-0">
            <a:extLst xmlns:a="http://schemas.openxmlformats.org/drawingml/2006/main">
              <a:ext uri="{FF2B5EF4-FFF2-40B4-BE49-F238E27FC236}">
                <a16:creationId xmlns:a16="http://schemas.microsoft.com/office/drawing/2014/main" id="{7A5A64C0-D789-4609-ADF5-771F371B97CD}"/>
              </a:ext>
            </a:extLst>
          </p:cNvPr>
          <p:cNvSpPr>
            <a:spLocks xmlns:a="http://schemas.openxmlformats.org/drawingml/2006/main" noGrp="1"/>
          </p:cNvSpPr>
          <p:nvPr/>
        </p:nvSpPr>
        <p:spPr>
          <a:xfrm xmlns:a="http://schemas.openxmlformats.org/drawingml/2006/main">
            <a:off x="666750" y="3619500"/>
            <a:ext cx="304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a:solidFill>
                  <a:srgbClr val="5E6670"/>
                </a:solidFill>
                <a:latin typeface="Arial"/>
                <a:ea typeface="Arial"/>
                <a:cs typeface="Arial"/>
              </a:defRPr>
            </a:pPr>
            <a:r>
              <a:rPr sz="1800">
                <a:solidFill>
                  <a:srgbClr val="5E6670"/>
                </a:solidFill>
                <a:latin typeface="Arial"/>
                <a:ea typeface="Arial"/>
                <a:cs typeface="Arial"/>
              </a:rPr>
              <a:t>Start with your own work, study, hobby, or everyday life.</a:t>
            </a:r>
          </a:p>
        </p:txBody>
      </p:sp>
      <p:sp>
        <p:nvSpPr>
          <p:cNvPr id="7" name="one-number-1">
            <a:extLst xmlns:a="http://schemas.openxmlformats.org/drawingml/2006/main">
              <a:ext uri="{FF2B5EF4-FFF2-40B4-BE49-F238E27FC236}">
                <a16:creationId xmlns:a16="http://schemas.microsoft.com/office/drawing/2014/main" id="{48CE29F7-B92E-4088-9B0E-686E339426A7}"/>
              </a:ext>
            </a:extLst>
          </p:cNvPr>
          <p:cNvSpPr>
            <a:spLocks xmlns:a="http://schemas.openxmlformats.org/drawingml/2006/main" noGrp="1"/>
          </p:cNvSpPr>
          <p:nvPr/>
        </p:nvSpPr>
        <p:spPr>
          <a:xfrm xmlns:a="http://schemas.openxmlformats.org/drawingml/2006/main">
            <a:off x="4429125" y="2038350"/>
            <a:ext cx="114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3D8DFF"/>
                </a:solidFill>
                <a:latin typeface="Arial"/>
                <a:ea typeface="Arial"/>
                <a:cs typeface="Arial"/>
              </a:defRPr>
            </a:pPr>
            <a:r>
              <a:rPr sz="7800" b="1">
                <a:solidFill>
                  <a:srgbClr val="3D8DFF"/>
                </a:solidFill>
                <a:latin typeface="Arial"/>
                <a:ea typeface="Arial"/>
                <a:cs typeface="Arial"/>
              </a:rPr>
              <a:t>1</a:t>
            </a:r>
          </a:p>
        </p:txBody>
      </p:sp>
      <p:sp>
        <p:nvSpPr>
          <p:cNvPr id="8" name="one-label-1">
            <a:extLst xmlns:a="http://schemas.openxmlformats.org/drawingml/2006/main">
              <a:ext uri="{FF2B5EF4-FFF2-40B4-BE49-F238E27FC236}">
                <a16:creationId xmlns:a16="http://schemas.microsoft.com/office/drawing/2014/main" id="{B2951D40-2A9B-4D33-8479-019BEFCC8D83}"/>
              </a:ext>
            </a:extLst>
          </p:cNvPr>
          <p:cNvSpPr>
            <a:spLocks xmlns:a="http://schemas.openxmlformats.org/drawingml/2006/main" noGrp="1"/>
          </p:cNvSpPr>
          <p:nvPr/>
        </p:nvSpPr>
        <p:spPr>
          <a:xfrm xmlns:a="http://schemas.openxmlformats.org/drawingml/2006/main">
            <a:off x="5429250" y="23622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Arial"/>
                <a:ea typeface="Arial"/>
                <a:cs typeface="Arial"/>
              </a:defRPr>
            </a:pPr>
            <a:r>
              <a:rPr sz="2250" b="1">
                <a:solidFill>
                  <a:srgbClr val="111111"/>
                </a:solidFill>
                <a:latin typeface="Arial"/>
                <a:ea typeface="Arial"/>
                <a:cs typeface="Arial"/>
              </a:rPr>
              <a:t>repeated job</a:t>
            </a:r>
          </a:p>
        </p:txBody>
      </p:sp>
      <p:sp>
        <p:nvSpPr>
          <p:cNvPr id="9" name="one-body-1">
            <a:extLst xmlns:a="http://schemas.openxmlformats.org/drawingml/2006/main">
              <a:ext uri="{FF2B5EF4-FFF2-40B4-BE49-F238E27FC236}">
                <a16:creationId xmlns:a16="http://schemas.microsoft.com/office/drawing/2014/main" id="{BE634942-DAA3-4C09-B6A3-739D9DD02E4F}"/>
              </a:ext>
            </a:extLst>
          </p:cNvPr>
          <p:cNvSpPr>
            <a:spLocks xmlns:a="http://schemas.openxmlformats.org/drawingml/2006/main" noGrp="1"/>
          </p:cNvSpPr>
          <p:nvPr/>
        </p:nvSpPr>
        <p:spPr>
          <a:xfrm xmlns:a="http://schemas.openxmlformats.org/drawingml/2006/main">
            <a:off x="4429125" y="3619500"/>
            <a:ext cx="304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a:solidFill>
                  <a:srgbClr val="5E6670"/>
                </a:solidFill>
                <a:latin typeface="Arial"/>
                <a:ea typeface="Arial"/>
                <a:cs typeface="Arial"/>
              </a:defRPr>
            </a:pPr>
            <a:r>
              <a:rPr sz="1800">
                <a:solidFill>
                  <a:srgbClr val="5E6670"/>
                </a:solidFill>
                <a:latin typeface="Arial"/>
                <a:ea typeface="Arial"/>
                <a:cs typeface="Arial"/>
              </a:rPr>
              <a:t>Choose one moment of friction—not the whole system around it.</a:t>
            </a:r>
          </a:p>
        </p:txBody>
      </p:sp>
      <p:sp>
        <p:nvSpPr>
          <p:cNvPr id="10" name="one-number-2">
            <a:extLst xmlns:a="http://schemas.openxmlformats.org/drawingml/2006/main">
              <a:ext uri="{FF2B5EF4-FFF2-40B4-BE49-F238E27FC236}">
                <a16:creationId xmlns:a16="http://schemas.microsoft.com/office/drawing/2014/main" id="{F27C150A-42D9-40C9-B05D-1FEAB2741DA1}"/>
              </a:ext>
            </a:extLst>
          </p:cNvPr>
          <p:cNvSpPr>
            <a:spLocks xmlns:a="http://schemas.openxmlformats.org/drawingml/2006/main" noGrp="1"/>
          </p:cNvSpPr>
          <p:nvPr/>
        </p:nvSpPr>
        <p:spPr>
          <a:xfrm xmlns:a="http://schemas.openxmlformats.org/drawingml/2006/main">
            <a:off x="8191500" y="2038350"/>
            <a:ext cx="114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3D8DFF"/>
                </a:solidFill>
                <a:latin typeface="Arial"/>
                <a:ea typeface="Arial"/>
                <a:cs typeface="Arial"/>
              </a:defRPr>
            </a:pPr>
            <a:r>
              <a:rPr sz="7800" b="1">
                <a:solidFill>
                  <a:srgbClr val="3D8DFF"/>
                </a:solidFill>
                <a:latin typeface="Arial"/>
                <a:ea typeface="Arial"/>
                <a:cs typeface="Arial"/>
              </a:rPr>
              <a:t>1</a:t>
            </a:r>
          </a:p>
        </p:txBody>
      </p:sp>
      <p:sp>
        <p:nvSpPr>
          <p:cNvPr id="11" name="one-label-2">
            <a:extLst xmlns:a="http://schemas.openxmlformats.org/drawingml/2006/main">
              <a:ext uri="{FF2B5EF4-FFF2-40B4-BE49-F238E27FC236}">
                <a16:creationId xmlns:a16="http://schemas.microsoft.com/office/drawing/2014/main" id="{DFA8FD3D-6120-4CB4-AFB3-0054D4E1C540}"/>
              </a:ext>
            </a:extLst>
          </p:cNvPr>
          <p:cNvSpPr>
            <a:spLocks xmlns:a="http://schemas.openxmlformats.org/drawingml/2006/main" noGrp="1"/>
          </p:cNvSpPr>
          <p:nvPr/>
        </p:nvSpPr>
        <p:spPr>
          <a:xfrm xmlns:a="http://schemas.openxmlformats.org/drawingml/2006/main">
            <a:off x="9191625" y="23622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Arial"/>
                <a:ea typeface="Arial"/>
                <a:cs typeface="Arial"/>
              </a:defRPr>
            </a:pPr>
            <a:r>
              <a:rPr sz="2250" b="1">
                <a:solidFill>
                  <a:srgbClr val="111111"/>
                </a:solidFill>
                <a:latin typeface="Arial"/>
                <a:ea typeface="Arial"/>
                <a:cs typeface="Arial"/>
              </a:rPr>
              <a:t>useful outcome</a:t>
            </a:r>
          </a:p>
        </p:txBody>
      </p:sp>
      <p:sp>
        <p:nvSpPr>
          <p:cNvPr id="12" name="one-body-2">
            <a:extLst xmlns:a="http://schemas.openxmlformats.org/drawingml/2006/main">
              <a:ext uri="{FF2B5EF4-FFF2-40B4-BE49-F238E27FC236}">
                <a16:creationId xmlns:a16="http://schemas.microsoft.com/office/drawing/2014/main" id="{908E9F47-CD90-4AF6-8838-61776F655623}"/>
              </a:ext>
            </a:extLst>
          </p:cNvPr>
          <p:cNvSpPr>
            <a:spLocks xmlns:a="http://schemas.openxmlformats.org/drawingml/2006/main" noGrp="1"/>
          </p:cNvSpPr>
          <p:nvPr/>
        </p:nvSpPr>
        <p:spPr>
          <a:xfrm xmlns:a="http://schemas.openxmlformats.org/drawingml/2006/main">
            <a:off x="8191500" y="3619500"/>
            <a:ext cx="304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a:solidFill>
                  <a:srgbClr val="5E6670"/>
                </a:solidFill>
                <a:latin typeface="Arial"/>
                <a:ea typeface="Arial"/>
                <a:cs typeface="Arial"/>
              </a:defRPr>
            </a:pPr>
            <a:r>
              <a:rPr sz="1800">
                <a:solidFill>
                  <a:srgbClr val="5E6670"/>
                </a:solidFill>
                <a:latin typeface="Arial"/>
                <a:ea typeface="Arial"/>
                <a:cs typeface="Arial"/>
              </a:rPr>
              <a:t>Decide what ‘better’ looks like before building anything.</a:t>
            </a:r>
          </a:p>
        </p:txBody>
      </p:sp>
      <p:sp>
        <p:nvSpPr>
          <p:cNvPr id="13" name="one-bottom-rule">
            <a:extLst xmlns:a="http://schemas.openxmlformats.org/drawingml/2006/main">
              <a:ext uri="{FF2B5EF4-FFF2-40B4-BE49-F238E27FC236}">
                <a16:creationId xmlns:a16="http://schemas.microsoft.com/office/drawing/2014/main" id="{7F870CB3-3855-48DE-B075-27B6C0A93AA0}"/>
              </a:ext>
            </a:extLst>
          </p:cNvPr>
          <p:cNvSpPr>
            <a:spLocks xmlns:a="http://schemas.openxmlformats.org/drawingml/2006/main" noGrp="1"/>
          </p:cNvSpPr>
          <p:nvPr/>
        </p:nvSpPr>
        <p:spPr>
          <a:xfrm xmlns:a="http://schemas.openxmlformats.org/drawingml/2006/main">
            <a:off x="533400" y="5543550"/>
            <a:ext cx="1112520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14" name="one-bottom">
            <a:extLst xmlns:a="http://schemas.openxmlformats.org/drawingml/2006/main">
              <a:ext uri="{FF2B5EF4-FFF2-40B4-BE49-F238E27FC236}">
                <a16:creationId xmlns:a16="http://schemas.microsoft.com/office/drawing/2014/main" id="{28BD03B5-103C-49F4-9819-CE6E0C98144B}"/>
              </a:ext>
            </a:extLst>
          </p:cNvPr>
          <p:cNvSpPr>
            <a:spLocks xmlns:a="http://schemas.openxmlformats.org/drawingml/2006/main" noGrp="1"/>
          </p:cNvSpPr>
          <p:nvPr/>
        </p:nvSpPr>
        <p:spPr>
          <a:xfrm xmlns:a="http://schemas.openxmlformats.org/drawingml/2006/main">
            <a:off x="533400" y="581025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Not a startup. Not polished. Useful enough to earn its place.</a:t>
            </a:r>
          </a:p>
        </p:txBody>
      </p:sp>
    </p:spTree>
    <p:extLst>
      <p:ext uri="{BB962C8B-B14F-4D97-AF65-F5344CB8AC3E}">
        <p14:creationId xmlns:p14="http://schemas.microsoft.com/office/powerpoint/2010/main" val="16974974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5">
            <a:extLst xmlns:a="http://schemas.openxmlformats.org/drawingml/2006/main">
              <a:ext uri="{FF2B5EF4-FFF2-40B4-BE49-F238E27FC236}">
                <a16:creationId xmlns:a16="http://schemas.microsoft.com/office/drawing/2014/main" id="{BF668EEC-EEE1-41F5-B248-0F1D66FD0AE6}"/>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WORKING WITH AI</a:t>
            </a:r>
          </a:p>
        </p:txBody>
      </p:sp>
      <p:sp>
        <p:nvSpPr>
          <p:cNvPr id="2" name="title-5">
            <a:extLst xmlns:a="http://schemas.openxmlformats.org/drawingml/2006/main">
              <a:ext uri="{FF2B5EF4-FFF2-40B4-BE49-F238E27FC236}">
                <a16:creationId xmlns:a16="http://schemas.microsoft.com/office/drawing/2014/main" id="{73DA3907-E129-4402-934B-D46AA1DB0298}"/>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Your role is not “be the programmer”</a:t>
            </a:r>
          </a:p>
        </p:txBody>
      </p:sp>
      <p:sp>
        <p:nvSpPr>
          <p:cNvPr id="3" name="page-5">
            <a:extLst xmlns:a="http://schemas.openxmlformats.org/drawingml/2006/main">
              <a:ext uri="{FF2B5EF4-FFF2-40B4-BE49-F238E27FC236}">
                <a16:creationId xmlns:a16="http://schemas.microsoft.com/office/drawing/2014/main" id="{A6B1DCE2-D5D1-4244-9332-2FC373841590}"/>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5E6670"/>
                </a:solidFill>
                <a:latin typeface="Arial"/>
                <a:ea typeface="Arial"/>
                <a:cs typeface="Arial"/>
              </a:defRPr>
            </a:pPr>
            <a:r>
              <a:rPr sz="1200">
                <a:solidFill>
                  <a:srgbClr val="5E6670"/>
                </a:solidFill>
                <a:latin typeface="Arial"/>
                <a:ea typeface="Arial"/>
                <a:cs typeface="Arial"/>
              </a:rPr>
              <a:t>05</a:t>
            </a:r>
          </a:p>
        </p:txBody>
      </p:sp>
      <p:sp>
        <p:nvSpPr>
          <p:cNvPr id="4" name="role-left-bg">
            <a:extLst xmlns:a="http://schemas.openxmlformats.org/drawingml/2006/main">
              <a:ext uri="{FF2B5EF4-FFF2-40B4-BE49-F238E27FC236}">
                <a16:creationId xmlns:a16="http://schemas.microsoft.com/office/drawing/2014/main" id="{805E4E1A-809C-472C-A504-8923185A864D}"/>
              </a:ext>
            </a:extLst>
          </p:cNvPr>
          <p:cNvSpPr>
            <a:spLocks xmlns:a="http://schemas.openxmlformats.org/drawingml/2006/main" noGrp="1"/>
          </p:cNvSpPr>
          <p:nvPr/>
        </p:nvSpPr>
        <p:spPr>
          <a:xfrm xmlns:a="http://schemas.openxmlformats.org/drawingml/2006/main">
            <a:off x="533400" y="2000250"/>
            <a:ext cx="5238750" cy="3714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role-right-bg">
            <a:extLst xmlns:a="http://schemas.openxmlformats.org/drawingml/2006/main">
              <a:ext uri="{FF2B5EF4-FFF2-40B4-BE49-F238E27FC236}">
                <a16:creationId xmlns:a16="http://schemas.microsoft.com/office/drawing/2014/main" id="{B8660D62-42D4-4193-AFF5-378C1535945D}"/>
              </a:ext>
            </a:extLst>
          </p:cNvPr>
          <p:cNvSpPr>
            <a:spLocks xmlns:a="http://schemas.openxmlformats.org/drawingml/2006/main" noGrp="1"/>
          </p:cNvSpPr>
          <p:nvPr/>
        </p:nvSpPr>
        <p:spPr>
          <a:xfrm xmlns:a="http://schemas.openxmlformats.org/drawingml/2006/main">
            <a:off x="6419850" y="2000250"/>
            <a:ext cx="5238750" cy="3714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role-left-title">
            <a:extLst xmlns:a="http://schemas.openxmlformats.org/drawingml/2006/main">
              <a:ext uri="{FF2B5EF4-FFF2-40B4-BE49-F238E27FC236}">
                <a16:creationId xmlns:a16="http://schemas.microsoft.com/office/drawing/2014/main" id="{1BC93D1F-A559-42B2-9512-E6D8E9DB3517}"/>
              </a:ext>
            </a:extLst>
          </p:cNvPr>
          <p:cNvSpPr>
            <a:spLocks xmlns:a="http://schemas.openxmlformats.org/drawingml/2006/main" noGrp="1"/>
          </p:cNvSpPr>
          <p:nvPr/>
        </p:nvSpPr>
        <p:spPr>
          <a:xfrm xmlns:a="http://schemas.openxmlformats.org/drawingml/2006/main">
            <a:off x="876300" y="23431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11111"/>
                </a:solidFill>
                <a:latin typeface="Arial"/>
                <a:ea typeface="Arial"/>
                <a:cs typeface="Arial"/>
              </a:defRPr>
            </a:pPr>
            <a:r>
              <a:rPr sz="2550" b="1">
                <a:solidFill>
                  <a:srgbClr val="111111"/>
                </a:solidFill>
                <a:latin typeface="Arial"/>
                <a:ea typeface="Arial"/>
                <a:cs typeface="Arial"/>
              </a:rPr>
              <a:t>You bring</a:t>
            </a:r>
          </a:p>
        </p:txBody>
      </p:sp>
      <p:sp>
        <p:nvSpPr>
          <p:cNvPr id="7" name="role-right-title">
            <a:extLst xmlns:a="http://schemas.openxmlformats.org/drawingml/2006/main">
              <a:ext uri="{FF2B5EF4-FFF2-40B4-BE49-F238E27FC236}">
                <a16:creationId xmlns:a16="http://schemas.microsoft.com/office/drawing/2014/main" id="{DFE4E184-23E2-461C-A0A0-44CDEB28D5DE}"/>
              </a:ext>
            </a:extLst>
          </p:cNvPr>
          <p:cNvSpPr>
            <a:spLocks xmlns:a="http://schemas.openxmlformats.org/drawingml/2006/main" noGrp="1"/>
          </p:cNvSpPr>
          <p:nvPr/>
        </p:nvSpPr>
        <p:spPr>
          <a:xfrm xmlns:a="http://schemas.openxmlformats.org/drawingml/2006/main">
            <a:off x="6762750" y="2343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11111"/>
                </a:solidFill>
                <a:latin typeface="Arial"/>
                <a:ea typeface="Arial"/>
                <a:cs typeface="Arial"/>
              </a:defRPr>
            </a:pPr>
            <a:r>
              <a:rPr sz="2550" b="1">
                <a:solidFill>
                  <a:srgbClr val="111111"/>
                </a:solidFill>
                <a:latin typeface="Arial"/>
                <a:ea typeface="Arial"/>
                <a:cs typeface="Arial"/>
              </a:rPr>
              <a:t>AI can bring</a:t>
            </a:r>
          </a:p>
        </p:txBody>
      </p:sp>
      <p:sp>
        <p:nvSpPr>
          <p:cNvPr id="8" name="role-left-list">
            <a:extLst xmlns:a="http://schemas.openxmlformats.org/drawingml/2006/main">
              <a:ext uri="{FF2B5EF4-FFF2-40B4-BE49-F238E27FC236}">
                <a16:creationId xmlns:a16="http://schemas.microsoft.com/office/drawing/2014/main" id="{1BCF0FED-7DAC-496F-9FA7-58A3212CCDF5}"/>
              </a:ext>
            </a:extLst>
          </p:cNvPr>
          <p:cNvSpPr>
            <a:spLocks xmlns:a="http://schemas.openxmlformats.org/drawingml/2006/main" noGrp="1"/>
          </p:cNvSpPr>
          <p:nvPr/>
        </p:nvSpPr>
        <p:spPr>
          <a:xfrm xmlns:a="http://schemas.openxmlformats.org/drawingml/2006/main">
            <a:off x="876300" y="3086100"/>
            <a:ext cx="2857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Purpose</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Examples</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Boundaries</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Judgement</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Tests</a:t>
            </a:r>
          </a:p>
        </p:txBody>
      </p:sp>
      <p:sp>
        <p:nvSpPr>
          <p:cNvPr id="9" name="role-right-list">
            <a:extLst xmlns:a="http://schemas.openxmlformats.org/drawingml/2006/main">
              <a:ext uri="{FF2B5EF4-FFF2-40B4-BE49-F238E27FC236}">
                <a16:creationId xmlns:a16="http://schemas.microsoft.com/office/drawing/2014/main" id="{E0BCDEAE-50DC-4227-A42D-D98DC6F1F91E}"/>
              </a:ext>
            </a:extLst>
          </p:cNvPr>
          <p:cNvSpPr>
            <a:spLocks xmlns:a="http://schemas.openxmlformats.org/drawingml/2006/main" noGrp="1"/>
          </p:cNvSpPr>
          <p:nvPr/>
        </p:nvSpPr>
        <p:spPr>
          <a:xfrm xmlns:a="http://schemas.openxmlformats.org/drawingml/2006/main">
            <a:off x="6762750" y="3086100"/>
            <a:ext cx="4191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Unfamiliar syntax</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A first draft</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Plain-language explanations</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Focused changes</a:t>
            </a:r>
          </a:p>
        </p:txBody>
      </p:sp>
    </p:spTree>
    <p:extLst>
      <p:ext uri="{BB962C8B-B14F-4D97-AF65-F5344CB8AC3E}">
        <p14:creationId xmlns:p14="http://schemas.microsoft.com/office/powerpoint/2010/main" val="1855284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ctivity-kicker">
            <a:extLst xmlns:a="http://schemas.openxmlformats.org/drawingml/2006/main">
              <a:ext uri="{FF2B5EF4-FFF2-40B4-BE49-F238E27FC236}">
                <a16:creationId xmlns:a16="http://schemas.microsoft.com/office/drawing/2014/main" id="{8432CB92-3475-4EEB-8761-803B53871ECC}"/>
              </a:ext>
            </a:extLst>
          </p:cNvPr>
          <p:cNvSpPr>
            <a:spLocks xmlns:a="http://schemas.openxmlformats.org/drawingml/2006/main" noGrp="1"/>
          </p:cNvSpPr>
          <p:nvPr/>
        </p:nvSpPr>
        <p:spPr>
          <a:xfrm xmlns:a="http://schemas.openxmlformats.org/drawingml/2006/main">
            <a:off x="533400" y="4381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YOUR TURN · NOTICE</a:t>
            </a:r>
          </a:p>
        </p:txBody>
      </p:sp>
      <p:sp>
        <p:nvSpPr>
          <p:cNvPr id="2" name="activity-title">
            <a:extLst xmlns:a="http://schemas.openxmlformats.org/drawingml/2006/main">
              <a:ext uri="{FF2B5EF4-FFF2-40B4-BE49-F238E27FC236}">
                <a16:creationId xmlns:a16="http://schemas.microsoft.com/office/drawing/2014/main" id="{D85E09A7-0641-4708-9B0B-E25408CF52F1}"/>
              </a:ext>
            </a:extLst>
          </p:cNvPr>
          <p:cNvSpPr>
            <a:spLocks xmlns:a="http://schemas.openxmlformats.org/drawingml/2006/main" noGrp="1"/>
          </p:cNvSpPr>
          <p:nvPr/>
        </p:nvSpPr>
        <p:spPr>
          <a:xfrm xmlns:a="http://schemas.openxmlformats.org/drawingml/2006/main">
            <a:off x="533400" y="1352550"/>
            <a:ext cx="9620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4500" b="1">
                <a:solidFill>
                  <a:srgbClr val="111111"/>
                </a:solidFill>
                <a:latin typeface="Arial"/>
                <a:ea typeface="Arial"/>
                <a:cs typeface="Arial"/>
              </a:defRPr>
            </a:pPr>
            <a:r>
              <a:rPr sz="4500" b="1">
                <a:solidFill>
                  <a:srgbClr val="111111"/>
                </a:solidFill>
                <a:latin typeface="Arial"/>
                <a:ea typeface="Arial"/>
                <a:cs typeface="Arial"/>
              </a:rPr>
              <a:t>What did you do more than twice last week?</a:t>
            </a:r>
          </a:p>
        </p:txBody>
      </p:sp>
      <p:sp>
        <p:nvSpPr>
          <p:cNvPr id="3" name="activity-verbs">
            <a:extLst xmlns:a="http://schemas.openxmlformats.org/drawingml/2006/main">
              <a:ext uri="{FF2B5EF4-FFF2-40B4-BE49-F238E27FC236}">
                <a16:creationId xmlns:a16="http://schemas.microsoft.com/office/drawing/2014/main" id="{EECFAB47-E527-418F-B13E-565221C343F1}"/>
              </a:ext>
            </a:extLst>
          </p:cNvPr>
          <p:cNvSpPr>
            <a:spLocks xmlns:a="http://schemas.openxmlformats.org/drawingml/2006/main" noGrp="1"/>
          </p:cNvSpPr>
          <p:nvPr/>
        </p:nvSpPr>
        <p:spPr>
          <a:xfrm xmlns:a="http://schemas.openxmlformats.org/drawingml/2006/main">
            <a:off x="533400" y="29908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a:solidFill>
                  <a:srgbClr val="5E6670"/>
                </a:solidFill>
                <a:latin typeface="Arial"/>
                <a:ea typeface="Arial"/>
                <a:cs typeface="Arial"/>
              </a:defRPr>
            </a:pPr>
            <a:r>
              <a:rPr sz="2325">
                <a:solidFill>
                  <a:srgbClr val="5E6670"/>
                </a:solidFill>
                <a:latin typeface="Arial"/>
                <a:ea typeface="Arial"/>
                <a:cs typeface="Arial"/>
              </a:rPr>
              <a:t>Copy · paste · reformat · look up · calculate · rename · repeatedly click</a:t>
            </a:r>
          </a:p>
        </p:txBody>
      </p:sp>
      <p:sp>
        <p:nvSpPr>
          <p:cNvPr id="4" name="activity-prompt-bg">
            <a:extLst xmlns:a="http://schemas.openxmlformats.org/drawingml/2006/main">
              <a:ext uri="{FF2B5EF4-FFF2-40B4-BE49-F238E27FC236}">
                <a16:creationId xmlns:a16="http://schemas.microsoft.com/office/drawing/2014/main" id="{F7177EAA-D5A4-4099-A3F5-8E28A14CB404}"/>
              </a:ext>
            </a:extLst>
          </p:cNvPr>
          <p:cNvSpPr>
            <a:spLocks xmlns:a="http://schemas.openxmlformats.org/drawingml/2006/main" noGrp="1"/>
          </p:cNvSpPr>
          <p:nvPr/>
        </p:nvSpPr>
        <p:spPr>
          <a:xfrm xmlns:a="http://schemas.openxmlformats.org/drawingml/2006/main">
            <a:off x="533400" y="4095750"/>
            <a:ext cx="7239000" cy="10287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activity-prompt">
            <a:extLst xmlns:a="http://schemas.openxmlformats.org/drawingml/2006/main">
              <a:ext uri="{FF2B5EF4-FFF2-40B4-BE49-F238E27FC236}">
                <a16:creationId xmlns:a16="http://schemas.microsoft.com/office/drawing/2014/main" id="{60FE251A-2AA3-4890-BB1A-1DEF6E208A29}"/>
              </a:ext>
            </a:extLst>
          </p:cNvPr>
          <p:cNvSpPr>
            <a:spLocks xmlns:a="http://schemas.openxmlformats.org/drawingml/2006/main" noGrp="1"/>
          </p:cNvSpPr>
          <p:nvPr/>
        </p:nvSpPr>
        <p:spPr>
          <a:xfrm xmlns:a="http://schemas.openxmlformats.org/drawingml/2006/main">
            <a:off x="838200" y="4362450"/>
            <a:ext cx="657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11111"/>
                </a:solidFill>
                <a:latin typeface="Arial"/>
                <a:ea typeface="Arial"/>
                <a:cs typeface="Arial"/>
              </a:defRPr>
            </a:pPr>
            <a:r>
              <a:rPr sz="2850" b="1">
                <a:solidFill>
                  <a:srgbClr val="111111"/>
                </a:solidFill>
                <a:latin typeface="Arial"/>
                <a:ea typeface="Arial"/>
                <a:cs typeface="Arial"/>
              </a:rPr>
              <a:t>I repeatedly…</a:t>
            </a:r>
          </a:p>
        </p:txBody>
      </p:sp>
      <p:sp>
        <p:nvSpPr>
          <p:cNvPr id="6" name="activity-caution">
            <a:extLst xmlns:a="http://schemas.openxmlformats.org/drawingml/2006/main">
              <a:ext uri="{FF2B5EF4-FFF2-40B4-BE49-F238E27FC236}">
                <a16:creationId xmlns:a16="http://schemas.microsoft.com/office/drawing/2014/main" id="{3E9FA132-5629-48EB-BD4C-C935D0F14E6A}"/>
              </a:ext>
            </a:extLst>
          </p:cNvPr>
          <p:cNvSpPr>
            <a:spLocks xmlns:a="http://schemas.openxmlformats.org/drawingml/2006/main" noGrp="1"/>
          </p:cNvSpPr>
          <p:nvPr/>
        </p:nvSpPr>
        <p:spPr>
          <a:xfrm xmlns:a="http://schemas.openxmlformats.org/drawingml/2006/main">
            <a:off x="8210550" y="4267200"/>
            <a:ext cx="3105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75" b="1">
                <a:solidFill>
                  <a:srgbClr val="C94646"/>
                </a:solidFill>
                <a:latin typeface="Arial"/>
                <a:ea typeface="Arial"/>
                <a:cs typeface="Arial"/>
              </a:defRPr>
            </a:pPr>
            <a:r>
              <a:rPr sz="1875" b="1">
                <a:solidFill>
                  <a:srgbClr val="C94646"/>
                </a:solidFill>
                <a:latin typeface="Arial"/>
                <a:ea typeface="Arial"/>
                <a:cs typeface="Arial"/>
              </a:rPr>
              <a:t>Use made-up, public, or permitted information.</a:t>
            </a:r>
          </a:p>
        </p:txBody>
      </p:sp>
      <p:sp>
        <p:nvSpPr>
          <p:cNvPr id="7" name="activity-page">
            <a:extLst xmlns:a="http://schemas.openxmlformats.org/drawingml/2006/main">
              <a:ext uri="{FF2B5EF4-FFF2-40B4-BE49-F238E27FC236}">
                <a16:creationId xmlns:a16="http://schemas.microsoft.com/office/drawing/2014/main" id="{23A27836-9AA7-4834-A101-F486FCE91552}"/>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5E6670"/>
                </a:solidFill>
                <a:latin typeface="Arial"/>
                <a:ea typeface="Arial"/>
                <a:cs typeface="Arial"/>
              </a:defRPr>
            </a:pPr>
            <a:r>
              <a:rPr sz="1200">
                <a:solidFill>
                  <a:srgbClr val="5E6670"/>
                </a:solidFill>
                <a:latin typeface="Arial"/>
                <a:ea typeface="Arial"/>
                <a:cs typeface="Arial"/>
              </a:rPr>
              <a:t>06</a:t>
            </a:r>
          </a:p>
        </p:txBody>
      </p:sp>
    </p:spTree>
    <p:extLst>
      <p:ext uri="{BB962C8B-B14F-4D97-AF65-F5344CB8AC3E}">
        <p14:creationId xmlns:p14="http://schemas.microsoft.com/office/powerpoint/2010/main" val="17833528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7">
            <a:extLst xmlns:a="http://schemas.openxmlformats.org/drawingml/2006/main">
              <a:ext uri="{FF2B5EF4-FFF2-40B4-BE49-F238E27FC236}">
                <a16:creationId xmlns:a16="http://schemas.microsoft.com/office/drawing/2014/main" id="{A3B926A1-AA8B-44E4-8912-00B2B6BD3993}"/>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YOUR TINY TOOL</a:t>
            </a:r>
          </a:p>
        </p:txBody>
      </p:sp>
      <p:sp>
        <p:nvSpPr>
          <p:cNvPr id="2" name="title-7">
            <a:extLst xmlns:a="http://schemas.openxmlformats.org/drawingml/2006/main">
              <a:ext uri="{FF2B5EF4-FFF2-40B4-BE49-F238E27FC236}">
                <a16:creationId xmlns:a16="http://schemas.microsoft.com/office/drawing/2014/main" id="{9DF7BC56-D4A0-42D5-8F45-C5A9AE6306FA}"/>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Write the smallest useful brief</a:t>
            </a:r>
          </a:p>
        </p:txBody>
      </p:sp>
      <p:sp>
        <p:nvSpPr>
          <p:cNvPr id="3" name="page-7">
            <a:extLst xmlns:a="http://schemas.openxmlformats.org/drawingml/2006/main">
              <a:ext uri="{FF2B5EF4-FFF2-40B4-BE49-F238E27FC236}">
                <a16:creationId xmlns:a16="http://schemas.microsoft.com/office/drawing/2014/main" id="{9C6FAFBE-E632-4D48-A65C-374484D18E61}"/>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5E6670"/>
                </a:solidFill>
                <a:latin typeface="Arial"/>
                <a:ea typeface="Arial"/>
                <a:cs typeface="Arial"/>
              </a:defRPr>
            </a:pPr>
            <a:r>
              <a:rPr sz="1200">
                <a:solidFill>
                  <a:srgbClr val="5E6670"/>
                </a:solidFill>
                <a:latin typeface="Arial"/>
                <a:ea typeface="Arial"/>
                <a:cs typeface="Arial"/>
              </a:rPr>
              <a:t>07</a:t>
            </a:r>
          </a:p>
        </p:txBody>
      </p:sp>
      <p:sp>
        <p:nvSpPr>
          <p:cNvPr id="4" name="brief-prompt-0">
            <a:extLst xmlns:a="http://schemas.openxmlformats.org/drawingml/2006/main">
              <a:ext uri="{FF2B5EF4-FFF2-40B4-BE49-F238E27FC236}">
                <a16:creationId xmlns:a16="http://schemas.microsoft.com/office/drawing/2014/main" id="{406E4EC5-6A95-44F5-9E4D-A1816EF769D5}"/>
              </a:ext>
            </a:extLst>
          </p:cNvPr>
          <p:cNvSpPr>
            <a:spLocks xmlns:a="http://schemas.openxmlformats.org/drawingml/2006/main" noGrp="1"/>
          </p:cNvSpPr>
          <p:nvPr/>
        </p:nvSpPr>
        <p:spPr>
          <a:xfrm xmlns:a="http://schemas.openxmlformats.org/drawingml/2006/main">
            <a:off x="666750" y="20383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When this happens…</a:t>
            </a:r>
          </a:p>
        </p:txBody>
      </p:sp>
      <p:sp>
        <p:nvSpPr>
          <p:cNvPr id="5" name="brief-line-0">
            <a:extLst xmlns:a="http://schemas.openxmlformats.org/drawingml/2006/main">
              <a:ext uri="{FF2B5EF4-FFF2-40B4-BE49-F238E27FC236}">
                <a16:creationId xmlns:a16="http://schemas.microsoft.com/office/drawing/2014/main" id="{C39DA9C4-5534-4F5E-B856-B37D06CDD324}"/>
              </a:ext>
            </a:extLst>
          </p:cNvPr>
          <p:cNvSpPr>
            <a:spLocks xmlns:a="http://schemas.openxmlformats.org/drawingml/2006/main" noGrp="1"/>
          </p:cNvSpPr>
          <p:nvPr/>
        </p:nvSpPr>
        <p:spPr>
          <a:xfrm xmlns:a="http://schemas.openxmlformats.org/drawingml/2006/main">
            <a:off x="4476750" y="2295525"/>
            <a:ext cx="695325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6" name="brief-prompt-1">
            <a:extLst xmlns:a="http://schemas.openxmlformats.org/drawingml/2006/main">
              <a:ext uri="{FF2B5EF4-FFF2-40B4-BE49-F238E27FC236}">
                <a16:creationId xmlns:a16="http://schemas.microsoft.com/office/drawing/2014/main" id="{6CCE9FCA-0B2D-4D67-825F-58B943A6104B}"/>
              </a:ext>
            </a:extLst>
          </p:cNvPr>
          <p:cNvSpPr>
            <a:spLocks xmlns:a="http://schemas.openxmlformats.org/drawingml/2006/main" noGrp="1"/>
          </p:cNvSpPr>
          <p:nvPr/>
        </p:nvSpPr>
        <p:spPr>
          <a:xfrm xmlns:a="http://schemas.openxmlformats.org/drawingml/2006/main">
            <a:off x="666750" y="26670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I will give it…</a:t>
            </a:r>
          </a:p>
        </p:txBody>
      </p:sp>
      <p:sp>
        <p:nvSpPr>
          <p:cNvPr id="7" name="brief-line-1">
            <a:extLst xmlns:a="http://schemas.openxmlformats.org/drawingml/2006/main">
              <a:ext uri="{FF2B5EF4-FFF2-40B4-BE49-F238E27FC236}">
                <a16:creationId xmlns:a16="http://schemas.microsoft.com/office/drawing/2014/main" id="{514A7222-5EA9-4FEB-826D-0C2477A6B19C}"/>
              </a:ext>
            </a:extLst>
          </p:cNvPr>
          <p:cNvSpPr>
            <a:spLocks xmlns:a="http://schemas.openxmlformats.org/drawingml/2006/main" noGrp="1"/>
          </p:cNvSpPr>
          <p:nvPr/>
        </p:nvSpPr>
        <p:spPr>
          <a:xfrm xmlns:a="http://schemas.openxmlformats.org/drawingml/2006/main">
            <a:off x="4476750" y="2924175"/>
            <a:ext cx="695325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8" name="brief-prompt-2">
            <a:extLst xmlns:a="http://schemas.openxmlformats.org/drawingml/2006/main">
              <a:ext uri="{FF2B5EF4-FFF2-40B4-BE49-F238E27FC236}">
                <a16:creationId xmlns:a16="http://schemas.microsoft.com/office/drawing/2014/main" id="{9A4B8BCF-1D99-4845-BF8D-5E7E5110568B}"/>
              </a:ext>
            </a:extLst>
          </p:cNvPr>
          <p:cNvSpPr>
            <a:spLocks xmlns:a="http://schemas.openxmlformats.org/drawingml/2006/main" noGrp="1"/>
          </p:cNvSpPr>
          <p:nvPr/>
        </p:nvSpPr>
        <p:spPr>
          <a:xfrm xmlns:a="http://schemas.openxmlformats.org/drawingml/2006/main">
            <a:off x="666750" y="32956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It will give me…</a:t>
            </a:r>
          </a:p>
        </p:txBody>
      </p:sp>
      <p:sp>
        <p:nvSpPr>
          <p:cNvPr id="9" name="brief-line-2">
            <a:extLst xmlns:a="http://schemas.openxmlformats.org/drawingml/2006/main">
              <a:ext uri="{FF2B5EF4-FFF2-40B4-BE49-F238E27FC236}">
                <a16:creationId xmlns:a16="http://schemas.microsoft.com/office/drawing/2014/main" id="{683F49E8-E42F-4D05-843D-046366532CF1}"/>
              </a:ext>
            </a:extLst>
          </p:cNvPr>
          <p:cNvSpPr>
            <a:spLocks xmlns:a="http://schemas.openxmlformats.org/drawingml/2006/main" noGrp="1"/>
          </p:cNvSpPr>
          <p:nvPr/>
        </p:nvSpPr>
        <p:spPr>
          <a:xfrm xmlns:a="http://schemas.openxmlformats.org/drawingml/2006/main">
            <a:off x="4476750" y="3552825"/>
            <a:ext cx="695325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10" name="brief-prompt-3">
            <a:extLst xmlns:a="http://schemas.openxmlformats.org/drawingml/2006/main">
              <a:ext uri="{FF2B5EF4-FFF2-40B4-BE49-F238E27FC236}">
                <a16:creationId xmlns:a16="http://schemas.microsoft.com/office/drawing/2014/main" id="{5E949167-30D8-4A66-B987-9C3919286DBD}"/>
              </a:ext>
            </a:extLst>
          </p:cNvPr>
          <p:cNvSpPr>
            <a:spLocks xmlns:a="http://schemas.openxmlformats.org/drawingml/2006/main" noGrp="1"/>
          </p:cNvSpPr>
          <p:nvPr/>
        </p:nvSpPr>
        <p:spPr>
          <a:xfrm xmlns:a="http://schemas.openxmlformats.org/drawingml/2006/main">
            <a:off x="666750" y="39243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Version one must…</a:t>
            </a:r>
          </a:p>
        </p:txBody>
      </p:sp>
      <p:sp>
        <p:nvSpPr>
          <p:cNvPr id="11" name="brief-line-3">
            <a:extLst xmlns:a="http://schemas.openxmlformats.org/drawingml/2006/main">
              <a:ext uri="{FF2B5EF4-FFF2-40B4-BE49-F238E27FC236}">
                <a16:creationId xmlns:a16="http://schemas.microsoft.com/office/drawing/2014/main" id="{AB59CFF7-333F-4CBA-83A2-A4B88082BE8D}"/>
              </a:ext>
            </a:extLst>
          </p:cNvPr>
          <p:cNvSpPr>
            <a:spLocks xmlns:a="http://schemas.openxmlformats.org/drawingml/2006/main" noGrp="1"/>
          </p:cNvSpPr>
          <p:nvPr/>
        </p:nvSpPr>
        <p:spPr>
          <a:xfrm xmlns:a="http://schemas.openxmlformats.org/drawingml/2006/main">
            <a:off x="4476750" y="4181475"/>
            <a:ext cx="695325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12" name="brief-prompt-4">
            <a:extLst xmlns:a="http://schemas.openxmlformats.org/drawingml/2006/main">
              <a:ext uri="{FF2B5EF4-FFF2-40B4-BE49-F238E27FC236}">
                <a16:creationId xmlns:a16="http://schemas.microsoft.com/office/drawing/2014/main" id="{9D700EB5-8F59-4160-AE14-B8D0D34FECF5}"/>
              </a:ext>
            </a:extLst>
          </p:cNvPr>
          <p:cNvSpPr>
            <a:spLocks xmlns:a="http://schemas.openxmlformats.org/drawingml/2006/main" noGrp="1"/>
          </p:cNvSpPr>
          <p:nvPr/>
        </p:nvSpPr>
        <p:spPr>
          <a:xfrm xmlns:a="http://schemas.openxmlformats.org/drawingml/2006/main">
            <a:off x="666750" y="45529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Version one will not…</a:t>
            </a:r>
          </a:p>
        </p:txBody>
      </p:sp>
      <p:sp>
        <p:nvSpPr>
          <p:cNvPr id="13" name="brief-line-4">
            <a:extLst xmlns:a="http://schemas.openxmlformats.org/drawingml/2006/main">
              <a:ext uri="{FF2B5EF4-FFF2-40B4-BE49-F238E27FC236}">
                <a16:creationId xmlns:a16="http://schemas.microsoft.com/office/drawing/2014/main" id="{560F0EEE-2684-40B7-AC4C-DB9FACDC1788}"/>
              </a:ext>
            </a:extLst>
          </p:cNvPr>
          <p:cNvSpPr>
            <a:spLocks xmlns:a="http://schemas.openxmlformats.org/drawingml/2006/main" noGrp="1"/>
          </p:cNvSpPr>
          <p:nvPr/>
        </p:nvSpPr>
        <p:spPr>
          <a:xfrm xmlns:a="http://schemas.openxmlformats.org/drawingml/2006/main">
            <a:off x="4476750" y="4810125"/>
            <a:ext cx="695325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14" name="brief-prompt-5">
            <a:extLst xmlns:a="http://schemas.openxmlformats.org/drawingml/2006/main">
              <a:ext uri="{FF2B5EF4-FFF2-40B4-BE49-F238E27FC236}">
                <a16:creationId xmlns:a16="http://schemas.microsoft.com/office/drawing/2014/main" id="{5AAD433A-2C63-4BFB-BD5C-DBC8CAEE2921}"/>
              </a:ext>
            </a:extLst>
          </p:cNvPr>
          <p:cNvSpPr>
            <a:spLocks xmlns:a="http://schemas.openxmlformats.org/drawingml/2006/main" noGrp="1"/>
          </p:cNvSpPr>
          <p:nvPr/>
        </p:nvSpPr>
        <p:spPr>
          <a:xfrm xmlns:a="http://schemas.openxmlformats.org/drawingml/2006/main">
            <a:off x="666750" y="51816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I will know it works when…</a:t>
            </a:r>
          </a:p>
        </p:txBody>
      </p:sp>
      <p:sp>
        <p:nvSpPr>
          <p:cNvPr id="15" name="brief-line-5">
            <a:extLst xmlns:a="http://schemas.openxmlformats.org/drawingml/2006/main">
              <a:ext uri="{FF2B5EF4-FFF2-40B4-BE49-F238E27FC236}">
                <a16:creationId xmlns:a16="http://schemas.microsoft.com/office/drawing/2014/main" id="{4807AD59-AF29-465C-AE56-FD3F82B66BE5}"/>
              </a:ext>
            </a:extLst>
          </p:cNvPr>
          <p:cNvSpPr>
            <a:spLocks xmlns:a="http://schemas.openxmlformats.org/drawingml/2006/main" noGrp="1"/>
          </p:cNvSpPr>
          <p:nvPr/>
        </p:nvSpPr>
        <p:spPr>
          <a:xfrm xmlns:a="http://schemas.openxmlformats.org/drawingml/2006/main">
            <a:off x="4476750" y="5438775"/>
            <a:ext cx="695325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Tree>
    <p:extLst>
      <p:ext uri="{BB962C8B-B14F-4D97-AF65-F5344CB8AC3E}">
        <p14:creationId xmlns:p14="http://schemas.microsoft.com/office/powerpoint/2010/main" val="24050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hrink-kicker">
            <a:extLst xmlns:a="http://schemas.openxmlformats.org/drawingml/2006/main">
              <a:ext uri="{FF2B5EF4-FFF2-40B4-BE49-F238E27FC236}">
                <a16:creationId xmlns:a16="http://schemas.microsoft.com/office/drawing/2014/main" id="{144A838F-6F9A-412D-96E5-693BDF0ECBA2}"/>
              </a:ext>
            </a:extLst>
          </p:cNvPr>
          <p:cNvSpPr>
            <a:spLocks xmlns:a="http://schemas.openxmlformats.org/drawingml/2006/main" noGrp="1"/>
          </p:cNvSpPr>
          <p:nvPr/>
        </p:nvSpPr>
        <p:spPr>
          <a:xfrm xmlns:a="http://schemas.openxmlformats.org/drawingml/2006/main">
            <a:off x="533400" y="457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PAIR AND SHRINK</a:t>
            </a:r>
          </a:p>
        </p:txBody>
      </p:sp>
      <p:sp>
        <p:nvSpPr>
          <p:cNvPr id="2" name="shrink-question">
            <a:extLst xmlns:a="http://schemas.openxmlformats.org/drawingml/2006/main">
              <a:ext uri="{FF2B5EF4-FFF2-40B4-BE49-F238E27FC236}">
                <a16:creationId xmlns:a16="http://schemas.microsoft.com/office/drawing/2014/main" id="{5FE0B3D5-E080-4FCB-A750-A3713DCF40C1}"/>
              </a:ext>
            </a:extLst>
          </p:cNvPr>
          <p:cNvSpPr>
            <a:spLocks xmlns:a="http://schemas.openxmlformats.org/drawingml/2006/main" noGrp="1"/>
          </p:cNvSpPr>
          <p:nvPr/>
        </p:nvSpPr>
        <p:spPr>
          <a:xfrm xmlns:a="http://schemas.openxmlformats.org/drawingml/2006/main">
            <a:off x="533400" y="2190750"/>
            <a:ext cx="1028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5550" b="1">
                <a:solidFill>
                  <a:srgbClr val="111111"/>
                </a:solidFill>
                <a:latin typeface="Arial"/>
                <a:ea typeface="Arial"/>
                <a:cs typeface="Arial"/>
              </a:defRPr>
            </a:pPr>
            <a:r>
              <a:rPr sz="5550" b="1">
                <a:solidFill>
                  <a:srgbClr val="111111"/>
                </a:solidFill>
                <a:latin typeface="Arial"/>
                <a:ea typeface="Arial"/>
                <a:cs typeface="Arial"/>
              </a:rPr>
              <a:t>What could version one leave out?</a:t>
            </a:r>
          </a:p>
        </p:txBody>
      </p:sp>
      <p:sp>
        <p:nvSpPr>
          <p:cNvPr id="3" name="shrink-instruction">
            <a:extLst xmlns:a="http://schemas.openxmlformats.org/drawingml/2006/main">
              <a:ext uri="{FF2B5EF4-FFF2-40B4-BE49-F238E27FC236}">
                <a16:creationId xmlns:a16="http://schemas.microsoft.com/office/drawing/2014/main" id="{DEAF8E41-393F-4605-911E-A743446FEB28}"/>
              </a:ext>
            </a:extLst>
          </p:cNvPr>
          <p:cNvSpPr>
            <a:spLocks xmlns:a="http://schemas.openxmlformats.org/drawingml/2006/main" noGrp="1"/>
          </p:cNvSpPr>
          <p:nvPr/>
        </p:nvSpPr>
        <p:spPr>
          <a:xfrm xmlns:a="http://schemas.openxmlformats.org/drawingml/2006/main">
            <a:off x="533400" y="4286250"/>
            <a:ext cx="819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a:solidFill>
                  <a:srgbClr val="5E6670"/>
                </a:solidFill>
                <a:latin typeface="Arial"/>
                <a:ea typeface="Arial"/>
                <a:cs typeface="Arial"/>
              </a:defRPr>
            </a:pPr>
            <a:r>
              <a:rPr sz="2175">
                <a:solidFill>
                  <a:srgbClr val="5E6670"/>
                </a:solidFill>
                <a:latin typeface="Arial"/>
                <a:ea typeface="Arial"/>
                <a:cs typeface="Arial"/>
              </a:rPr>
              <a:t>Explain your idea in 30 seconds. Your partner asks the question. Then swap.</a:t>
            </a:r>
          </a:p>
        </p:txBody>
      </p:sp>
      <p:sp>
        <p:nvSpPr>
          <p:cNvPr id="4" name="shrink-accent">
            <a:extLst xmlns:a="http://schemas.openxmlformats.org/drawingml/2006/main">
              <a:ext uri="{FF2B5EF4-FFF2-40B4-BE49-F238E27FC236}">
                <a16:creationId xmlns:a16="http://schemas.microsoft.com/office/drawing/2014/main" id="{E18659E3-0AFA-4154-997E-78B133A462E3}"/>
              </a:ext>
            </a:extLst>
          </p:cNvPr>
          <p:cNvSpPr>
            <a:spLocks xmlns:a="http://schemas.openxmlformats.org/drawingml/2006/main" noGrp="1"/>
          </p:cNvSpPr>
          <p:nvPr/>
        </p:nvSpPr>
        <p:spPr>
          <a:xfrm xmlns:a="http://schemas.openxmlformats.org/drawingml/2006/main">
            <a:off x="9715500" y="4191000"/>
            <a:ext cx="1619250" cy="1714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5" name="shrink-page">
            <a:extLst xmlns:a="http://schemas.openxmlformats.org/drawingml/2006/main">
              <a:ext uri="{FF2B5EF4-FFF2-40B4-BE49-F238E27FC236}">
                <a16:creationId xmlns:a16="http://schemas.microsoft.com/office/drawing/2014/main" id="{95ED25D4-0F96-445C-9C9B-9A0CC92D38B3}"/>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5E6670"/>
                </a:solidFill>
                <a:latin typeface="Arial"/>
                <a:ea typeface="Arial"/>
                <a:cs typeface="Arial"/>
              </a:defRPr>
            </a:pPr>
            <a:r>
              <a:rPr sz="1200">
                <a:solidFill>
                  <a:srgbClr val="5E6670"/>
                </a:solidFill>
                <a:latin typeface="Arial"/>
                <a:ea typeface="Arial"/>
                <a:cs typeface="Arial"/>
              </a:rPr>
              <a:t>08</a:t>
            </a:r>
          </a:p>
        </p:txBody>
      </p:sp>
    </p:spTree>
    <p:extLst>
      <p:ext uri="{BB962C8B-B14F-4D97-AF65-F5344CB8AC3E}">
        <p14:creationId xmlns:p14="http://schemas.microsoft.com/office/powerpoint/2010/main" val="2052158495"/>
      </p:ext>
    </p:extLst>
  </p:cSld>
</p:sld>
</file>

<file path=ppt/slides/slide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2" name="demo-kicker">
            <a:extLst xmlns:a="http://schemas.openxmlformats.org/drawingml/2006/main">
              <a:ext uri="{FF2B5EF4-FFF2-40B4-BE49-F238E27FC236}">
                <a16:creationId xmlns:a16="http://schemas.microsoft.com/office/drawing/2014/main" id="{5A9C4D57-944B-4462-A641-C3531406ABF4}"/>
              </a:ext>
            </a:extLst>
          </p:cNvPr>
          <p:cNvSpPr>
            <a:spLocks xmlns:a="http://schemas.openxmlformats.org/drawingml/2006/main" noGrp="1"/>
          </p:cNvSpPr>
          <p:nvPr/>
        </p:nvSpPr>
        <p:spPr>
          <a:xfrm xmlns:a="http://schemas.openxmlformats.org/drawingml/2006/main">
            <a:off x="533400" y="457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6DCBF4"/>
                </a:solidFill>
                <a:latin typeface="Arial"/>
                <a:ea typeface="Arial"/>
                <a:cs typeface="Arial"/>
              </a:defRPr>
            </a:pPr>
            <a:r>
              <a:rPr sz="1500" b="1">
                <a:solidFill>
                  <a:srgbClr val="6DCBF4"/>
                </a:solidFill>
                <a:latin typeface="Arial"/>
                <a:ea typeface="Arial"/>
                <a:cs typeface="Arial"/>
              </a:rPr>
              <a:t>LIVE DEMO</a:t>
            </a:r>
          </a:p>
        </p:txBody>
      </p:sp>
      <p:sp>
        <p:nvSpPr>
          <p:cNvPr id="2" name="demo-title">
            <a:extLst xmlns:a="http://schemas.openxmlformats.org/drawingml/2006/main">
              <a:ext uri="{FF2B5EF4-FFF2-40B4-BE49-F238E27FC236}">
                <a16:creationId xmlns:a16="http://schemas.microsoft.com/office/drawing/2014/main" id="{68019BAC-72E4-4ADF-B9E4-915B9DD01266}"/>
              </a:ext>
            </a:extLst>
          </p:cNvPr>
          <p:cNvSpPr>
            <a:spLocks xmlns:a="http://schemas.openxmlformats.org/drawingml/2006/main" noGrp="1"/>
          </p:cNvSpPr>
          <p:nvPr/>
        </p:nvSpPr>
        <p:spPr>
          <a:xfrm xmlns:a="http://schemas.openxmlformats.org/drawingml/2006/main">
            <a:off x="533400" y="1219200"/>
            <a:ext cx="10096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Let’s make my browser work for me</a:t>
            </a:r>
          </a:p>
        </p:txBody>
      </p:sp>
      <p:sp>
        <p:nvSpPr>
          <p:cNvPr id="3" name="demo-step-0">
            <a:extLst xmlns:a="http://schemas.openxmlformats.org/drawingml/2006/main">
              <a:ext uri="{FF2B5EF4-FFF2-40B4-BE49-F238E27FC236}">
                <a16:creationId xmlns:a16="http://schemas.microsoft.com/office/drawing/2014/main" id="{C45F194A-AB27-42C5-ABE1-4FF3503C1A6B}"/>
              </a:ext>
            </a:extLst>
          </p:cNvPr>
          <p:cNvSpPr>
            <a:spLocks xmlns:a="http://schemas.openxmlformats.org/drawingml/2006/main" noGrp="1"/>
          </p:cNvSpPr>
          <p:nvPr/>
        </p:nvSpPr>
        <p:spPr>
          <a:xfrm xmlns:a="http://schemas.openxmlformats.org/drawingml/2006/main">
            <a:off x="590550" y="35242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Brief</a:t>
            </a:r>
          </a:p>
        </p:txBody>
      </p:sp>
      <p:sp>
        <p:nvSpPr>
          <p:cNvPr id="4" name="demo-arrow-0">
            <a:extLst xmlns:a="http://schemas.openxmlformats.org/drawingml/2006/main">
              <a:ext uri="{FF2B5EF4-FFF2-40B4-BE49-F238E27FC236}">
                <a16:creationId xmlns:a16="http://schemas.microsoft.com/office/drawing/2014/main" id="{43961646-F7E0-4F19-B8AD-8D6C242F41F7}"/>
              </a:ext>
            </a:extLst>
          </p:cNvPr>
          <p:cNvSpPr>
            <a:spLocks xmlns:a="http://schemas.openxmlformats.org/drawingml/2006/main" noGrp="1"/>
          </p:cNvSpPr>
          <p:nvPr/>
        </p:nvSpPr>
        <p:spPr>
          <a:xfrm xmlns:a="http://schemas.openxmlformats.org/drawingml/2006/main">
            <a:off x="2781300" y="3448050"/>
            <a:ext cx="514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000">
                <a:solidFill>
                  <a:srgbClr val="5E6670"/>
                </a:solidFill>
                <a:latin typeface="Arial"/>
                <a:ea typeface="Arial"/>
                <a:cs typeface="Arial"/>
              </a:defRPr>
            </a:pPr>
            <a:r>
              <a:rPr sz="3000">
                <a:solidFill>
                  <a:srgbClr val="5E6670"/>
                </a:solidFill>
                <a:latin typeface="Arial"/>
                <a:ea typeface="Arial"/>
                <a:cs typeface="Arial"/>
              </a:rPr>
              <a:t>→</a:t>
            </a:r>
          </a:p>
        </p:txBody>
      </p:sp>
      <p:sp>
        <p:nvSpPr>
          <p:cNvPr id="5" name="demo-step-1">
            <a:extLst xmlns:a="http://schemas.openxmlformats.org/drawingml/2006/main">
              <a:ext uri="{FF2B5EF4-FFF2-40B4-BE49-F238E27FC236}">
                <a16:creationId xmlns:a16="http://schemas.microsoft.com/office/drawing/2014/main" id="{497DA5DC-58C7-4804-8E5C-44C85AFA7A31}"/>
              </a:ext>
            </a:extLst>
          </p:cNvPr>
          <p:cNvSpPr>
            <a:spLocks xmlns:a="http://schemas.openxmlformats.org/drawingml/2006/main" noGrp="1"/>
          </p:cNvSpPr>
          <p:nvPr/>
        </p:nvSpPr>
        <p:spPr>
          <a:xfrm xmlns:a="http://schemas.openxmlformats.org/drawingml/2006/main">
            <a:off x="3409950" y="35242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Local page</a:t>
            </a:r>
          </a:p>
        </p:txBody>
      </p:sp>
      <p:sp>
        <p:nvSpPr>
          <p:cNvPr id="6" name="demo-arrow-1">
            <a:extLst xmlns:a="http://schemas.openxmlformats.org/drawingml/2006/main">
              <a:ext uri="{FF2B5EF4-FFF2-40B4-BE49-F238E27FC236}">
                <a16:creationId xmlns:a16="http://schemas.microsoft.com/office/drawing/2014/main" id="{1E99F0DE-F14E-45CA-BFD8-6A81E94E4B82}"/>
              </a:ext>
            </a:extLst>
          </p:cNvPr>
          <p:cNvSpPr>
            <a:spLocks xmlns:a="http://schemas.openxmlformats.org/drawingml/2006/main" noGrp="1"/>
          </p:cNvSpPr>
          <p:nvPr/>
        </p:nvSpPr>
        <p:spPr>
          <a:xfrm xmlns:a="http://schemas.openxmlformats.org/drawingml/2006/main">
            <a:off x="5600700" y="3448050"/>
            <a:ext cx="514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000">
                <a:solidFill>
                  <a:srgbClr val="5E6670"/>
                </a:solidFill>
                <a:latin typeface="Arial"/>
                <a:ea typeface="Arial"/>
                <a:cs typeface="Arial"/>
              </a:defRPr>
            </a:pPr>
            <a:r>
              <a:rPr sz="3000">
                <a:solidFill>
                  <a:srgbClr val="5E6670"/>
                </a:solidFill>
                <a:latin typeface="Arial"/>
                <a:ea typeface="Arial"/>
                <a:cs typeface="Arial"/>
              </a:rPr>
              <a:t>→</a:t>
            </a:r>
          </a:p>
        </p:txBody>
      </p:sp>
      <p:sp>
        <p:nvSpPr>
          <p:cNvPr id="7" name="demo-step-2">
            <a:extLst xmlns:a="http://schemas.openxmlformats.org/drawingml/2006/main">
              <a:ext uri="{FF2B5EF4-FFF2-40B4-BE49-F238E27FC236}">
                <a16:creationId xmlns:a16="http://schemas.microsoft.com/office/drawing/2014/main" id="{48AD8F0E-BBCE-450F-9F83-75BA8362EDEA}"/>
              </a:ext>
            </a:extLst>
          </p:cNvPr>
          <p:cNvSpPr>
            <a:spLocks xmlns:a="http://schemas.openxmlformats.org/drawingml/2006/main" noGrp="1"/>
          </p:cNvSpPr>
          <p:nvPr/>
        </p:nvSpPr>
        <p:spPr>
          <a:xfrm xmlns:a="http://schemas.openxmlformats.org/drawingml/2006/main">
            <a:off x="6229350" y="35242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New tab</a:t>
            </a:r>
          </a:p>
        </p:txBody>
      </p:sp>
      <p:sp>
        <p:nvSpPr>
          <p:cNvPr id="8" name="demo-arrow-2">
            <a:extLst xmlns:a="http://schemas.openxmlformats.org/drawingml/2006/main">
              <a:ext uri="{FF2B5EF4-FFF2-40B4-BE49-F238E27FC236}">
                <a16:creationId xmlns:a16="http://schemas.microsoft.com/office/drawing/2014/main" id="{915C0112-E677-48F1-AA39-78D79A3F0163}"/>
              </a:ext>
            </a:extLst>
          </p:cNvPr>
          <p:cNvSpPr>
            <a:spLocks xmlns:a="http://schemas.openxmlformats.org/drawingml/2006/main" noGrp="1"/>
          </p:cNvSpPr>
          <p:nvPr/>
        </p:nvSpPr>
        <p:spPr>
          <a:xfrm xmlns:a="http://schemas.openxmlformats.org/drawingml/2006/main">
            <a:off x="8420100" y="3448050"/>
            <a:ext cx="514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000">
                <a:solidFill>
                  <a:srgbClr val="5E6670"/>
                </a:solidFill>
                <a:latin typeface="Arial"/>
                <a:ea typeface="Arial"/>
                <a:cs typeface="Arial"/>
              </a:defRPr>
            </a:pPr>
            <a:r>
              <a:rPr sz="3000">
                <a:solidFill>
                  <a:srgbClr val="5E6670"/>
                </a:solidFill>
                <a:latin typeface="Arial"/>
                <a:ea typeface="Arial"/>
                <a:cs typeface="Arial"/>
              </a:rPr>
              <a:t>→</a:t>
            </a:r>
          </a:p>
        </p:txBody>
      </p:sp>
      <p:sp>
        <p:nvSpPr>
          <p:cNvPr id="9" name="demo-step-3">
            <a:extLst xmlns:a="http://schemas.openxmlformats.org/drawingml/2006/main">
              <a:ext uri="{FF2B5EF4-FFF2-40B4-BE49-F238E27FC236}">
                <a16:creationId xmlns:a16="http://schemas.microsoft.com/office/drawing/2014/main" id="{C9D10BB5-E64A-47F8-BA09-4D6B76D2E053}"/>
              </a:ext>
            </a:extLst>
          </p:cNvPr>
          <p:cNvSpPr>
            <a:spLocks xmlns:a="http://schemas.openxmlformats.org/drawingml/2006/main" noGrp="1"/>
          </p:cNvSpPr>
          <p:nvPr/>
        </p:nvSpPr>
        <p:spPr>
          <a:xfrm xmlns:a="http://schemas.openxmlformats.org/drawingml/2006/main">
            <a:off x="9048750" y="35242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6DCBF4"/>
                </a:solidFill>
                <a:latin typeface="Arial"/>
                <a:ea typeface="Arial"/>
                <a:cs typeface="Arial"/>
              </a:defRPr>
            </a:pPr>
            <a:r>
              <a:rPr sz="2250" b="1">
                <a:solidFill>
                  <a:srgbClr val="6DCBF4"/>
                </a:solidFill>
                <a:latin typeface="Arial"/>
                <a:ea typeface="Arial"/>
                <a:cs typeface="Arial"/>
              </a:rPr>
              <a:t>One change</a:t>
            </a:r>
          </a:p>
        </p:txBody>
      </p:sp>
      <p:sp>
        <p:nvSpPr>
          <p:cNvPr id="10" name="demo-method">
            <a:extLst xmlns:a="http://schemas.openxmlformats.org/drawingml/2006/main">
              <a:ext uri="{FF2B5EF4-FFF2-40B4-BE49-F238E27FC236}">
                <a16:creationId xmlns:a16="http://schemas.microsoft.com/office/drawing/2014/main" id="{F3D9929C-C9CB-4BFE-9463-F74807C9718A}"/>
              </a:ext>
            </a:extLst>
          </p:cNvPr>
          <p:cNvSpPr>
            <a:spLocks xmlns:a="http://schemas.openxmlformats.org/drawingml/2006/main" noGrp="1"/>
          </p:cNvSpPr>
          <p:nvPr/>
        </p:nvSpPr>
        <p:spPr>
          <a:xfrm xmlns:a="http://schemas.openxmlformats.org/drawingml/2006/main">
            <a:off x="533400" y="51625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a:solidFill>
                  <a:srgbClr val="B8BCC4"/>
                </a:solidFill>
                <a:latin typeface="Arial"/>
                <a:ea typeface="Arial"/>
                <a:cs typeface="Arial"/>
              </a:defRPr>
            </a:pPr>
            <a:r>
              <a:rPr sz="1875">
                <a:solidFill>
                  <a:srgbClr val="B8BCC4"/>
                </a:solidFill>
                <a:latin typeface="Arial"/>
                <a:ea typeface="Arial"/>
                <a:cs typeface="Arial"/>
              </a:rPr>
              <a:t>Describe · build · inspect permissions · test · change · stop</a:t>
            </a:r>
          </a:p>
        </p:txBody>
      </p:sp>
      <p:sp>
        <p:nvSpPr>
          <p:cNvPr id="11" name="demo-page">
            <a:extLst xmlns:a="http://schemas.openxmlformats.org/drawingml/2006/main">
              <a:ext uri="{FF2B5EF4-FFF2-40B4-BE49-F238E27FC236}">
                <a16:creationId xmlns:a16="http://schemas.microsoft.com/office/drawing/2014/main" id="{39DC9003-F3AC-4797-BFF2-0BC6ADB990AA}"/>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B8BCC4"/>
                </a:solidFill>
                <a:latin typeface="Arial"/>
                <a:ea typeface="Arial"/>
                <a:cs typeface="Arial"/>
              </a:defRPr>
            </a:pPr>
            <a:r>
              <a:rPr sz="1200">
                <a:solidFill>
                  <a:srgbClr val="B8BCC4"/>
                </a:solidFill>
                <a:latin typeface="Arial"/>
                <a:ea typeface="Arial"/>
                <a:cs typeface="Arial"/>
              </a:rPr>
              <a:t>09</a:t>
            </a:r>
          </a:p>
        </p:txBody>
      </p:sp>
    </p:spTree>
    <p:extLst>
      <p:ext uri="{BB962C8B-B14F-4D97-AF65-F5344CB8AC3E}">
        <p14:creationId xmlns:p14="http://schemas.microsoft.com/office/powerpoint/2010/main" val="18331743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10">
            <a:extLst xmlns:a="http://schemas.openxmlformats.org/drawingml/2006/main">
              <a:ext uri="{FF2B5EF4-FFF2-40B4-BE49-F238E27FC236}">
                <a16:creationId xmlns:a16="http://schemas.microsoft.com/office/drawing/2014/main" id="{94CA24EC-08EF-4F7B-9A01-55673C49D118}"/>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SIX-MINUTE SPRINT</a:t>
            </a:r>
          </a:p>
        </p:txBody>
      </p:sp>
      <p:sp>
        <p:nvSpPr>
          <p:cNvPr id="2" name="title-10">
            <a:extLst xmlns:a="http://schemas.openxmlformats.org/drawingml/2006/main">
              <a:ext uri="{FF2B5EF4-FFF2-40B4-BE49-F238E27FC236}">
                <a16:creationId xmlns:a16="http://schemas.microsoft.com/office/drawing/2014/main" id="{9195A823-DCB8-42C0-BFF4-CC999F4C7B59}"/>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Choose the kind of progress you need</a:t>
            </a:r>
          </a:p>
        </p:txBody>
      </p:sp>
      <p:sp>
        <p:nvSpPr>
          <p:cNvPr id="3" name="page-10">
            <a:extLst xmlns:a="http://schemas.openxmlformats.org/drawingml/2006/main">
              <a:ext uri="{FF2B5EF4-FFF2-40B4-BE49-F238E27FC236}">
                <a16:creationId xmlns:a16="http://schemas.microsoft.com/office/drawing/2014/main" id="{1EEAC21B-4F76-417E-A56A-4B76722A82EF}"/>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5E6670"/>
                </a:solidFill>
                <a:latin typeface="Arial"/>
                <a:ea typeface="Arial"/>
                <a:cs typeface="Arial"/>
              </a:defRPr>
            </a:pPr>
            <a:r>
              <a:rPr sz="1200">
                <a:solidFill>
                  <a:srgbClr val="5E6670"/>
                </a:solidFill>
                <a:latin typeface="Arial"/>
                <a:ea typeface="Arial"/>
                <a:cs typeface="Arial"/>
              </a:rPr>
              <a:t>10</a:t>
            </a:r>
          </a:p>
        </p:txBody>
      </p:sp>
      <p:sp>
        <p:nvSpPr>
          <p:cNvPr id="4" name="lane-a-bg">
            <a:extLst xmlns:a="http://schemas.openxmlformats.org/drawingml/2006/main">
              <a:ext uri="{FF2B5EF4-FFF2-40B4-BE49-F238E27FC236}">
                <a16:creationId xmlns:a16="http://schemas.microsoft.com/office/drawing/2014/main" id="{08E4E8CD-207D-48CA-B2D1-5EEC7B589311}"/>
              </a:ext>
            </a:extLst>
          </p:cNvPr>
          <p:cNvSpPr>
            <a:spLocks xmlns:a="http://schemas.openxmlformats.org/drawingml/2006/main" noGrp="1"/>
          </p:cNvSpPr>
          <p:nvPr/>
        </p:nvSpPr>
        <p:spPr>
          <a:xfrm xmlns:a="http://schemas.openxmlformats.org/drawingml/2006/main">
            <a:off x="533400" y="2095500"/>
            <a:ext cx="5219700" cy="3333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ane-b-bg">
            <a:extLst xmlns:a="http://schemas.openxmlformats.org/drawingml/2006/main">
              <a:ext uri="{FF2B5EF4-FFF2-40B4-BE49-F238E27FC236}">
                <a16:creationId xmlns:a16="http://schemas.microsoft.com/office/drawing/2014/main" id="{99105EB0-8675-4EE8-BF86-BBAF3F1247BD}"/>
              </a:ext>
            </a:extLst>
          </p:cNvPr>
          <p:cNvSpPr>
            <a:spLocks xmlns:a="http://schemas.openxmlformats.org/drawingml/2006/main" noGrp="1"/>
          </p:cNvSpPr>
          <p:nvPr/>
        </p:nvSpPr>
        <p:spPr>
          <a:xfrm xmlns:a="http://schemas.openxmlformats.org/drawingml/2006/main">
            <a:off x="6438900" y="2095500"/>
            <a:ext cx="5219700" cy="3333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lane-a-title">
            <a:extLst xmlns:a="http://schemas.openxmlformats.org/drawingml/2006/main">
              <a:ext uri="{FF2B5EF4-FFF2-40B4-BE49-F238E27FC236}">
                <a16:creationId xmlns:a16="http://schemas.microsoft.com/office/drawing/2014/main" id="{45D00E57-C397-4563-9558-F4A0999EBD39}"/>
              </a:ext>
            </a:extLst>
          </p:cNvPr>
          <p:cNvSpPr>
            <a:spLocks xmlns:a="http://schemas.openxmlformats.org/drawingml/2006/main" noGrp="1"/>
          </p:cNvSpPr>
          <p:nvPr/>
        </p:nvSpPr>
        <p:spPr>
          <a:xfrm xmlns:a="http://schemas.openxmlformats.org/drawingml/2006/main">
            <a:off x="876300" y="24574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111111"/>
                </a:solidFill>
                <a:latin typeface="Arial"/>
                <a:ea typeface="Arial"/>
                <a:cs typeface="Arial"/>
              </a:defRPr>
            </a:pPr>
            <a:r>
              <a:rPr sz="2775" b="1">
                <a:solidFill>
                  <a:srgbClr val="111111"/>
                </a:solidFill>
                <a:latin typeface="Arial"/>
                <a:ea typeface="Arial"/>
                <a:cs typeface="Arial"/>
              </a:rPr>
              <a:t>Clarify it</a:t>
            </a:r>
          </a:p>
        </p:txBody>
      </p:sp>
      <p:sp>
        <p:nvSpPr>
          <p:cNvPr id="7" name="lane-a-sub">
            <a:extLst xmlns:a="http://schemas.openxmlformats.org/drawingml/2006/main">
              <a:ext uri="{FF2B5EF4-FFF2-40B4-BE49-F238E27FC236}">
                <a16:creationId xmlns:a16="http://schemas.microsoft.com/office/drawing/2014/main" id="{D5A7C274-927A-405F-9D1F-11EADEF81711}"/>
              </a:ext>
            </a:extLst>
          </p:cNvPr>
          <p:cNvSpPr>
            <a:spLocks xmlns:a="http://schemas.openxmlformats.org/drawingml/2006/main" noGrp="1"/>
          </p:cNvSpPr>
          <p:nvPr/>
        </p:nvSpPr>
        <p:spPr>
          <a:xfrm xmlns:a="http://schemas.openxmlformats.org/drawingml/2006/main">
            <a:off x="876300" y="30289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a:solidFill>
                  <a:srgbClr val="5E6670"/>
                </a:solidFill>
                <a:latin typeface="Arial"/>
                <a:ea typeface="Arial"/>
                <a:cs typeface="Arial"/>
              </a:defRPr>
            </a:pPr>
            <a:r>
              <a:rPr sz="1800">
                <a:solidFill>
                  <a:srgbClr val="5E6670"/>
                </a:solidFill>
                <a:latin typeface="Arial"/>
                <a:ea typeface="Arial"/>
                <a:cs typeface="Arial"/>
              </a:rPr>
              <a:t>Improve the brief. No code required.</a:t>
            </a:r>
          </a:p>
        </p:txBody>
      </p:sp>
      <p:sp>
        <p:nvSpPr>
          <p:cNvPr id="8" name="lane-a-body">
            <a:extLst xmlns:a="http://schemas.openxmlformats.org/drawingml/2006/main">
              <a:ext uri="{FF2B5EF4-FFF2-40B4-BE49-F238E27FC236}">
                <a16:creationId xmlns:a16="http://schemas.microsoft.com/office/drawing/2014/main" id="{BE79A709-BFFF-4588-BB6F-EA1E83244638}"/>
              </a:ext>
            </a:extLst>
          </p:cNvPr>
          <p:cNvSpPr>
            <a:spLocks xmlns:a="http://schemas.openxmlformats.org/drawingml/2006/main" noGrp="1"/>
          </p:cNvSpPr>
          <p:nvPr/>
        </p:nvSpPr>
        <p:spPr>
          <a:xfrm xmlns:a="http://schemas.openxmlformats.org/drawingml/2006/main">
            <a:off x="876300" y="3638550"/>
            <a:ext cx="3714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Restate assumptions</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Remove one feature</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Propose three tests</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Flag one boundary</a:t>
            </a:r>
          </a:p>
        </p:txBody>
      </p:sp>
      <p:sp>
        <p:nvSpPr>
          <p:cNvPr id="9" name="lane-b-title">
            <a:extLst xmlns:a="http://schemas.openxmlformats.org/drawingml/2006/main">
              <a:ext uri="{FF2B5EF4-FFF2-40B4-BE49-F238E27FC236}">
                <a16:creationId xmlns:a16="http://schemas.microsoft.com/office/drawing/2014/main" id="{6EFBB39E-06E6-4B51-9881-D32DAFF22547}"/>
              </a:ext>
            </a:extLst>
          </p:cNvPr>
          <p:cNvSpPr>
            <a:spLocks xmlns:a="http://schemas.openxmlformats.org/drawingml/2006/main" noGrp="1"/>
          </p:cNvSpPr>
          <p:nvPr/>
        </p:nvSpPr>
        <p:spPr>
          <a:xfrm xmlns:a="http://schemas.openxmlformats.org/drawingml/2006/main">
            <a:off x="6781800" y="24574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111111"/>
                </a:solidFill>
                <a:latin typeface="Arial"/>
                <a:ea typeface="Arial"/>
                <a:cs typeface="Arial"/>
              </a:defRPr>
            </a:pPr>
            <a:r>
              <a:rPr sz="2775" b="1">
                <a:solidFill>
                  <a:srgbClr val="111111"/>
                </a:solidFill>
                <a:latin typeface="Arial"/>
                <a:ea typeface="Arial"/>
                <a:cs typeface="Arial"/>
              </a:rPr>
              <a:t>Try it</a:t>
            </a:r>
          </a:p>
        </p:txBody>
      </p:sp>
      <p:sp>
        <p:nvSpPr>
          <p:cNvPr id="10" name="lane-b-sub">
            <a:extLst xmlns:a="http://schemas.openxmlformats.org/drawingml/2006/main">
              <a:ext uri="{FF2B5EF4-FFF2-40B4-BE49-F238E27FC236}">
                <a16:creationId xmlns:a16="http://schemas.microsoft.com/office/drawing/2014/main" id="{3BB313B6-9A56-48EE-BA52-8D1DDD4A15A9}"/>
              </a:ext>
            </a:extLst>
          </p:cNvPr>
          <p:cNvSpPr>
            <a:spLocks xmlns:a="http://schemas.openxmlformats.org/drawingml/2006/main" noGrp="1"/>
          </p:cNvSpPr>
          <p:nvPr/>
        </p:nvSpPr>
        <p:spPr>
          <a:xfrm xmlns:a="http://schemas.openxmlformats.org/drawingml/2006/main">
            <a:off x="6781800" y="30289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a:solidFill>
                  <a:srgbClr val="5E6670"/>
                </a:solidFill>
                <a:latin typeface="Arial"/>
                <a:ea typeface="Arial"/>
                <a:cs typeface="Arial"/>
              </a:defRPr>
            </a:pPr>
            <a:r>
              <a:rPr sz="1800">
                <a:solidFill>
                  <a:srgbClr val="5E6670"/>
                </a:solidFill>
                <a:latin typeface="Arial"/>
                <a:ea typeface="Arial"/>
                <a:cs typeface="Arial"/>
              </a:rPr>
              <a:t>Prototype one tile or one tiny job.</a:t>
            </a:r>
          </a:p>
        </p:txBody>
      </p:sp>
      <p:sp>
        <p:nvSpPr>
          <p:cNvPr id="11" name="lane-b-body">
            <a:extLst xmlns:a="http://schemas.openxmlformats.org/drawingml/2006/main">
              <a:ext uri="{FF2B5EF4-FFF2-40B4-BE49-F238E27FC236}">
                <a16:creationId xmlns:a16="http://schemas.microsoft.com/office/drawing/2014/main" id="{63845FAC-98C1-460A-BCDD-E2090FAC32D7}"/>
              </a:ext>
            </a:extLst>
          </p:cNvPr>
          <p:cNvSpPr>
            <a:spLocks xmlns:a="http://schemas.openxmlformats.org/drawingml/2006/main" noGrp="1"/>
          </p:cNvSpPr>
          <p:nvPr/>
        </p:nvSpPr>
        <p:spPr>
          <a:xfrm xmlns:a="http://schemas.openxmlformats.org/drawingml/2006/main">
            <a:off x="6781800" y="3638550"/>
            <a:ext cx="3905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One local HTML file</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No accounts or packages</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Synthetic information</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Three manual tests</a:t>
            </a:r>
          </a:p>
        </p:txBody>
      </p:sp>
    </p:spTree>
    <p:extLst>
      <p:ext uri="{BB962C8B-B14F-4D97-AF65-F5344CB8AC3E}">
        <p14:creationId xmlns:p14="http://schemas.microsoft.com/office/powerpoint/2010/main" val="185864984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11">
            <a:extLst xmlns:a="http://schemas.openxmlformats.org/drawingml/2006/main">
              <a:ext uri="{FF2B5EF4-FFF2-40B4-BE49-F238E27FC236}">
                <a16:creationId xmlns:a16="http://schemas.microsoft.com/office/drawing/2014/main" id="{7352D459-6247-488B-AD66-ACF9672A9DEE}"/>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GENERATED OUTPUT IS A DRAFT</a:t>
            </a:r>
          </a:p>
        </p:txBody>
      </p:sp>
      <p:sp>
        <p:nvSpPr>
          <p:cNvPr id="2" name="title-11">
            <a:extLst xmlns:a="http://schemas.openxmlformats.org/drawingml/2006/main">
              <a:ext uri="{FF2B5EF4-FFF2-40B4-BE49-F238E27FC236}">
                <a16:creationId xmlns:a16="http://schemas.microsoft.com/office/drawing/2014/main" id="{C29BAB44-71E2-4B57-8271-788CA64933CA}"/>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Test it—don’t just admire it</a:t>
            </a:r>
          </a:p>
        </p:txBody>
      </p:sp>
      <p:sp>
        <p:nvSpPr>
          <p:cNvPr id="3" name="page-11">
            <a:extLst xmlns:a="http://schemas.openxmlformats.org/drawingml/2006/main">
              <a:ext uri="{FF2B5EF4-FFF2-40B4-BE49-F238E27FC236}">
                <a16:creationId xmlns:a16="http://schemas.microsoft.com/office/drawing/2014/main" id="{4C7BEF1D-03F7-4232-B7E7-DABFF5759D36}"/>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5E6670"/>
                </a:solidFill>
                <a:latin typeface="Arial"/>
                <a:ea typeface="Arial"/>
                <a:cs typeface="Arial"/>
              </a:defRPr>
            </a:pPr>
            <a:r>
              <a:rPr sz="1200">
                <a:solidFill>
                  <a:srgbClr val="5E6670"/>
                </a:solidFill>
                <a:latin typeface="Arial"/>
                <a:ea typeface="Arial"/>
                <a:cs typeface="Arial"/>
              </a:rPr>
              <a:t>11</a:t>
            </a:r>
          </a:p>
        </p:txBody>
      </p:sp>
      <p:sp>
        <p:nvSpPr>
          <p:cNvPr id="4" name="column-rule-11">
            <a:extLst xmlns:a="http://schemas.openxmlformats.org/drawingml/2006/main">
              <a:ext uri="{FF2B5EF4-FFF2-40B4-BE49-F238E27FC236}">
                <a16:creationId xmlns:a16="http://schemas.microsoft.com/office/drawing/2014/main" id="{70086001-1153-412A-B1CA-D76EB280FC2B}"/>
              </a:ext>
            </a:extLst>
          </p:cNvPr>
          <p:cNvSpPr>
            <a:spLocks xmlns:a="http://schemas.openxmlformats.org/drawingml/2006/main" noGrp="1"/>
          </p:cNvSpPr>
          <p:nvPr/>
        </p:nvSpPr>
        <p:spPr>
          <a:xfrm xmlns:a="http://schemas.openxmlformats.org/drawingml/2006/main">
            <a:off x="533400" y="2533650"/>
            <a:ext cx="3333750" cy="0"/>
          </a:xfrm>
          <a:prstGeom xmlns:a="http://schemas.openxmlformats.org/drawingml/2006/main" prst="line">
            <a:avLst/>
          </a:prstGeom>
          <a:noFill xmlns:a="http://schemas.openxmlformats.org/drawingml/2006/main"/>
          <a:ln xmlns:a="http://schemas.openxmlformats.org/drawingml/2006/main" w="47625">
            <a:solidFill>
              <a:srgbClr val="2F8F4E"/>
            </a:solidFill>
            <a:prstDash val="solid"/>
          </a:ln>
        </p:spPr>
      </p:sp>
      <p:sp>
        <p:nvSpPr>
          <p:cNvPr id="5" name="column-label-11">
            <a:extLst xmlns:a="http://schemas.openxmlformats.org/drawingml/2006/main">
              <a:ext uri="{FF2B5EF4-FFF2-40B4-BE49-F238E27FC236}">
                <a16:creationId xmlns:a16="http://schemas.microsoft.com/office/drawing/2014/main" id="{003FFE44-B0E7-4C7F-9B9C-5CFF80F002C0}"/>
              </a:ext>
            </a:extLst>
          </p:cNvPr>
          <p:cNvSpPr>
            <a:spLocks xmlns:a="http://schemas.openxmlformats.org/drawingml/2006/main" noGrp="1"/>
          </p:cNvSpPr>
          <p:nvPr/>
        </p:nvSpPr>
        <p:spPr>
          <a:xfrm xmlns:a="http://schemas.openxmlformats.org/drawingml/2006/main">
            <a:off x="533400" y="27622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Arial"/>
                <a:ea typeface="Arial"/>
                <a:cs typeface="Arial"/>
              </a:defRPr>
            </a:pPr>
            <a:r>
              <a:rPr sz="2250" b="1">
                <a:solidFill>
                  <a:srgbClr val="111111"/>
                </a:solidFill>
                <a:latin typeface="Arial"/>
                <a:ea typeface="Arial"/>
                <a:cs typeface="Arial"/>
              </a:rPr>
              <a:t>Normal</a:t>
            </a:r>
          </a:p>
        </p:txBody>
      </p:sp>
      <p:sp>
        <p:nvSpPr>
          <p:cNvPr id="6" name="column-body-11">
            <a:extLst xmlns:a="http://schemas.openxmlformats.org/drawingml/2006/main">
              <a:ext uri="{FF2B5EF4-FFF2-40B4-BE49-F238E27FC236}">
                <a16:creationId xmlns:a16="http://schemas.microsoft.com/office/drawing/2014/main" id="{47F379A1-8CCE-43C8-88D8-22AA31BE832E}"/>
              </a:ext>
            </a:extLst>
          </p:cNvPr>
          <p:cNvSpPr>
            <a:spLocks xmlns:a="http://schemas.openxmlformats.org/drawingml/2006/main" noGrp="1"/>
          </p:cNvSpPr>
          <p:nvPr/>
        </p:nvSpPr>
        <p:spPr>
          <a:xfrm xmlns:a="http://schemas.openxmlformats.org/drawingml/2006/main">
            <a:off x="533400" y="340995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Add a task, complete it, and open another new tab. It should still be there.</a:t>
            </a:r>
          </a:p>
        </p:txBody>
      </p:sp>
      <p:sp>
        <p:nvSpPr>
          <p:cNvPr id="7" name="column-rule-12">
            <a:extLst xmlns:a="http://schemas.openxmlformats.org/drawingml/2006/main">
              <a:ext uri="{FF2B5EF4-FFF2-40B4-BE49-F238E27FC236}">
                <a16:creationId xmlns:a16="http://schemas.microsoft.com/office/drawing/2014/main" id="{E1757F1F-9023-4DAE-84C1-E9B5C11E9AC9}"/>
              </a:ext>
            </a:extLst>
          </p:cNvPr>
          <p:cNvSpPr>
            <a:spLocks xmlns:a="http://schemas.openxmlformats.org/drawingml/2006/main" noGrp="1"/>
          </p:cNvSpPr>
          <p:nvPr/>
        </p:nvSpPr>
        <p:spPr>
          <a:xfrm xmlns:a="http://schemas.openxmlformats.org/drawingml/2006/main">
            <a:off x="4429125" y="2533650"/>
            <a:ext cx="3333750" cy="0"/>
          </a:xfrm>
          <a:prstGeom xmlns:a="http://schemas.openxmlformats.org/drawingml/2006/main" prst="line">
            <a:avLst/>
          </a:prstGeom>
          <a:noFill xmlns:a="http://schemas.openxmlformats.org/drawingml/2006/main"/>
          <a:ln xmlns:a="http://schemas.openxmlformats.org/drawingml/2006/main" w="47625">
            <a:solidFill>
              <a:srgbClr val="C98508"/>
            </a:solidFill>
            <a:prstDash val="solid"/>
          </a:ln>
        </p:spPr>
      </p:sp>
      <p:sp>
        <p:nvSpPr>
          <p:cNvPr id="8" name="column-label-12">
            <a:extLst xmlns:a="http://schemas.openxmlformats.org/drawingml/2006/main">
              <a:ext uri="{FF2B5EF4-FFF2-40B4-BE49-F238E27FC236}">
                <a16:creationId xmlns:a16="http://schemas.microsoft.com/office/drawing/2014/main" id="{5957EF50-372E-42B5-A25F-A7F1DFC680BC}"/>
              </a:ext>
            </a:extLst>
          </p:cNvPr>
          <p:cNvSpPr>
            <a:spLocks xmlns:a="http://schemas.openxmlformats.org/drawingml/2006/main" noGrp="1"/>
          </p:cNvSpPr>
          <p:nvPr/>
        </p:nvSpPr>
        <p:spPr>
          <a:xfrm xmlns:a="http://schemas.openxmlformats.org/drawingml/2006/main">
            <a:off x="4429125" y="27622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Arial"/>
                <a:ea typeface="Arial"/>
                <a:cs typeface="Arial"/>
              </a:defRPr>
            </a:pPr>
            <a:r>
              <a:rPr sz="2250" b="1">
                <a:solidFill>
                  <a:srgbClr val="111111"/>
                </a:solidFill>
                <a:latin typeface="Arial"/>
                <a:ea typeface="Arial"/>
                <a:cs typeface="Arial"/>
              </a:rPr>
              <a:t>Edge</a:t>
            </a:r>
          </a:p>
        </p:txBody>
      </p:sp>
      <p:sp>
        <p:nvSpPr>
          <p:cNvPr id="9" name="column-body-12">
            <a:extLst xmlns:a="http://schemas.openxmlformats.org/drawingml/2006/main">
              <a:ext uri="{FF2B5EF4-FFF2-40B4-BE49-F238E27FC236}">
                <a16:creationId xmlns:a16="http://schemas.microsoft.com/office/drawing/2014/main" id="{6964914C-B7A5-4BF0-AAF2-E37F80F58E0F}"/>
              </a:ext>
            </a:extLst>
          </p:cNvPr>
          <p:cNvSpPr>
            <a:spLocks xmlns:a="http://schemas.openxmlformats.org/drawingml/2006/main" noGrp="1"/>
          </p:cNvSpPr>
          <p:nvPr/>
        </p:nvSpPr>
        <p:spPr>
          <a:xfrm xmlns:a="http://schemas.openxmlformats.org/drawingml/2006/main">
            <a:off x="4429125" y="340995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Submit an empty task or only spaces. Nothing should break or be added.</a:t>
            </a:r>
          </a:p>
        </p:txBody>
      </p:sp>
      <p:sp>
        <p:nvSpPr>
          <p:cNvPr id="10" name="column-rule-13">
            <a:extLst xmlns:a="http://schemas.openxmlformats.org/drawingml/2006/main">
              <a:ext uri="{FF2B5EF4-FFF2-40B4-BE49-F238E27FC236}">
                <a16:creationId xmlns:a16="http://schemas.microsoft.com/office/drawing/2014/main" id="{FB777B20-4C67-4562-8956-4EA63A149FAE}"/>
              </a:ext>
            </a:extLst>
          </p:cNvPr>
          <p:cNvSpPr>
            <a:spLocks xmlns:a="http://schemas.openxmlformats.org/drawingml/2006/main" noGrp="1"/>
          </p:cNvSpPr>
          <p:nvPr/>
        </p:nvSpPr>
        <p:spPr>
          <a:xfrm xmlns:a="http://schemas.openxmlformats.org/drawingml/2006/main">
            <a:off x="8324850" y="2533650"/>
            <a:ext cx="3333750" cy="0"/>
          </a:xfrm>
          <a:prstGeom xmlns:a="http://schemas.openxmlformats.org/drawingml/2006/main" prst="line">
            <a:avLst/>
          </a:prstGeom>
          <a:noFill xmlns:a="http://schemas.openxmlformats.org/drawingml/2006/main"/>
          <a:ln xmlns:a="http://schemas.openxmlformats.org/drawingml/2006/main" w="47625">
            <a:solidFill>
              <a:srgbClr val="C94646"/>
            </a:solidFill>
            <a:prstDash val="solid"/>
          </a:ln>
        </p:spPr>
      </p:sp>
      <p:sp>
        <p:nvSpPr>
          <p:cNvPr id="11" name="column-label-13">
            <a:extLst xmlns:a="http://schemas.openxmlformats.org/drawingml/2006/main">
              <a:ext uri="{FF2B5EF4-FFF2-40B4-BE49-F238E27FC236}">
                <a16:creationId xmlns:a16="http://schemas.microsoft.com/office/drawing/2014/main" id="{1A5CE2E7-E47C-4E0C-A948-BD18C0486D9D}"/>
              </a:ext>
            </a:extLst>
          </p:cNvPr>
          <p:cNvSpPr>
            <a:spLocks xmlns:a="http://schemas.openxmlformats.org/drawingml/2006/main" noGrp="1"/>
          </p:cNvSpPr>
          <p:nvPr/>
        </p:nvSpPr>
        <p:spPr>
          <a:xfrm xmlns:a="http://schemas.openxmlformats.org/drawingml/2006/main">
            <a:off x="8324850" y="27622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Arial"/>
                <a:ea typeface="Arial"/>
                <a:cs typeface="Arial"/>
              </a:defRPr>
            </a:pPr>
            <a:r>
              <a:rPr sz="2250" b="1">
                <a:solidFill>
                  <a:srgbClr val="111111"/>
                </a:solidFill>
                <a:latin typeface="Arial"/>
                <a:ea typeface="Arial"/>
                <a:cs typeface="Arial"/>
              </a:rPr>
              <a:t>Safe failure</a:t>
            </a:r>
          </a:p>
        </p:txBody>
      </p:sp>
      <p:sp>
        <p:nvSpPr>
          <p:cNvPr id="12" name="column-body-13">
            <a:extLst xmlns:a="http://schemas.openxmlformats.org/drawingml/2006/main">
              <a:ext uri="{FF2B5EF4-FFF2-40B4-BE49-F238E27FC236}">
                <a16:creationId xmlns:a16="http://schemas.microsoft.com/office/drawing/2014/main" id="{AEB14CBE-F62E-4395-8374-4E2903DABBA1}"/>
              </a:ext>
            </a:extLst>
          </p:cNvPr>
          <p:cNvSpPr>
            <a:spLocks xmlns:a="http://schemas.openxmlformats.org/drawingml/2006/main" noGrp="1"/>
          </p:cNvSpPr>
          <p:nvPr/>
        </p:nvSpPr>
        <p:spPr>
          <a:xfrm xmlns:a="http://schemas.openxmlformats.org/drawingml/2006/main">
            <a:off x="8324850" y="340995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Turn the network off. Tasks and links should work even when weather cannot.</a:t>
            </a:r>
          </a:p>
        </p:txBody>
      </p:sp>
      <p:sp>
        <p:nvSpPr>
          <p:cNvPr id="13" name="test-bottom">
            <a:extLst xmlns:a="http://schemas.openxmlformats.org/drawingml/2006/main">
              <a:ext uri="{FF2B5EF4-FFF2-40B4-BE49-F238E27FC236}">
                <a16:creationId xmlns:a16="http://schemas.microsoft.com/office/drawing/2014/main" id="{05D4821D-A181-4F15-B51D-52AFA39677D0}"/>
              </a:ext>
            </a:extLst>
          </p:cNvPr>
          <p:cNvSpPr>
            <a:spLocks xmlns:a="http://schemas.openxmlformats.org/drawingml/2006/main" noGrp="1"/>
          </p:cNvSpPr>
          <p:nvPr/>
        </p:nvSpPr>
        <p:spPr>
          <a:xfrm xmlns:a="http://schemas.openxmlformats.org/drawingml/2006/main">
            <a:off x="533400" y="5715000"/>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A good brief tells you what to try—and what “wrong” looks like.</a:t>
            </a:r>
          </a:p>
        </p:txBody>
      </p:sp>
    </p:spTree>
    <p:extLst>
      <p:ext uri="{BB962C8B-B14F-4D97-AF65-F5344CB8AC3E}">
        <p14:creationId xmlns:p14="http://schemas.microsoft.com/office/powerpoint/2010/main" val="6748547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12">
            <a:extLst xmlns:a="http://schemas.openxmlformats.org/drawingml/2006/main">
              <a:ext uri="{FF2B5EF4-FFF2-40B4-BE49-F238E27FC236}">
                <a16:creationId xmlns:a16="http://schemas.microsoft.com/office/drawing/2014/main" id="{1541391C-402F-467F-B491-2709EAC37936}"/>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THE BOUNDARY MOVES</a:t>
            </a:r>
          </a:p>
        </p:txBody>
      </p:sp>
      <p:sp>
        <p:nvSpPr>
          <p:cNvPr id="2" name="title-12">
            <a:extLst xmlns:a="http://schemas.openxmlformats.org/drawingml/2006/main">
              <a:ext uri="{FF2B5EF4-FFF2-40B4-BE49-F238E27FC236}">
                <a16:creationId xmlns:a16="http://schemas.microsoft.com/office/drawing/2014/main" id="{AC0618EE-305C-4ED2-866E-AC3EC486EB55}"/>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Weather changes more than the screen</a:t>
            </a:r>
          </a:p>
        </p:txBody>
      </p:sp>
      <p:sp>
        <p:nvSpPr>
          <p:cNvPr id="3" name="page-12">
            <a:extLst xmlns:a="http://schemas.openxmlformats.org/drawingml/2006/main">
              <a:ext uri="{FF2B5EF4-FFF2-40B4-BE49-F238E27FC236}">
                <a16:creationId xmlns:a16="http://schemas.microsoft.com/office/drawing/2014/main" id="{8D242116-DDE6-4632-B483-81058A8F167B}"/>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5E6670"/>
                </a:solidFill>
                <a:latin typeface="Arial"/>
                <a:ea typeface="Arial"/>
                <a:cs typeface="Arial"/>
              </a:defRPr>
            </a:pPr>
            <a:r>
              <a:rPr sz="1200">
                <a:solidFill>
                  <a:srgbClr val="5E6670"/>
                </a:solidFill>
                <a:latin typeface="Arial"/>
                <a:ea typeface="Arial"/>
                <a:cs typeface="Arial"/>
              </a:rPr>
              <a:t>12</a:t>
            </a:r>
          </a:p>
        </p:txBody>
      </p:sp>
      <p:sp>
        <p:nvSpPr>
          <p:cNvPr id="4" name="local-bg">
            <a:extLst xmlns:a="http://schemas.openxmlformats.org/drawingml/2006/main">
              <a:ext uri="{FF2B5EF4-FFF2-40B4-BE49-F238E27FC236}">
                <a16:creationId xmlns:a16="http://schemas.microsoft.com/office/drawing/2014/main" id="{B5B2FB49-7DD6-4697-B862-80EF61D4E022}"/>
              </a:ext>
            </a:extLst>
          </p:cNvPr>
          <p:cNvSpPr>
            <a:spLocks xmlns:a="http://schemas.openxmlformats.org/drawingml/2006/main" noGrp="1"/>
          </p:cNvSpPr>
          <p:nvPr/>
        </p:nvSpPr>
        <p:spPr>
          <a:xfrm xmlns:a="http://schemas.openxmlformats.org/drawingml/2006/main">
            <a:off x="533400" y="2114550"/>
            <a:ext cx="4381500" cy="3238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connected-bg">
            <a:extLst xmlns:a="http://schemas.openxmlformats.org/drawingml/2006/main">
              <a:ext uri="{FF2B5EF4-FFF2-40B4-BE49-F238E27FC236}">
                <a16:creationId xmlns:a16="http://schemas.microsoft.com/office/drawing/2014/main" id="{61F536D7-2991-4705-B1CB-6464083E1B64}"/>
              </a:ext>
            </a:extLst>
          </p:cNvPr>
          <p:cNvSpPr>
            <a:spLocks xmlns:a="http://schemas.openxmlformats.org/drawingml/2006/main" noGrp="1"/>
          </p:cNvSpPr>
          <p:nvPr/>
        </p:nvSpPr>
        <p:spPr>
          <a:xfrm xmlns:a="http://schemas.openxmlformats.org/drawingml/2006/main">
            <a:off x="7277100" y="2114550"/>
            <a:ext cx="4381500" cy="3238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local-label">
            <a:extLst xmlns:a="http://schemas.openxmlformats.org/drawingml/2006/main">
              <a:ext uri="{FF2B5EF4-FFF2-40B4-BE49-F238E27FC236}">
                <a16:creationId xmlns:a16="http://schemas.microsoft.com/office/drawing/2014/main" id="{964A867E-4596-45AF-84B5-A0391421B824}"/>
              </a:ext>
            </a:extLst>
          </p:cNvPr>
          <p:cNvSpPr>
            <a:spLocks xmlns:a="http://schemas.openxmlformats.org/drawingml/2006/main" noGrp="1"/>
          </p:cNvSpPr>
          <p:nvPr/>
        </p:nvSpPr>
        <p:spPr>
          <a:xfrm xmlns:a="http://schemas.openxmlformats.org/drawingml/2006/main">
            <a:off x="876300" y="245745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5E6670"/>
                </a:solidFill>
                <a:latin typeface="Arial"/>
                <a:ea typeface="Arial"/>
                <a:cs typeface="Arial"/>
              </a:defRPr>
            </a:pPr>
            <a:r>
              <a:rPr sz="1650" b="1">
                <a:solidFill>
                  <a:srgbClr val="5E6670"/>
                </a:solidFill>
                <a:latin typeface="Arial"/>
                <a:ea typeface="Arial"/>
                <a:cs typeface="Arial"/>
              </a:rPr>
              <a:t>LOCAL</a:t>
            </a:r>
          </a:p>
        </p:txBody>
      </p:sp>
      <p:sp>
        <p:nvSpPr>
          <p:cNvPr id="7" name="local-title">
            <a:extLst xmlns:a="http://schemas.openxmlformats.org/drawingml/2006/main">
              <a:ext uri="{FF2B5EF4-FFF2-40B4-BE49-F238E27FC236}">
                <a16:creationId xmlns:a16="http://schemas.microsoft.com/office/drawing/2014/main" id="{42742DDC-0B12-47D1-9BCA-CEE6AB0BC81D}"/>
              </a:ext>
            </a:extLst>
          </p:cNvPr>
          <p:cNvSpPr>
            <a:spLocks xmlns:a="http://schemas.openxmlformats.org/drawingml/2006/main" noGrp="1"/>
          </p:cNvSpPr>
          <p:nvPr/>
        </p:nvSpPr>
        <p:spPr>
          <a:xfrm xmlns:a="http://schemas.openxmlformats.org/drawingml/2006/main">
            <a:off x="876300" y="30099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111111"/>
                </a:solidFill>
                <a:latin typeface="Arial"/>
                <a:ea typeface="Arial"/>
                <a:cs typeface="Arial"/>
              </a:defRPr>
            </a:pPr>
            <a:r>
              <a:rPr sz="2700" b="1">
                <a:solidFill>
                  <a:srgbClr val="111111"/>
                </a:solidFill>
                <a:latin typeface="Arial"/>
                <a:ea typeface="Arial"/>
                <a:cs typeface="Arial"/>
              </a:rPr>
              <a:t>Tasks + links</a:t>
            </a:r>
          </a:p>
        </p:txBody>
      </p:sp>
      <p:sp>
        <p:nvSpPr>
          <p:cNvPr id="8" name="local-body">
            <a:extLst xmlns:a="http://schemas.openxmlformats.org/drawingml/2006/main">
              <a:ext uri="{FF2B5EF4-FFF2-40B4-BE49-F238E27FC236}">
                <a16:creationId xmlns:a16="http://schemas.microsoft.com/office/drawing/2014/main" id="{3F8E4FAE-5274-4125-8115-9ED9B4873EF0}"/>
              </a:ext>
            </a:extLst>
          </p:cNvPr>
          <p:cNvSpPr>
            <a:spLocks xmlns:a="http://schemas.openxmlformats.org/drawingml/2006/main" noGrp="1"/>
          </p:cNvSpPr>
          <p:nvPr/>
        </p:nvSpPr>
        <p:spPr>
          <a:xfrm xmlns:a="http://schemas.openxmlformats.org/drawingml/2006/main">
            <a:off x="876300" y="3810000"/>
            <a:ext cx="3238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Stay on the device</a:t>
            </a:r>
          </a:p>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Work without a network</a:t>
            </a:r>
          </a:p>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Are easy to inspect</a:t>
            </a:r>
          </a:p>
        </p:txBody>
      </p:sp>
      <p:sp>
        <p:nvSpPr>
          <p:cNvPr id="9" name="boundary-arrow">
            <a:extLst xmlns:a="http://schemas.openxmlformats.org/drawingml/2006/main">
              <a:ext uri="{FF2B5EF4-FFF2-40B4-BE49-F238E27FC236}">
                <a16:creationId xmlns:a16="http://schemas.microsoft.com/office/drawing/2014/main" id="{D9198AF4-8457-4BC6-B035-169E7E909130}"/>
              </a:ext>
            </a:extLst>
          </p:cNvPr>
          <p:cNvSpPr>
            <a:spLocks xmlns:a="http://schemas.openxmlformats.org/drawingml/2006/main" noGrp="1"/>
          </p:cNvSpPr>
          <p:nvPr/>
        </p:nvSpPr>
        <p:spPr>
          <a:xfrm xmlns:a="http://schemas.openxmlformats.org/drawingml/2006/main">
            <a:off x="5410200" y="3257550"/>
            <a:ext cx="133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5250">
                <a:solidFill>
                  <a:srgbClr val="3D8DFF"/>
                </a:solidFill>
                <a:latin typeface="Arial"/>
                <a:ea typeface="Arial"/>
                <a:cs typeface="Arial"/>
              </a:defRPr>
            </a:pPr>
            <a:r>
              <a:rPr sz="5250">
                <a:solidFill>
                  <a:srgbClr val="3D8DFF"/>
                </a:solidFill>
                <a:latin typeface="Arial"/>
                <a:ea typeface="Arial"/>
                <a:cs typeface="Arial"/>
              </a:rPr>
              <a:t>→</a:t>
            </a:r>
          </a:p>
        </p:txBody>
      </p:sp>
      <p:sp>
        <p:nvSpPr>
          <p:cNvPr id="10" name="connected-label">
            <a:extLst xmlns:a="http://schemas.openxmlformats.org/drawingml/2006/main">
              <a:ext uri="{FF2B5EF4-FFF2-40B4-BE49-F238E27FC236}">
                <a16:creationId xmlns:a16="http://schemas.microsoft.com/office/drawing/2014/main" id="{E0F1C729-B33B-4DEB-9EB7-A693D5C35B6C}"/>
              </a:ext>
            </a:extLst>
          </p:cNvPr>
          <p:cNvSpPr>
            <a:spLocks xmlns:a="http://schemas.openxmlformats.org/drawingml/2006/main" noGrp="1"/>
          </p:cNvSpPr>
          <p:nvPr/>
        </p:nvSpPr>
        <p:spPr>
          <a:xfrm xmlns:a="http://schemas.openxmlformats.org/drawingml/2006/main">
            <a:off x="7620000" y="24574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CONNECTED</a:t>
            </a:r>
          </a:p>
        </p:txBody>
      </p:sp>
      <p:sp>
        <p:nvSpPr>
          <p:cNvPr id="11" name="connected-title">
            <a:extLst xmlns:a="http://schemas.openxmlformats.org/drawingml/2006/main">
              <a:ext uri="{FF2B5EF4-FFF2-40B4-BE49-F238E27FC236}">
                <a16:creationId xmlns:a16="http://schemas.microsoft.com/office/drawing/2014/main" id="{DA15F508-69B6-4562-9FF0-866D2B0D0319}"/>
              </a:ext>
            </a:extLst>
          </p:cNvPr>
          <p:cNvSpPr>
            <a:spLocks xmlns:a="http://schemas.openxmlformats.org/drawingml/2006/main" noGrp="1"/>
          </p:cNvSpPr>
          <p:nvPr/>
        </p:nvSpPr>
        <p:spPr>
          <a:xfrm xmlns:a="http://schemas.openxmlformats.org/drawingml/2006/main">
            <a:off x="7620000" y="300990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111111"/>
                </a:solidFill>
                <a:latin typeface="Arial"/>
                <a:ea typeface="Arial"/>
                <a:cs typeface="Arial"/>
              </a:defRPr>
            </a:pPr>
            <a:r>
              <a:rPr sz="2700" b="1">
                <a:solidFill>
                  <a:srgbClr val="111111"/>
                </a:solidFill>
                <a:latin typeface="Arial"/>
                <a:ea typeface="Arial"/>
                <a:cs typeface="Arial"/>
              </a:rPr>
              <a:t>Weather</a:t>
            </a:r>
          </a:p>
        </p:txBody>
      </p:sp>
      <p:sp>
        <p:nvSpPr>
          <p:cNvPr id="12" name="connected-body">
            <a:extLst xmlns:a="http://schemas.openxmlformats.org/drawingml/2006/main">
              <a:ext uri="{FF2B5EF4-FFF2-40B4-BE49-F238E27FC236}">
                <a16:creationId xmlns:a16="http://schemas.microsoft.com/office/drawing/2014/main" id="{A7934490-2A8B-4890-9F44-800E4A86F770}"/>
              </a:ext>
            </a:extLst>
          </p:cNvPr>
          <p:cNvSpPr>
            <a:spLocks xmlns:a="http://schemas.openxmlformats.org/drawingml/2006/main" noGrp="1"/>
          </p:cNvSpPr>
          <p:nvPr/>
        </p:nvSpPr>
        <p:spPr>
          <a:xfrm xmlns:a="http://schemas.openxmlformats.org/drawingml/2006/main">
            <a:off x="7620000" y="3810000"/>
            <a:ext cx="3429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Sends a chosen location</a:t>
            </a:r>
          </a:p>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Depends on another service</a:t>
            </a:r>
          </a:p>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Needs a graceful offline state</a:t>
            </a:r>
          </a:p>
        </p:txBody>
      </p:sp>
    </p:spTree>
    <p:extLst>
      <p:ext uri="{BB962C8B-B14F-4D97-AF65-F5344CB8AC3E}">
        <p14:creationId xmlns:p14="http://schemas.microsoft.com/office/powerpoint/2010/main" val="81327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13">
            <a:extLst xmlns:a="http://schemas.openxmlformats.org/drawingml/2006/main">
              <a:ext uri="{FF2B5EF4-FFF2-40B4-BE49-F238E27FC236}">
                <a16:creationId xmlns:a16="http://schemas.microsoft.com/office/drawing/2014/main" id="{23D2A1C4-36ED-494B-9C31-A8EAE5C20BBC}"/>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A QUICK BOUNDARY CHECK</a:t>
            </a:r>
          </a:p>
        </p:txBody>
      </p:sp>
      <p:sp>
        <p:nvSpPr>
          <p:cNvPr id="2" name="title-13">
            <a:extLst xmlns:a="http://schemas.openxmlformats.org/drawingml/2006/main">
              <a:ext uri="{FF2B5EF4-FFF2-40B4-BE49-F238E27FC236}">
                <a16:creationId xmlns:a16="http://schemas.microsoft.com/office/drawing/2014/main" id="{2DD13D86-84CA-4EA9-9927-081D2098A245}"/>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Choose the risk level before you build</a:t>
            </a:r>
          </a:p>
        </p:txBody>
      </p:sp>
      <p:sp>
        <p:nvSpPr>
          <p:cNvPr id="3" name="page-13">
            <a:extLst xmlns:a="http://schemas.openxmlformats.org/drawingml/2006/main">
              <a:ext uri="{FF2B5EF4-FFF2-40B4-BE49-F238E27FC236}">
                <a16:creationId xmlns:a16="http://schemas.microsoft.com/office/drawing/2014/main" id="{72CD203E-8C2D-4906-BE90-66687C1665A7}"/>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5E6670"/>
                </a:solidFill>
                <a:latin typeface="Arial"/>
                <a:ea typeface="Arial"/>
                <a:cs typeface="Arial"/>
              </a:defRPr>
            </a:pPr>
            <a:r>
              <a:rPr sz="1200">
                <a:solidFill>
                  <a:srgbClr val="5E6670"/>
                </a:solidFill>
                <a:latin typeface="Arial"/>
                <a:ea typeface="Arial"/>
                <a:cs typeface="Arial"/>
              </a:rPr>
              <a:t>13</a:t>
            </a:r>
          </a:p>
        </p:txBody>
      </p:sp>
      <p:sp>
        <p:nvSpPr>
          <p:cNvPr id="4" name="risk-bg-0">
            <a:extLst xmlns:a="http://schemas.openxmlformats.org/drawingml/2006/main">
              <a:ext uri="{FF2B5EF4-FFF2-40B4-BE49-F238E27FC236}">
                <a16:creationId xmlns:a16="http://schemas.microsoft.com/office/drawing/2014/main" id="{A46812EF-1116-49F3-81C1-16002707F6A8}"/>
              </a:ext>
            </a:extLst>
          </p:cNvPr>
          <p:cNvSpPr>
            <a:spLocks xmlns:a="http://schemas.openxmlformats.org/drawingml/2006/main" noGrp="1"/>
          </p:cNvSpPr>
          <p:nvPr/>
        </p:nvSpPr>
        <p:spPr>
          <a:xfrm xmlns:a="http://schemas.openxmlformats.org/drawingml/2006/main">
            <a:off x="533400" y="2114550"/>
            <a:ext cx="3333750" cy="348615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5" name="risk-bar-0">
            <a:extLst xmlns:a="http://schemas.openxmlformats.org/drawingml/2006/main">
              <a:ext uri="{FF2B5EF4-FFF2-40B4-BE49-F238E27FC236}">
                <a16:creationId xmlns:a16="http://schemas.microsoft.com/office/drawing/2014/main" id="{0A35786A-CCF7-4506-9635-DB628060BE44}"/>
              </a:ext>
            </a:extLst>
          </p:cNvPr>
          <p:cNvSpPr>
            <a:spLocks xmlns:a="http://schemas.openxmlformats.org/drawingml/2006/main" noGrp="1"/>
          </p:cNvSpPr>
          <p:nvPr/>
        </p:nvSpPr>
        <p:spPr>
          <a:xfrm xmlns:a="http://schemas.openxmlformats.org/drawingml/2006/main">
            <a:off x="533400" y="2114550"/>
            <a:ext cx="3333750" cy="114300"/>
          </a:xfrm>
          <a:prstGeom xmlns:a="http://schemas.openxmlformats.org/drawingml/2006/main" prst="rect">
            <a:avLst/>
          </a:prstGeom>
          <a:solidFill xmlns:a="http://schemas.openxmlformats.org/drawingml/2006/main">
            <a:srgbClr val="2F8F4E"/>
          </a:solidFill>
          <a:ln xmlns:a="http://schemas.openxmlformats.org/drawingml/2006/main" w="0">
            <a:noFill/>
            <a:prstDash val="solid"/>
          </a:ln>
        </p:spPr>
      </p:sp>
      <p:sp>
        <p:nvSpPr>
          <p:cNvPr id="6" name="risk-label-0">
            <a:extLst xmlns:a="http://schemas.openxmlformats.org/drawingml/2006/main">
              <a:ext uri="{FF2B5EF4-FFF2-40B4-BE49-F238E27FC236}">
                <a16:creationId xmlns:a16="http://schemas.microsoft.com/office/drawing/2014/main" id="{D08F5DD7-2188-459B-A24F-3F8813B7EB3E}"/>
              </a:ext>
            </a:extLst>
          </p:cNvPr>
          <p:cNvSpPr>
            <a:spLocks xmlns:a="http://schemas.openxmlformats.org/drawingml/2006/main" noGrp="1"/>
          </p:cNvSpPr>
          <p:nvPr/>
        </p:nvSpPr>
        <p:spPr>
          <a:xfrm xmlns:a="http://schemas.openxmlformats.org/drawingml/2006/main">
            <a:off x="800100" y="2476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F8F4E"/>
                </a:solidFill>
                <a:latin typeface="Arial"/>
                <a:ea typeface="Arial"/>
                <a:cs typeface="Arial"/>
              </a:defRPr>
            </a:pPr>
            <a:r>
              <a:rPr sz="1500" b="1">
                <a:solidFill>
                  <a:srgbClr val="2F8F4E"/>
                </a:solidFill>
                <a:latin typeface="Arial"/>
                <a:ea typeface="Arial"/>
                <a:cs typeface="Arial"/>
              </a:rPr>
              <a:t>GREEN</a:t>
            </a:r>
          </a:p>
        </p:txBody>
      </p:sp>
      <p:sp>
        <p:nvSpPr>
          <p:cNvPr id="7" name="risk-title-0">
            <a:extLst xmlns:a="http://schemas.openxmlformats.org/drawingml/2006/main">
              <a:ext uri="{FF2B5EF4-FFF2-40B4-BE49-F238E27FC236}">
                <a16:creationId xmlns:a16="http://schemas.microsoft.com/office/drawing/2014/main" id="{A6A403D8-FC5F-436C-9428-E213ADE4EB42}"/>
              </a:ext>
            </a:extLst>
          </p:cNvPr>
          <p:cNvSpPr>
            <a:spLocks xmlns:a="http://schemas.openxmlformats.org/drawingml/2006/main" noGrp="1"/>
          </p:cNvSpPr>
          <p:nvPr/>
        </p:nvSpPr>
        <p:spPr>
          <a:xfrm xmlns:a="http://schemas.openxmlformats.org/drawingml/2006/main">
            <a:off x="800100" y="3048000"/>
            <a:ext cx="2800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250" b="1">
                <a:solidFill>
                  <a:srgbClr val="111111"/>
                </a:solidFill>
                <a:latin typeface="Arial"/>
                <a:ea typeface="Arial"/>
                <a:cs typeface="Arial"/>
              </a:defRPr>
            </a:pPr>
            <a:r>
              <a:rPr sz="2250" b="1">
                <a:solidFill>
                  <a:srgbClr val="111111"/>
                </a:solidFill>
                <a:latin typeface="Arial"/>
                <a:ea typeface="Arial"/>
                <a:cs typeface="Arial"/>
              </a:rPr>
              <a:t>Good workshop candidate</a:t>
            </a:r>
          </a:p>
        </p:txBody>
      </p:sp>
      <p:sp>
        <p:nvSpPr>
          <p:cNvPr id="8" name="risk-body-0">
            <a:extLst xmlns:a="http://schemas.openxmlformats.org/drawingml/2006/main">
              <a:ext uri="{FF2B5EF4-FFF2-40B4-BE49-F238E27FC236}">
                <a16:creationId xmlns:a16="http://schemas.microsoft.com/office/drawing/2014/main" id="{49CAF7F5-B594-4AD0-B104-2113A59CBCBD}"/>
              </a:ext>
            </a:extLst>
          </p:cNvPr>
          <p:cNvSpPr>
            <a:spLocks xmlns:a="http://schemas.openxmlformats.org/drawingml/2006/main" noGrp="1"/>
          </p:cNvSpPr>
          <p:nvPr/>
        </p:nvSpPr>
        <p:spPr>
          <a:xfrm xmlns:a="http://schemas.openxmlformats.org/drawingml/2006/main">
            <a:off x="800100" y="4152900"/>
            <a:ext cx="2800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725">
                <a:solidFill>
                  <a:srgbClr val="5E6670"/>
                </a:solidFill>
                <a:latin typeface="Arial"/>
                <a:ea typeface="Arial"/>
                <a:cs typeface="Arial"/>
              </a:defRPr>
            </a:pPr>
            <a:r>
              <a:rPr sz="1725">
                <a:solidFill>
                  <a:srgbClr val="5E6670"/>
                </a:solidFill>
                <a:latin typeface="Arial"/>
                <a:ea typeface="Arial"/>
                <a:cs typeface="Arial"/>
              </a:rPr>
              <a:t>Local · reversible</a:t>
            </a:r>
          </a:p>
          <a:p xmlns:a="http://schemas.openxmlformats.org/drawingml/2006/main">
            <a:pPr algn="l">
              <a:lnSpc>
                <a:spcPct val="124000"/>
              </a:lnSpc>
              <a:buNone/>
              <a:defRPr sz="1725">
                <a:solidFill>
                  <a:srgbClr val="5E6670"/>
                </a:solidFill>
                <a:latin typeface="Arial"/>
                <a:ea typeface="Arial"/>
                <a:cs typeface="Arial"/>
              </a:defRPr>
            </a:pPr>
            <a:r>
              <a:rPr sz="1725">
                <a:solidFill>
                  <a:srgbClr val="5E6670"/>
                </a:solidFill>
                <a:latin typeface="Arial"/>
                <a:ea typeface="Arial"/>
                <a:cs typeface="Arial"/>
              </a:rPr>
              <a:t>Easy to inspect</a:t>
            </a:r>
          </a:p>
          <a:p xmlns:a="http://schemas.openxmlformats.org/drawingml/2006/main">
            <a:pPr algn="l">
              <a:lnSpc>
                <a:spcPct val="124000"/>
              </a:lnSpc>
              <a:buNone/>
              <a:defRPr sz="1725">
                <a:solidFill>
                  <a:srgbClr val="5E6670"/>
                </a:solidFill>
                <a:latin typeface="Arial"/>
                <a:ea typeface="Arial"/>
                <a:cs typeface="Arial"/>
              </a:defRPr>
            </a:pPr>
            <a:r>
              <a:rPr sz="1725">
                <a:solidFill>
                  <a:srgbClr val="5E6670"/>
                </a:solidFill>
                <a:latin typeface="Arial"/>
                <a:ea typeface="Arial"/>
                <a:cs typeface="Arial"/>
              </a:rPr>
              <a:t>Failure is merely annoying</a:t>
            </a:r>
          </a:p>
        </p:txBody>
      </p:sp>
      <p:sp>
        <p:nvSpPr>
          <p:cNvPr id="9" name="risk-bg-1">
            <a:extLst xmlns:a="http://schemas.openxmlformats.org/drawingml/2006/main">
              <a:ext uri="{FF2B5EF4-FFF2-40B4-BE49-F238E27FC236}">
                <a16:creationId xmlns:a16="http://schemas.microsoft.com/office/drawing/2014/main" id="{2B73689C-5CAB-4D03-9243-1CF04FC4B117}"/>
              </a:ext>
            </a:extLst>
          </p:cNvPr>
          <p:cNvSpPr>
            <a:spLocks xmlns:a="http://schemas.openxmlformats.org/drawingml/2006/main" noGrp="1"/>
          </p:cNvSpPr>
          <p:nvPr/>
        </p:nvSpPr>
        <p:spPr>
          <a:xfrm xmlns:a="http://schemas.openxmlformats.org/drawingml/2006/main">
            <a:off x="4429125" y="2114550"/>
            <a:ext cx="3333750" cy="3486150"/>
          </a:xfrm>
          <a:prstGeom xmlns:a="http://schemas.openxmlformats.org/drawingml/2006/main" prst="rect">
            <a:avLst/>
          </a:prstGeom>
          <a:solidFill xmlns:a="http://schemas.openxmlformats.org/drawingml/2006/main">
            <a:srgbClr val="FFF3D8"/>
          </a:solidFill>
          <a:ln xmlns:a="http://schemas.openxmlformats.org/drawingml/2006/main" w="0">
            <a:noFill/>
            <a:prstDash val="solid"/>
          </a:ln>
        </p:spPr>
      </p:sp>
      <p:sp>
        <p:nvSpPr>
          <p:cNvPr id="10" name="risk-bar-1">
            <a:extLst xmlns:a="http://schemas.openxmlformats.org/drawingml/2006/main">
              <a:ext uri="{FF2B5EF4-FFF2-40B4-BE49-F238E27FC236}">
                <a16:creationId xmlns:a16="http://schemas.microsoft.com/office/drawing/2014/main" id="{885650A2-6284-4954-B214-7928E3D8A1B4}"/>
              </a:ext>
            </a:extLst>
          </p:cNvPr>
          <p:cNvSpPr>
            <a:spLocks xmlns:a="http://schemas.openxmlformats.org/drawingml/2006/main" noGrp="1"/>
          </p:cNvSpPr>
          <p:nvPr/>
        </p:nvSpPr>
        <p:spPr>
          <a:xfrm xmlns:a="http://schemas.openxmlformats.org/drawingml/2006/main">
            <a:off x="4429125" y="2114550"/>
            <a:ext cx="3333750" cy="114300"/>
          </a:xfrm>
          <a:prstGeom xmlns:a="http://schemas.openxmlformats.org/drawingml/2006/main" prst="rect">
            <a:avLst/>
          </a:prstGeom>
          <a:solidFill xmlns:a="http://schemas.openxmlformats.org/drawingml/2006/main">
            <a:srgbClr val="C98508"/>
          </a:solidFill>
          <a:ln xmlns:a="http://schemas.openxmlformats.org/drawingml/2006/main" w="0">
            <a:noFill/>
            <a:prstDash val="solid"/>
          </a:ln>
        </p:spPr>
      </p:sp>
      <p:sp>
        <p:nvSpPr>
          <p:cNvPr id="11" name="risk-label-1">
            <a:extLst xmlns:a="http://schemas.openxmlformats.org/drawingml/2006/main">
              <a:ext uri="{FF2B5EF4-FFF2-40B4-BE49-F238E27FC236}">
                <a16:creationId xmlns:a16="http://schemas.microsoft.com/office/drawing/2014/main" id="{890A2ABA-4067-4D98-A078-D020478B4A25}"/>
              </a:ext>
            </a:extLst>
          </p:cNvPr>
          <p:cNvSpPr>
            <a:spLocks xmlns:a="http://schemas.openxmlformats.org/drawingml/2006/main" noGrp="1"/>
          </p:cNvSpPr>
          <p:nvPr/>
        </p:nvSpPr>
        <p:spPr>
          <a:xfrm xmlns:a="http://schemas.openxmlformats.org/drawingml/2006/main">
            <a:off x="4695825" y="2476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C98508"/>
                </a:solidFill>
                <a:latin typeface="Arial"/>
                <a:ea typeface="Arial"/>
                <a:cs typeface="Arial"/>
              </a:defRPr>
            </a:pPr>
            <a:r>
              <a:rPr sz="1500" b="1">
                <a:solidFill>
                  <a:srgbClr val="C98508"/>
                </a:solidFill>
                <a:latin typeface="Arial"/>
                <a:ea typeface="Arial"/>
                <a:cs typeface="Arial"/>
              </a:rPr>
              <a:t>AMBER</a:t>
            </a:r>
          </a:p>
        </p:txBody>
      </p:sp>
      <p:sp>
        <p:nvSpPr>
          <p:cNvPr id="12" name="risk-title-1">
            <a:extLst xmlns:a="http://schemas.openxmlformats.org/drawingml/2006/main">
              <a:ext uri="{FF2B5EF4-FFF2-40B4-BE49-F238E27FC236}">
                <a16:creationId xmlns:a16="http://schemas.microsoft.com/office/drawing/2014/main" id="{3E899BDE-61AA-47D1-8795-0AD92CA50251}"/>
              </a:ext>
            </a:extLst>
          </p:cNvPr>
          <p:cNvSpPr>
            <a:spLocks xmlns:a="http://schemas.openxmlformats.org/drawingml/2006/main" noGrp="1"/>
          </p:cNvSpPr>
          <p:nvPr/>
        </p:nvSpPr>
        <p:spPr>
          <a:xfrm xmlns:a="http://schemas.openxmlformats.org/drawingml/2006/main">
            <a:off x="4695825" y="3048000"/>
            <a:ext cx="2800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250" b="1">
                <a:solidFill>
                  <a:srgbClr val="111111"/>
                </a:solidFill>
                <a:latin typeface="Arial"/>
                <a:ea typeface="Arial"/>
                <a:cs typeface="Arial"/>
              </a:defRPr>
            </a:pPr>
            <a:r>
              <a:rPr sz="2250" b="1">
                <a:solidFill>
                  <a:srgbClr val="111111"/>
                </a:solidFill>
                <a:latin typeface="Arial"/>
                <a:ea typeface="Arial"/>
                <a:cs typeface="Arial"/>
              </a:rPr>
              <a:t>Slow down</a:t>
            </a:r>
          </a:p>
        </p:txBody>
      </p:sp>
      <p:sp>
        <p:nvSpPr>
          <p:cNvPr id="13" name="risk-body-1">
            <a:extLst xmlns:a="http://schemas.openxmlformats.org/drawingml/2006/main">
              <a:ext uri="{FF2B5EF4-FFF2-40B4-BE49-F238E27FC236}">
                <a16:creationId xmlns:a16="http://schemas.microsoft.com/office/drawing/2014/main" id="{056DE12C-B73A-4258-BBBB-2ED498A6B5AF}"/>
              </a:ext>
            </a:extLst>
          </p:cNvPr>
          <p:cNvSpPr>
            <a:spLocks xmlns:a="http://schemas.openxmlformats.org/drawingml/2006/main" noGrp="1"/>
          </p:cNvSpPr>
          <p:nvPr/>
        </p:nvSpPr>
        <p:spPr>
          <a:xfrm xmlns:a="http://schemas.openxmlformats.org/drawingml/2006/main">
            <a:off x="4695825" y="4152900"/>
            <a:ext cx="2800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725">
                <a:solidFill>
                  <a:srgbClr val="5E6670"/>
                </a:solidFill>
                <a:latin typeface="Arial"/>
                <a:ea typeface="Arial"/>
                <a:cs typeface="Arial"/>
              </a:defRPr>
            </a:pPr>
            <a:r>
              <a:rPr sz="1725">
                <a:solidFill>
                  <a:srgbClr val="5E6670"/>
                </a:solidFill>
                <a:latin typeface="Arial"/>
                <a:ea typeface="Arial"/>
                <a:cs typeface="Arial"/>
              </a:rPr>
              <a:t>Private information · APIs</a:t>
            </a:r>
          </a:p>
          <a:p xmlns:a="http://schemas.openxmlformats.org/drawingml/2006/main">
            <a:pPr algn="l">
              <a:lnSpc>
                <a:spcPct val="124000"/>
              </a:lnSpc>
              <a:buNone/>
              <a:defRPr sz="1725">
                <a:solidFill>
                  <a:srgbClr val="5E6670"/>
                </a:solidFill>
                <a:latin typeface="Arial"/>
                <a:ea typeface="Arial"/>
                <a:cs typeface="Arial"/>
              </a:defRPr>
            </a:pPr>
            <a:r>
              <a:rPr sz="1725">
                <a:solidFill>
                  <a:srgbClr val="5E6670"/>
                </a:solidFill>
                <a:latin typeface="Arial"/>
                <a:ea typeface="Arial"/>
                <a:cs typeface="Arial"/>
              </a:rPr>
              <a:t>Broad permissions</a:t>
            </a:r>
          </a:p>
          <a:p xmlns:a="http://schemas.openxmlformats.org/drawingml/2006/main">
            <a:pPr algn="l">
              <a:lnSpc>
                <a:spcPct val="124000"/>
              </a:lnSpc>
              <a:buNone/>
              <a:defRPr sz="1725">
                <a:solidFill>
                  <a:srgbClr val="5E6670"/>
                </a:solidFill>
                <a:latin typeface="Arial"/>
                <a:ea typeface="Arial"/>
                <a:cs typeface="Arial"/>
              </a:defRPr>
            </a:pPr>
            <a:r>
              <a:rPr sz="1725">
                <a:solidFill>
                  <a:srgbClr val="5E6670"/>
                </a:solidFill>
                <a:latin typeface="Arial"/>
                <a:ea typeface="Arial"/>
                <a:cs typeface="Arial"/>
              </a:rPr>
              <a:t>Errors that are hard to notice</a:t>
            </a:r>
          </a:p>
        </p:txBody>
      </p:sp>
      <p:sp>
        <p:nvSpPr>
          <p:cNvPr id="14" name="risk-bg-2">
            <a:extLst xmlns:a="http://schemas.openxmlformats.org/drawingml/2006/main">
              <a:ext uri="{FF2B5EF4-FFF2-40B4-BE49-F238E27FC236}">
                <a16:creationId xmlns:a16="http://schemas.microsoft.com/office/drawing/2014/main" id="{B02ADEBD-70C1-45BA-AAF3-17A212CD29C6}"/>
              </a:ext>
            </a:extLst>
          </p:cNvPr>
          <p:cNvSpPr>
            <a:spLocks xmlns:a="http://schemas.openxmlformats.org/drawingml/2006/main" noGrp="1"/>
          </p:cNvSpPr>
          <p:nvPr/>
        </p:nvSpPr>
        <p:spPr>
          <a:xfrm xmlns:a="http://schemas.openxmlformats.org/drawingml/2006/main">
            <a:off x="8324850" y="2114550"/>
            <a:ext cx="3333750" cy="3486150"/>
          </a:xfrm>
          <a:prstGeom xmlns:a="http://schemas.openxmlformats.org/drawingml/2006/main" prst="rect">
            <a:avLst/>
          </a:prstGeom>
          <a:solidFill xmlns:a="http://schemas.openxmlformats.org/drawingml/2006/main">
            <a:srgbClr val="FBE9E9"/>
          </a:solidFill>
          <a:ln xmlns:a="http://schemas.openxmlformats.org/drawingml/2006/main" w="0">
            <a:noFill/>
            <a:prstDash val="solid"/>
          </a:ln>
        </p:spPr>
      </p:sp>
      <p:sp>
        <p:nvSpPr>
          <p:cNvPr id="15" name="risk-bar-2">
            <a:extLst xmlns:a="http://schemas.openxmlformats.org/drawingml/2006/main">
              <a:ext uri="{FF2B5EF4-FFF2-40B4-BE49-F238E27FC236}">
                <a16:creationId xmlns:a16="http://schemas.microsoft.com/office/drawing/2014/main" id="{41E77E88-BEE3-47D0-A879-351D36D8C2E1}"/>
              </a:ext>
            </a:extLst>
          </p:cNvPr>
          <p:cNvSpPr>
            <a:spLocks xmlns:a="http://schemas.openxmlformats.org/drawingml/2006/main" noGrp="1"/>
          </p:cNvSpPr>
          <p:nvPr/>
        </p:nvSpPr>
        <p:spPr>
          <a:xfrm xmlns:a="http://schemas.openxmlformats.org/drawingml/2006/main">
            <a:off x="8324850" y="2114550"/>
            <a:ext cx="3333750" cy="114300"/>
          </a:xfrm>
          <a:prstGeom xmlns:a="http://schemas.openxmlformats.org/drawingml/2006/main" prst="rect">
            <a:avLst/>
          </a:prstGeom>
          <a:solidFill xmlns:a="http://schemas.openxmlformats.org/drawingml/2006/main">
            <a:srgbClr val="C94646"/>
          </a:solidFill>
          <a:ln xmlns:a="http://schemas.openxmlformats.org/drawingml/2006/main" w="0">
            <a:noFill/>
            <a:prstDash val="solid"/>
          </a:ln>
        </p:spPr>
      </p:sp>
      <p:sp>
        <p:nvSpPr>
          <p:cNvPr id="16" name="risk-label-2">
            <a:extLst xmlns:a="http://schemas.openxmlformats.org/drawingml/2006/main">
              <a:ext uri="{FF2B5EF4-FFF2-40B4-BE49-F238E27FC236}">
                <a16:creationId xmlns:a16="http://schemas.microsoft.com/office/drawing/2014/main" id="{C02CE831-8B27-40A0-8B07-BA8C3C865041}"/>
              </a:ext>
            </a:extLst>
          </p:cNvPr>
          <p:cNvSpPr>
            <a:spLocks xmlns:a="http://schemas.openxmlformats.org/drawingml/2006/main" noGrp="1"/>
          </p:cNvSpPr>
          <p:nvPr/>
        </p:nvSpPr>
        <p:spPr>
          <a:xfrm xmlns:a="http://schemas.openxmlformats.org/drawingml/2006/main">
            <a:off x="8591550" y="2476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C94646"/>
                </a:solidFill>
                <a:latin typeface="Arial"/>
                <a:ea typeface="Arial"/>
                <a:cs typeface="Arial"/>
              </a:defRPr>
            </a:pPr>
            <a:r>
              <a:rPr sz="1500" b="1">
                <a:solidFill>
                  <a:srgbClr val="C94646"/>
                </a:solidFill>
                <a:latin typeface="Arial"/>
                <a:ea typeface="Arial"/>
                <a:cs typeface="Arial"/>
              </a:rPr>
              <a:t>RED</a:t>
            </a:r>
          </a:p>
        </p:txBody>
      </p:sp>
      <p:sp>
        <p:nvSpPr>
          <p:cNvPr id="17" name="risk-title-2">
            <a:extLst xmlns:a="http://schemas.openxmlformats.org/drawingml/2006/main">
              <a:ext uri="{FF2B5EF4-FFF2-40B4-BE49-F238E27FC236}">
                <a16:creationId xmlns:a16="http://schemas.microsoft.com/office/drawing/2014/main" id="{DD93B2E2-1548-4F3E-89E7-DF2E9E839833}"/>
              </a:ext>
            </a:extLst>
          </p:cNvPr>
          <p:cNvSpPr>
            <a:spLocks xmlns:a="http://schemas.openxmlformats.org/drawingml/2006/main" noGrp="1"/>
          </p:cNvSpPr>
          <p:nvPr/>
        </p:nvSpPr>
        <p:spPr>
          <a:xfrm xmlns:a="http://schemas.openxmlformats.org/drawingml/2006/main">
            <a:off x="8591550" y="3048000"/>
            <a:ext cx="2800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250" b="1">
                <a:solidFill>
                  <a:srgbClr val="111111"/>
                </a:solidFill>
                <a:latin typeface="Arial"/>
                <a:ea typeface="Arial"/>
                <a:cs typeface="Arial"/>
              </a:defRPr>
            </a:pPr>
            <a:r>
              <a:rPr sz="2250" b="1">
                <a:solidFill>
                  <a:srgbClr val="111111"/>
                </a:solidFill>
                <a:latin typeface="Arial"/>
                <a:ea typeface="Arial"/>
                <a:cs typeface="Arial"/>
              </a:rPr>
              <a:t>Not a quick prototype</a:t>
            </a:r>
          </a:p>
        </p:txBody>
      </p:sp>
      <p:sp>
        <p:nvSpPr>
          <p:cNvPr id="18" name="risk-body-2">
            <a:extLst xmlns:a="http://schemas.openxmlformats.org/drawingml/2006/main">
              <a:ext uri="{FF2B5EF4-FFF2-40B4-BE49-F238E27FC236}">
                <a16:creationId xmlns:a16="http://schemas.microsoft.com/office/drawing/2014/main" id="{29A51483-6359-42BA-B16B-7D305748E603}"/>
              </a:ext>
            </a:extLst>
          </p:cNvPr>
          <p:cNvSpPr>
            <a:spLocks xmlns:a="http://schemas.openxmlformats.org/drawingml/2006/main" noGrp="1"/>
          </p:cNvSpPr>
          <p:nvPr/>
        </p:nvSpPr>
        <p:spPr>
          <a:xfrm xmlns:a="http://schemas.openxmlformats.org/drawingml/2006/main">
            <a:off x="8591550" y="4152900"/>
            <a:ext cx="2800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24"/>
          </a:bodyPr>
          <a:lstStyle xmlns:a="http://schemas.openxmlformats.org/drawingml/2006/main"/>
          <a:p xmlns:a="http://schemas.openxmlformats.org/drawingml/2006/main">
            <a:pPr algn="l">
              <a:lnSpc>
                <a:spcPct val="124000"/>
              </a:lnSpc>
              <a:buNone/>
              <a:defRPr sz="1725">
                <a:solidFill>
                  <a:srgbClr val="5E6670"/>
                </a:solidFill>
                <a:latin typeface="Arial"/>
                <a:ea typeface="Arial"/>
                <a:cs typeface="Arial"/>
              </a:defRPr>
            </a:pPr>
            <a:r>
              <a:rPr sz="1725">
                <a:solidFill>
                  <a:srgbClr val="5E6670"/>
                </a:solidFill>
                <a:latin typeface="Arial"/>
                <a:ea typeface="Arial"/>
                <a:cs typeface="Arial"/>
              </a:rPr>
              <a:t>Secrets · high stakes</a:t>
            </a:r>
          </a:p>
          <a:p xmlns:a="http://schemas.openxmlformats.org/drawingml/2006/main">
            <a:pPr algn="l">
              <a:lnSpc>
                <a:spcPct val="124000"/>
              </a:lnSpc>
              <a:buNone/>
              <a:defRPr sz="1725">
                <a:solidFill>
                  <a:srgbClr val="5E6670"/>
                </a:solidFill>
                <a:latin typeface="Arial"/>
                <a:ea typeface="Arial"/>
                <a:cs typeface="Arial"/>
              </a:defRPr>
            </a:pPr>
            <a:r>
              <a:rPr sz="1725">
                <a:solidFill>
                  <a:srgbClr val="5E6670"/>
                </a:solidFill>
                <a:latin typeface="Arial"/>
                <a:ea typeface="Arial"/>
                <a:cs typeface="Arial"/>
              </a:rPr>
              <a:t>Automatic send/delete/pay</a:t>
            </a:r>
          </a:p>
          <a:p xmlns:a="http://schemas.openxmlformats.org/drawingml/2006/main">
            <a:pPr algn="l">
              <a:lnSpc>
                <a:spcPct val="124000"/>
              </a:lnSpc>
              <a:buNone/>
              <a:defRPr sz="1725">
                <a:solidFill>
                  <a:srgbClr val="5E6670"/>
                </a:solidFill>
                <a:latin typeface="Arial"/>
                <a:ea typeface="Arial"/>
                <a:cs typeface="Arial"/>
              </a:defRPr>
            </a:pPr>
            <a:r>
              <a:rPr sz="1725">
                <a:solidFill>
                  <a:srgbClr val="5E6670"/>
                </a:solidFill>
                <a:latin typeface="Arial"/>
                <a:ea typeface="Arial"/>
                <a:cs typeface="Arial"/>
              </a:rPr>
              <a:t>Others affected without review</a:t>
            </a:r>
          </a:p>
        </p:txBody>
      </p:sp>
    </p:spTree>
    <p:extLst>
      <p:ext uri="{BB962C8B-B14F-4D97-AF65-F5344CB8AC3E}">
        <p14:creationId xmlns:p14="http://schemas.microsoft.com/office/powerpoint/2010/main" val="108390651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lose-kicker">
            <a:extLst xmlns:a="http://schemas.openxmlformats.org/drawingml/2006/main">
              <a:ext uri="{FF2B5EF4-FFF2-40B4-BE49-F238E27FC236}">
                <a16:creationId xmlns:a16="http://schemas.microsoft.com/office/drawing/2014/main" id="{0BB7F412-4028-41DF-8441-6656424DA38D}"/>
              </a:ext>
            </a:extLst>
          </p:cNvPr>
          <p:cNvSpPr>
            <a:spLocks xmlns:a="http://schemas.openxmlformats.org/drawingml/2006/main" noGrp="1"/>
          </p:cNvSpPr>
          <p:nvPr/>
        </p:nvSpPr>
        <p:spPr>
          <a:xfrm xmlns:a="http://schemas.openxmlformats.org/drawingml/2006/main">
            <a:off x="533400" y="457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YOUR NEXT 15 MINUTES</a:t>
            </a:r>
          </a:p>
        </p:txBody>
      </p:sp>
      <p:sp>
        <p:nvSpPr>
          <p:cNvPr id="2" name="close-title">
            <a:extLst xmlns:a="http://schemas.openxmlformats.org/drawingml/2006/main">
              <a:ext uri="{FF2B5EF4-FFF2-40B4-BE49-F238E27FC236}">
                <a16:creationId xmlns:a16="http://schemas.microsoft.com/office/drawing/2014/main" id="{2F052C1F-F288-47ED-A00B-9DED1A453BD0}"/>
              </a:ext>
            </a:extLst>
          </p:cNvPr>
          <p:cNvSpPr>
            <a:spLocks xmlns:a="http://schemas.openxmlformats.org/drawingml/2006/main" noGrp="1"/>
          </p:cNvSpPr>
          <p:nvPr/>
        </p:nvSpPr>
        <p:spPr>
          <a:xfrm xmlns:a="http://schemas.openxmlformats.org/drawingml/2006/main">
            <a:off x="533400" y="1238250"/>
            <a:ext cx="1000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4650" b="1">
                <a:solidFill>
                  <a:srgbClr val="111111"/>
                </a:solidFill>
                <a:latin typeface="Arial"/>
                <a:ea typeface="Arial"/>
                <a:cs typeface="Arial"/>
              </a:defRPr>
            </a:pPr>
            <a:r>
              <a:rPr sz="4650" b="1">
                <a:solidFill>
                  <a:srgbClr val="111111"/>
                </a:solidFill>
                <a:latin typeface="Arial"/>
                <a:ea typeface="Arial"/>
                <a:cs typeface="Arial"/>
              </a:rPr>
              <a:t>Change one small system around you</a:t>
            </a:r>
          </a:p>
        </p:txBody>
      </p:sp>
      <p:sp>
        <p:nvSpPr>
          <p:cNvPr id="3" name="close-check-0">
            <a:extLst xmlns:a="http://schemas.openxmlformats.org/drawingml/2006/main">
              <a:ext uri="{FF2B5EF4-FFF2-40B4-BE49-F238E27FC236}">
                <a16:creationId xmlns:a16="http://schemas.microsoft.com/office/drawing/2014/main" id="{35C55557-C93C-49E1-807E-9EFF5A73DB34}"/>
              </a:ext>
            </a:extLst>
          </p:cNvPr>
          <p:cNvSpPr>
            <a:spLocks xmlns:a="http://schemas.openxmlformats.org/drawingml/2006/main" noGrp="1"/>
          </p:cNvSpPr>
          <p:nvPr/>
        </p:nvSpPr>
        <p:spPr>
          <a:xfrm xmlns:a="http://schemas.openxmlformats.org/drawingml/2006/main">
            <a:off x="628650" y="2819400"/>
            <a:ext cx="247650" cy="247650"/>
          </a:xfrm>
          <a:prstGeom xmlns:a="http://schemas.openxmlformats.org/drawingml/2006/main" prst="rect">
            <a:avLst/>
          </a:prstGeom>
          <a:solidFill xmlns:a="http://schemas.openxmlformats.org/drawingml/2006/main">
            <a:srgbClr val="6DCBF4"/>
          </a:solidFill>
          <a:ln xmlns:a="http://schemas.openxmlformats.org/drawingml/2006/main" w="9525">
            <a:solidFill>
              <a:srgbClr val="B8BCC4"/>
            </a:solidFill>
            <a:prstDash val="solid"/>
          </a:ln>
        </p:spPr>
      </p:sp>
      <p:sp>
        <p:nvSpPr>
          <p:cNvPr id="4" name="close-action-0">
            <a:extLst xmlns:a="http://schemas.openxmlformats.org/drawingml/2006/main">
              <a:ext uri="{FF2B5EF4-FFF2-40B4-BE49-F238E27FC236}">
                <a16:creationId xmlns:a16="http://schemas.microsoft.com/office/drawing/2014/main" id="{E8FF662E-92C6-45C3-BD28-E5661716F7B2}"/>
              </a:ext>
            </a:extLst>
          </p:cNvPr>
          <p:cNvSpPr>
            <a:spLocks xmlns:a="http://schemas.openxmlformats.org/drawingml/2006/main" noGrp="1"/>
          </p:cNvSpPr>
          <p:nvPr/>
        </p:nvSpPr>
        <p:spPr>
          <a:xfrm xmlns:a="http://schemas.openxmlformats.org/drawingml/2006/main">
            <a:off x="1123950" y="27813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a:solidFill>
                  <a:srgbClr val="111111"/>
                </a:solidFill>
                <a:latin typeface="Arial"/>
                <a:ea typeface="Arial"/>
                <a:cs typeface="Arial"/>
              </a:defRPr>
            </a:pPr>
            <a:r>
              <a:rPr sz="2100">
                <a:solidFill>
                  <a:srgbClr val="111111"/>
                </a:solidFill>
                <a:latin typeface="Arial"/>
                <a:ea typeface="Arial"/>
                <a:cs typeface="Arial"/>
              </a:rPr>
              <a:t>Remove one feature</a:t>
            </a:r>
          </a:p>
        </p:txBody>
      </p:sp>
      <p:sp>
        <p:nvSpPr>
          <p:cNvPr id="5" name="close-check-1">
            <a:extLst xmlns:a="http://schemas.openxmlformats.org/drawingml/2006/main">
              <a:ext uri="{FF2B5EF4-FFF2-40B4-BE49-F238E27FC236}">
                <a16:creationId xmlns:a16="http://schemas.microsoft.com/office/drawing/2014/main" id="{E7CD69C2-F867-4C71-8E81-BBF048E37C8D}"/>
              </a:ext>
            </a:extLst>
          </p:cNvPr>
          <p:cNvSpPr>
            <a:spLocks xmlns:a="http://schemas.openxmlformats.org/drawingml/2006/main" noGrp="1"/>
          </p:cNvSpPr>
          <p:nvPr/>
        </p:nvSpPr>
        <p:spPr>
          <a:xfrm xmlns:a="http://schemas.openxmlformats.org/drawingml/2006/main">
            <a:off x="628650" y="3409950"/>
            <a:ext cx="247650" cy="2476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6" name="close-action-1">
            <a:extLst xmlns:a="http://schemas.openxmlformats.org/drawingml/2006/main">
              <a:ext uri="{FF2B5EF4-FFF2-40B4-BE49-F238E27FC236}">
                <a16:creationId xmlns:a16="http://schemas.microsoft.com/office/drawing/2014/main" id="{8C043583-1DAB-4023-B167-1451029A8856}"/>
              </a:ext>
            </a:extLst>
          </p:cNvPr>
          <p:cNvSpPr>
            <a:spLocks xmlns:a="http://schemas.openxmlformats.org/drawingml/2006/main" noGrp="1"/>
          </p:cNvSpPr>
          <p:nvPr/>
        </p:nvSpPr>
        <p:spPr>
          <a:xfrm xmlns:a="http://schemas.openxmlformats.org/drawingml/2006/main">
            <a:off x="1123950" y="33718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a:solidFill>
                  <a:srgbClr val="111111"/>
                </a:solidFill>
                <a:latin typeface="Arial"/>
                <a:ea typeface="Arial"/>
                <a:cs typeface="Arial"/>
              </a:defRPr>
            </a:pPr>
            <a:r>
              <a:rPr sz="2100">
                <a:solidFill>
                  <a:srgbClr val="111111"/>
                </a:solidFill>
                <a:latin typeface="Arial"/>
                <a:ea typeface="Arial"/>
                <a:cs typeface="Arial"/>
              </a:rPr>
              <a:t>Challenge the brief</a:t>
            </a:r>
          </a:p>
        </p:txBody>
      </p:sp>
      <p:sp>
        <p:nvSpPr>
          <p:cNvPr id="7" name="close-check-2">
            <a:extLst xmlns:a="http://schemas.openxmlformats.org/drawingml/2006/main">
              <a:ext uri="{FF2B5EF4-FFF2-40B4-BE49-F238E27FC236}">
                <a16:creationId xmlns:a16="http://schemas.microsoft.com/office/drawing/2014/main" id="{A3557C8C-0F7D-44FA-A35E-94F21CD87B17}"/>
              </a:ext>
            </a:extLst>
          </p:cNvPr>
          <p:cNvSpPr>
            <a:spLocks xmlns:a="http://schemas.openxmlformats.org/drawingml/2006/main" noGrp="1"/>
          </p:cNvSpPr>
          <p:nvPr/>
        </p:nvSpPr>
        <p:spPr>
          <a:xfrm xmlns:a="http://schemas.openxmlformats.org/drawingml/2006/main">
            <a:off x="628650" y="4000500"/>
            <a:ext cx="247650" cy="2476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8" name="close-action-2">
            <a:extLst xmlns:a="http://schemas.openxmlformats.org/drawingml/2006/main">
              <a:ext uri="{FF2B5EF4-FFF2-40B4-BE49-F238E27FC236}">
                <a16:creationId xmlns:a16="http://schemas.microsoft.com/office/drawing/2014/main" id="{3244F7ED-3269-41B5-BBF8-9F342E6C83B7}"/>
              </a:ext>
            </a:extLst>
          </p:cNvPr>
          <p:cNvSpPr>
            <a:spLocks xmlns:a="http://schemas.openxmlformats.org/drawingml/2006/main" noGrp="1"/>
          </p:cNvSpPr>
          <p:nvPr/>
        </p:nvSpPr>
        <p:spPr>
          <a:xfrm xmlns:a="http://schemas.openxmlformats.org/drawingml/2006/main">
            <a:off x="1123950" y="39624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a:solidFill>
                  <a:srgbClr val="111111"/>
                </a:solidFill>
                <a:latin typeface="Arial"/>
                <a:ea typeface="Arial"/>
                <a:cs typeface="Arial"/>
              </a:defRPr>
            </a:pPr>
            <a:r>
              <a:rPr sz="2100">
                <a:solidFill>
                  <a:srgbClr val="111111"/>
                </a:solidFill>
                <a:latin typeface="Arial"/>
                <a:ea typeface="Arial"/>
                <a:cs typeface="Arial"/>
              </a:rPr>
              <a:t>Try one example</a:t>
            </a:r>
          </a:p>
        </p:txBody>
      </p:sp>
      <p:sp>
        <p:nvSpPr>
          <p:cNvPr id="9" name="close-check-3">
            <a:extLst xmlns:a="http://schemas.openxmlformats.org/drawingml/2006/main">
              <a:ext uri="{FF2B5EF4-FFF2-40B4-BE49-F238E27FC236}">
                <a16:creationId xmlns:a16="http://schemas.microsoft.com/office/drawing/2014/main" id="{70F3D2DF-A0EC-4A46-B31A-3DE5912014C9}"/>
              </a:ext>
            </a:extLst>
          </p:cNvPr>
          <p:cNvSpPr>
            <a:spLocks xmlns:a="http://schemas.openxmlformats.org/drawingml/2006/main" noGrp="1"/>
          </p:cNvSpPr>
          <p:nvPr/>
        </p:nvSpPr>
        <p:spPr>
          <a:xfrm xmlns:a="http://schemas.openxmlformats.org/drawingml/2006/main">
            <a:off x="628650" y="4591050"/>
            <a:ext cx="247650" cy="2476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close-action-3">
            <a:extLst xmlns:a="http://schemas.openxmlformats.org/drawingml/2006/main">
              <a:ext uri="{FF2B5EF4-FFF2-40B4-BE49-F238E27FC236}">
                <a16:creationId xmlns:a16="http://schemas.microsoft.com/office/drawing/2014/main" id="{42402610-B6E7-4FED-83D9-D70DD1A7E636}"/>
              </a:ext>
            </a:extLst>
          </p:cNvPr>
          <p:cNvSpPr>
            <a:spLocks xmlns:a="http://schemas.openxmlformats.org/drawingml/2006/main" noGrp="1"/>
          </p:cNvSpPr>
          <p:nvPr/>
        </p:nvSpPr>
        <p:spPr>
          <a:xfrm xmlns:a="http://schemas.openxmlformats.org/drawingml/2006/main">
            <a:off x="1123950" y="45529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a:solidFill>
                  <a:srgbClr val="111111"/>
                </a:solidFill>
                <a:latin typeface="Arial"/>
                <a:ea typeface="Arial"/>
                <a:cs typeface="Arial"/>
              </a:defRPr>
            </a:pPr>
            <a:r>
              <a:rPr sz="2100">
                <a:solidFill>
                  <a:srgbClr val="111111"/>
                </a:solidFill>
                <a:latin typeface="Arial"/>
                <a:ea typeface="Arial"/>
                <a:cs typeface="Arial"/>
              </a:rPr>
              <a:t>Investigate one boundary</a:t>
            </a:r>
          </a:p>
        </p:txBody>
      </p:sp>
      <p:sp>
        <p:nvSpPr>
          <p:cNvPr id="11" name="close-quote-bg">
            <a:extLst xmlns:a="http://schemas.openxmlformats.org/drawingml/2006/main">
              <a:ext uri="{FF2B5EF4-FFF2-40B4-BE49-F238E27FC236}">
                <a16:creationId xmlns:a16="http://schemas.microsoft.com/office/drawing/2014/main" id="{DE80C623-391C-4A59-B273-9B7777C8CE23}"/>
              </a:ext>
            </a:extLst>
          </p:cNvPr>
          <p:cNvSpPr>
            <a:spLocks xmlns:a="http://schemas.openxmlformats.org/drawingml/2006/main" noGrp="1"/>
          </p:cNvSpPr>
          <p:nvPr/>
        </p:nvSpPr>
        <p:spPr>
          <a:xfrm xmlns:a="http://schemas.openxmlformats.org/drawingml/2006/main">
            <a:off x="7239000" y="2781300"/>
            <a:ext cx="4305300" cy="2190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2" name="close-quote">
            <a:extLst xmlns:a="http://schemas.openxmlformats.org/drawingml/2006/main">
              <a:ext uri="{FF2B5EF4-FFF2-40B4-BE49-F238E27FC236}">
                <a16:creationId xmlns:a16="http://schemas.microsoft.com/office/drawing/2014/main" id="{ABCB95E6-0D8E-4FDD-9668-53CD90A59CA0}"/>
              </a:ext>
            </a:extLst>
          </p:cNvPr>
          <p:cNvSpPr>
            <a:spLocks xmlns:a="http://schemas.openxmlformats.org/drawingml/2006/main" noGrp="1"/>
          </p:cNvSpPr>
          <p:nvPr/>
        </p:nvSpPr>
        <p:spPr>
          <a:xfrm xmlns:a="http://schemas.openxmlformats.org/drawingml/2006/main">
            <a:off x="7600950" y="3105150"/>
            <a:ext cx="35814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111111"/>
                </a:solidFill>
                <a:latin typeface="Arial"/>
                <a:ea typeface="Arial"/>
                <a:cs typeface="Arial"/>
              </a:defRPr>
            </a:pPr>
            <a:r>
              <a:rPr sz="2025" b="1">
                <a:solidFill>
                  <a:srgbClr val="111111"/>
                </a:solidFill>
                <a:latin typeface="Arial"/>
                <a:ea typeface="Arial"/>
                <a:cs typeface="Arial"/>
              </a:rPr>
              <a:t>Not more software.</a:t>
            </a:r>
          </a:p>
          <a:p xmlns:a="http://schemas.openxmlformats.org/drawingml/2006/main">
            <a:r>
              <a:t/>
            </a:r>
          </a:p>
          <a:p xmlns:a="http://schemas.openxmlformats.org/drawingml/2006/main">
            <a:pPr algn="l">
              <a:lnSpc>
                <a:spcPct val="105000"/>
              </a:lnSpc>
              <a:buNone/>
              <a:defRPr sz="2025" b="1">
                <a:solidFill>
                  <a:srgbClr val="111111"/>
                </a:solidFill>
                <a:latin typeface="Arial"/>
                <a:ea typeface="Arial"/>
                <a:cs typeface="Arial"/>
              </a:defRPr>
            </a:pPr>
            <a:r>
              <a:rPr sz="2025" b="1">
                <a:solidFill>
                  <a:srgbClr val="111111"/>
                </a:solidFill>
                <a:latin typeface="Arial"/>
                <a:ea typeface="Arial"/>
                <a:cs typeface="Arial"/>
              </a:rPr>
              <a:t>The power to change small systems—and the judgement to know when not to.</a:t>
            </a:r>
          </a:p>
        </p:txBody>
      </p:sp>
      <p:sp>
        <p:nvSpPr>
          <p:cNvPr id="13" name="close-repo">
            <a:extLst xmlns:a="http://schemas.openxmlformats.org/drawingml/2006/main">
              <a:ext uri="{FF2B5EF4-FFF2-40B4-BE49-F238E27FC236}">
                <a16:creationId xmlns:a16="http://schemas.microsoft.com/office/drawing/2014/main" id="{F4B5DEA6-8B02-431A-A993-2B997EFDAAF9}"/>
              </a:ext>
            </a:extLst>
          </p:cNvPr>
          <p:cNvSpPr>
            <a:spLocks xmlns:a="http://schemas.openxmlformats.org/drawingml/2006/main" noGrp="1"/>
          </p:cNvSpPr>
          <p:nvPr/>
        </p:nvSpPr>
        <p:spPr>
          <a:xfrm xmlns:a="http://schemas.openxmlformats.org/drawingml/2006/main">
            <a:off x="533400" y="58674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a:solidFill>
                  <a:srgbClr val="3D8DFF"/>
                </a:solidFill>
                <a:latin typeface="Arial"/>
                <a:ea typeface="Arial"/>
                <a:cs typeface="Arial"/>
              </a:defRPr>
            </a:pPr>
            <a:r>
              <a:rPr sz="1500">
                <a:solidFill>
                  <a:srgbClr val="3D8DFF"/>
                </a:solidFill>
                <a:latin typeface="Arial"/>
                <a:ea typeface="Arial"/>
                <a:cs typeface="Arial"/>
                <a:hlinkClick xmlns:r="http://schemas.openxmlformats.org/officeDocument/2006/relationships" r:id="Rde721a3de16e4b50"/>
              </a:rPr>
              <a:t>github.com/arlen-brower/festival-of-ai</a:t>
            </a:r>
          </a:p>
        </p:txBody>
      </p:sp>
    </p:spTree>
    <p:extLst>
      <p:ext uri="{BB962C8B-B14F-4D97-AF65-F5344CB8AC3E}">
        <p14:creationId xmlns:p14="http://schemas.microsoft.com/office/powerpoint/2010/main" val="427048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2026-08-17T07:35:10.5890000Z</dcterms:created>
  <dcterms:modified xsi:type="dcterms:W3CDTF">2026-08-17T07:35:10.5890000Z</dcterms:modified>
</coreProperties>
</file>