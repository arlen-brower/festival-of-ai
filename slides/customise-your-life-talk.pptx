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14714845504612" /><Relationship Type="http://schemas.openxmlformats.org/officeDocument/2006/relationships/extended-properties" Target="/docProps/app.xml" Id="Rf0e354a798f94b44" /><Relationship Type="http://schemas.openxmlformats.org/officeDocument/2006/relationships/officeDocument" Target="/ppt/presentation.xml" Id="R8ef23af8f395413e" /></Relationships>
</file>

<file path=ppt/presentation.xml><?xml version="1.0" encoding="utf-8"?>
<p:presentation xmlns:p="http://schemas.openxmlformats.org/presentationml/2006/main">
  <p:sldMasterIdLst>
    <p:sldMasterId xmlns:r="http://schemas.openxmlformats.org/officeDocument/2006/relationships" id="2147483648" r:id="Rd1e88a8e6f9d4457"/>
  </p:sldMasterIdLst>
  <p:notesMasterIdLst>
    <p:notesMasterId xmlns:r="http://schemas.openxmlformats.org/officeDocument/2006/relationships" r:id="Rf0d1327f23534dc2"/>
  </p:notesMasterIdLst>
  <p:sldIdLst>
    <p:sldId xmlns:r="http://schemas.openxmlformats.org/officeDocument/2006/relationships" id="256" r:id="R84a3545c5c1444a8"/>
    <p:sldId xmlns:r="http://schemas.openxmlformats.org/officeDocument/2006/relationships" id="257" r:id="Rbcf05f205f5244f2"/>
    <p:sldId xmlns:r="http://schemas.openxmlformats.org/officeDocument/2006/relationships" id="258" r:id="R9682900ea430488b"/>
    <p:sldId xmlns:r="http://schemas.openxmlformats.org/officeDocument/2006/relationships" id="259" r:id="R94945e2b969348cb"/>
    <p:sldId xmlns:r="http://schemas.openxmlformats.org/officeDocument/2006/relationships" id="260" r:id="R50e968a52d2c45de"/>
    <p:sldId xmlns:r="http://schemas.openxmlformats.org/officeDocument/2006/relationships" id="261" r:id="Rd2bc498cec18485e"/>
    <p:sldId xmlns:r="http://schemas.openxmlformats.org/officeDocument/2006/relationships" id="262" r:id="R4530896658594b6b"/>
    <p:sldId xmlns:r="http://schemas.openxmlformats.org/officeDocument/2006/relationships" id="263" r:id="Re186f7390d014354"/>
    <p:sldId xmlns:r="http://schemas.openxmlformats.org/officeDocument/2006/relationships" id="264" r:id="R6e3cd18f45a74845"/>
    <p:sldId xmlns:r="http://schemas.openxmlformats.org/officeDocument/2006/relationships" id="265" r:id="Rdba86f619c434ef2"/>
    <p:sldId xmlns:r="http://schemas.openxmlformats.org/officeDocument/2006/relationships" id="266" r:id="Rc7d37ee448e245b0"/>
    <p:sldId xmlns:r="http://schemas.openxmlformats.org/officeDocument/2006/relationships" id="267" r:id="Rfb6b8e4ef14340a5"/>
    <p:sldId xmlns:r="http://schemas.openxmlformats.org/officeDocument/2006/relationships" id="268" r:id="R8dc171ec59814419"/>
    <p:sldId xmlns:r="http://schemas.openxmlformats.org/officeDocument/2006/relationships" id="269" r:id="Raf73826df71e40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a4055f8a7a49a3" /><Relationship Type="http://schemas.openxmlformats.org/officeDocument/2006/relationships/slideMaster" Target="/ppt/slideMasters/slideMaster1.xml" Id="Rd1e88a8e6f9d4457" /><Relationship Type="http://schemas.openxmlformats.org/officeDocument/2006/relationships/notesMaster" Target="/ppt/notesMasters/notesMaster1.xml" Id="Rf0d1327f23534dc2" /><Relationship Type="http://schemas.openxmlformats.org/officeDocument/2006/relationships/presProps" Target="/ppt/presProps.xml" Id="R73a637c7d3d84011" /><Relationship Type="http://schemas.openxmlformats.org/officeDocument/2006/relationships/tableStyles" Target="/ppt/tableStyles.xml" Id="R81acab4635c948a6" /><Relationship Type="http://schemas.openxmlformats.org/officeDocument/2006/relationships/slide" Target="/ppt/slides/slide1.xml" Id="R84a3545c5c1444a8" /><Relationship Type="http://schemas.openxmlformats.org/officeDocument/2006/relationships/slide" Target="/ppt/slides/slide2.xml" Id="Rbcf05f205f5244f2" /><Relationship Type="http://schemas.openxmlformats.org/officeDocument/2006/relationships/slide" Target="/ppt/slides/slide3.xml" Id="R9682900ea430488b" /><Relationship Type="http://schemas.openxmlformats.org/officeDocument/2006/relationships/slide" Target="/ppt/slides/slide4.xml" Id="R94945e2b969348cb" /><Relationship Type="http://schemas.openxmlformats.org/officeDocument/2006/relationships/slide" Target="/ppt/slides/slide5.xml" Id="R50e968a52d2c45de" /><Relationship Type="http://schemas.openxmlformats.org/officeDocument/2006/relationships/slide" Target="/ppt/slides/slide6.xml" Id="Rd2bc498cec18485e" /><Relationship Type="http://schemas.openxmlformats.org/officeDocument/2006/relationships/slide" Target="/ppt/slides/slide7.xml" Id="R4530896658594b6b" /><Relationship Type="http://schemas.openxmlformats.org/officeDocument/2006/relationships/slide" Target="/ppt/slides/slide8.xml" Id="Re186f7390d014354" /><Relationship Type="http://schemas.openxmlformats.org/officeDocument/2006/relationships/slide" Target="/ppt/slides/slide9.xml" Id="R6e3cd18f45a74845" /><Relationship Type="http://schemas.openxmlformats.org/officeDocument/2006/relationships/slide" Target="/ppt/slides/slide10.xml" Id="Rdba86f619c434ef2" /><Relationship Type="http://schemas.openxmlformats.org/officeDocument/2006/relationships/slide" Target="/ppt/slides/slide11.xml" Id="Rc7d37ee448e245b0" /><Relationship Type="http://schemas.openxmlformats.org/officeDocument/2006/relationships/slide" Target="/ppt/slides/slide12.xml" Id="Rfb6b8e4ef14340a5" /><Relationship Type="http://schemas.openxmlformats.org/officeDocument/2006/relationships/slide" Target="/ppt/slides/slide13.xml" Id="R8dc171ec59814419" /><Relationship Type="http://schemas.openxmlformats.org/officeDocument/2006/relationships/slide" Target="/ppt/slides/slide14.xml" Id="Raf73826df71e40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ec1be722bf42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4c2b899647419a" /><Relationship Type="http://schemas.openxmlformats.org/officeDocument/2006/relationships/notesMaster" Target="/ppt/notesMasters/notesMaster1.xml" Id="R645cf924d97441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f99fbde74f46d3" /><Relationship Type="http://schemas.openxmlformats.org/officeDocument/2006/relationships/notesMaster" Target="/ppt/notesMasters/notesMaster1.xml" Id="Rac84164185a846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e04fb6652347a0" /><Relationship Type="http://schemas.openxmlformats.org/officeDocument/2006/relationships/notesMaster" Target="/ppt/notesMasters/notesMaster1.xml" Id="R2031c9c0ec3e4a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156d040f954a4f" /><Relationship Type="http://schemas.openxmlformats.org/officeDocument/2006/relationships/notesMaster" Target="/ppt/notesMasters/notesMaster1.xml" Id="Rf93ecd9016a14f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c02b10bed04128" /><Relationship Type="http://schemas.openxmlformats.org/officeDocument/2006/relationships/notesMaster" Target="/ppt/notesMasters/notesMaster1.xml" Id="R6dfda0a503f94f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73f0e4e2574f54" /><Relationship Type="http://schemas.openxmlformats.org/officeDocument/2006/relationships/notesMaster" Target="/ppt/notesMasters/notesMaster1.xml" Id="R3e6fc8a0b5d446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7d51f47c9a4a22" /><Relationship Type="http://schemas.openxmlformats.org/officeDocument/2006/relationships/notesMaster" Target="/ppt/notesMasters/notesMaster1.xml" Id="R76a1f56e819d44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59978ad44447a6" /><Relationship Type="http://schemas.openxmlformats.org/officeDocument/2006/relationships/notesMaster" Target="/ppt/notesMasters/notesMaster1.xml" Id="Rf697e6bdad0547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b3af7d4e14454b" /><Relationship Type="http://schemas.openxmlformats.org/officeDocument/2006/relationships/notesMaster" Target="/ppt/notesMasters/notesMaster1.xml" Id="Ra1e8103cbc3d4d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acb950eec34e45" /><Relationship Type="http://schemas.openxmlformats.org/officeDocument/2006/relationships/notesMaster" Target="/ppt/notesMasters/notesMaster1.xml" Id="R0bb596e13cff41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4c6b4deb73442a" /><Relationship Type="http://schemas.openxmlformats.org/officeDocument/2006/relationships/notesMaster" Target="/ppt/notesMasters/notesMaster1.xml" Id="Ra5a3e8a5ddb042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4ea9966d0f4052" /><Relationship Type="http://schemas.openxmlformats.org/officeDocument/2006/relationships/notesMaster" Target="/ppt/notesMasters/notesMaster1.xml" Id="R491afbec75414f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c899d0f3334722" /><Relationship Type="http://schemas.openxmlformats.org/officeDocument/2006/relationships/notesMaster" Target="/ppt/notesMasters/notesMaster1.xml" Id="Rb25133e18cbf4a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652161b9f645cf" /><Relationship Type="http://schemas.openxmlformats.org/officeDocument/2006/relationships/notesMaster" Target="/ppt/notesMasters/notesMaster1.xml" Id="Rafebd207215e4f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0:00–0:01:30.</a:t>
            </a:r>
          </a:p>
          <a:p xmlns:a="http://schemas.openxmlformats.org/drawingml/2006/main">
            <a:r>
              <a:t>Open conversationally: this is a talk and live demo, not a tightly managed workshop. Questions are welcome at any point; if an interesting question takes the session off the planned rails, that is allowed.</a:t>
            </a:r>
          </a:p>
          <a:p xmlns:a="http://schemas.openxmlformats.org/drawingml/2006/main">
            <a:r>
              <a:t/>
            </a:r>
          </a:p>
          <a:p xmlns:a="http://schemas.openxmlformats.org/drawingml/2006/main">
            <a:r>
              <a:t>Say: “I like computers that feel like mine. I want to show why that power is no longer reserved for people who already know how to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0:01:30–0:04.</a:t>
            </a:r>
          </a:p>
          <a:p xmlns:a="http://schemas.openxmlformats.org/drawingml/2006/main">
            <a:r>
              <a:t>This is for people with a small recurring frustration, not necessarily a software idea. Include people whose tools almost fit, people who repeatedly reformat or copy information, and people who have never written code.</a:t>
            </a:r>
          </a:p>
          <a:p xmlns:a="http://schemas.openxmlformats.org/drawingml/2006/main">
            <a:r>
              <a:t/>
            </a:r>
          </a:p>
          <a:p xmlns:a="http://schemas.openxmlformats.org/drawingml/2006/main">
            <a:r>
              <a:t>Make the promise explicit: nobody will be put on the spot, and following along is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0:04–0:06:30.</a:t>
            </a:r>
          </a:p>
          <a:p xmlns:a="http://schemas.openxmlformats.org/drawingml/2006/main">
            <a:r>
              <a:t>Give your personal examples: aliases, editor settings, browser changes, templates, or small scripts. The point is not that everyone needs your setup; it is that default software is a starting point.</a:t>
            </a:r>
          </a:p>
          <a:p xmlns:a="http://schemas.openxmlformats.org/drawingml/2006/main">
            <a:r>
              <a:t/>
            </a:r>
          </a:p>
          <a:p xmlns:a="http://schemas.openxmlformats.org/drawingml/2006/main">
            <a:r>
              <a:t>Say that customising an environment is a way of noticing how you work and making deliberate choices about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0:06:30–0:09.</a:t>
            </a:r>
          </a:p>
          <a:p xmlns:a="http://schemas.openxmlformats.org/drawingml/2006/main">
            <a:r>
              <a:t>Lean into the self-aware “nerdy individuals like me” line. Traditionally, even a tiny personal change required knowing the right vocabulary, finding scattered documentation, editing files, and recovering when something broke.</a:t>
            </a:r>
          </a:p>
          <a:p xmlns:a="http://schemas.openxmlformats.org/drawingml/2006/main">
            <a:r>
              <a:t/>
            </a:r>
          </a:p>
          <a:p xmlns:a="http://schemas.openxmlformats.org/drawingml/2006/main">
            <a:r>
              <a:t>That culture produced wonderful tools, but it also made the starting cost feel unreasonable for a five-minute annoyance.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0:09–0:12.</a:t>
            </a:r>
          </a:p>
          <a:p xmlns:a="http://schemas.openxmlformats.org/drawingml/2006/main">
            <a:r>
              <a:t>For a small, simple, well-specified task, AI often knows the unfamiliar syntax and can explain it. If you do not know how to make a browser extension, you can ask what files are needed, what each one does, and how to load them.</a:t>
            </a:r>
          </a:p>
          <a:p xmlns:a="http://schemas.openxmlformats.org/drawingml/2006/main">
            <a:r>
              <a:t/>
            </a:r>
          </a:p>
          <a:p xmlns:a="http://schemas.openxmlformats.org/drawingml/2006/main">
            <a:r>
              <a:t>Keep the honest caveat: AI can be confidently wrong. It lowers the cost of trying; it does not remove the need to inspect permissions, use safe information, test behaviour, or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0:12–0:14.</a:t>
            </a:r>
          </a:p>
          <a:p xmlns:a="http://schemas.openxmlformats.org/drawingml/2006/main">
            <a:r>
              <a:t>Define the sweet spot with the three ones. This is “software for one”: the economics are different because the person who wants it and the person judging it are the same person.</a:t>
            </a:r>
          </a:p>
          <a:p xmlns:a="http://schemas.openxmlformats.org/drawingml/2006/main">
            <a:r>
              <a:t/>
            </a:r>
          </a:p>
          <a:p xmlns:a="http://schemas.openxmlformats.org/drawingml/2006/main">
            <a:r>
              <a:t>The first version does not need a market, accounts, a framework, or polish. It needs one useful outcome and a failure mode you can tolerate.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0:14–0:17.</a:t>
            </a:r>
          </a:p>
          <a:p xmlns:a="http://schemas.openxmlformats.org/drawingml/2006/main">
            <a:r>
              <a:t>Use the dashboard as a concrete object: a Firefox new-tab extension with a greeting, a to-do list, links, and weather. Ask the question rhetorically; take quick responses if they come, but do not wait for them.</a:t>
            </a:r>
          </a:p>
          <a:p xmlns:a="http://schemas.openxmlformats.org/drawingml/2006/main">
            <a:r>
              <a:t/>
            </a:r>
          </a:p>
          <a:p xmlns:a="http://schemas.openxmlformats.org/drawingml/2006/main">
            <a:r>
              <a:t>Say clearly that the image is a concept visual while the live browser demo is the working artifact.</a:t>
            </a:r>
          </a:p>
          <a:p xmlns:a="http://schemas.openxmlformats.org/drawingml/2006/main">
            <a:r>
              <a:t/>
            </a:r>
          </a:p>
          <a:p xmlns:a="http://schemas.openxmlformats.org/drawingml/2006/main">
            <a:r>
              <a:t>[Sources]</a:t>
            </a:r>
          </a:p>
          <a:p xmlns:a="http://schemas.openxmlformats.org/drawingml/2006/main">
            <a:r>
              <a:t>- OpenAI ImageGen; concept dashboard generated 17 August 2026; asset: slides/assets/personal-dashboard-concept.png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0:17–0:19.</a:t>
            </a:r>
          </a:p>
          <a:p xmlns:a="http://schemas.openxmlformats.org/drawingml/2006/main">
            <a:r>
              <a:t>Give one authentic example from your own practice for each phrase. Keep the examples brief and low stakes.</a:t>
            </a:r>
          </a:p>
          <a:p xmlns:a="http://schemas.openxmlformats.org/drawingml/2006/main">
            <a:r>
              <a:t/>
            </a:r>
          </a:p>
          <a:p xmlns:a="http://schemas.openxmlformats.org/drawingml/2006/main">
            <a:r>
              <a:t>If the room is talkative, invite examples. If not, keep moving. The diagnostic question is simply: “What have I done often enough that I resent doing it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0:19–0:22.</a:t>
            </a:r>
          </a:p>
          <a:p xmlns:a="http://schemas.openxmlformats.org/drawingml/2006/main">
            <a:r>
              <a:t>This is the core non-programmer reframing. The audience does not need to become the syntax expert. They do need to be the expert on purpose, examples, boundaries, and what correct behaviour looks like.</a:t>
            </a:r>
          </a:p>
          <a:p xmlns:a="http://schemas.openxmlformats.org/drawingml/2006/main">
            <a:r>
              <a:t/>
            </a:r>
          </a:p>
          <a:p xmlns:a="http://schemas.openxmlformats.org/drawingml/2006/main">
            <a:r>
              <a:t>Say: “AI can write a line I do not understand yet. My next move is to ask what it does, inspect what it can access, and test the result—not to pretend understanding is irrelevant.”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0:22–0:23:30.</a:t>
            </a:r>
          </a:p>
          <a:p xmlns:a="http://schemas.openxmlformats.org/drawingml/2006/main">
            <a:r>
              <a:t>This is the only audience-direction slide. State that devices are welcome but not expected. Nobody needs to keep pace with the demo.</a:t>
            </a:r>
          </a:p>
          <a:p xmlns:a="http://schemas.openxmlformats.org/drawingml/2006/main">
            <a:r>
              <a:t/>
            </a:r>
          </a:p>
          <a:p xmlns:a="http://schemas.openxmlformats.org/drawingml/2006/main">
            <a:r>
              <a:t>Remind anyone following along to use made-up, public, or permitted information—never confidential student, HR, health, client, or research data. Questions can interrupt at any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0:23:30–0:35:30.</a:t>
            </a:r>
          </a:p>
          <a:p xmlns:a="http://schemas.openxmlformats.org/drawingml/2006/main">
            <a:r>
              <a:t>Switch away from the deck. Show the tiny brief, paste the prepared prompt, and explain only the important clauses: ordinary browser files, local storage, minimum permissions, and no unrequested features.</a:t>
            </a:r>
          </a:p>
          <a:p xmlns:a="http://schemas.openxmlformats.org/drawingml/2006/main">
            <a:r>
              <a:t/>
            </a:r>
          </a:p>
          <a:p xmlns:a="http://schemas.openxmlformats.org/drawingml/2006/main">
            <a:r>
              <a:t>Load the temporary Firefox extension. Add a task, open a new tab to test persistence, reject a blank task, then make one contained change. Use a prepared checkpoint if generation stalls. End when the tests pass; do not polish.</a:t>
            </a:r>
          </a:p>
          <a:p xmlns:a="http://schemas.openxmlformats.org/drawingml/2006/main">
            <a:r>
              <a:t/>
            </a:r>
          </a:p>
          <a:p xmlns:a="http://schemas.openxmlformats.org/drawingml/2006/main">
            <a:r>
              <a:t>Questions are welcome and can change the route. Protect roughly five minutes at the end for testing, boundaries, and the closing idea.</a:t>
            </a:r>
          </a:p>
          <a:p xmlns:a="http://schemas.openxmlformats.org/drawingml/2006/main">
            <a:r>
              <a:t/>
            </a:r>
          </a:p>
          <a:p xmlns:a="http://schemas.openxmlformats.org/drawingml/2006/main">
            <a:r>
              <a:t>[Sources]</a:t>
            </a:r>
          </a:p>
          <a:p xmlns:a="http://schemas.openxmlformats.org/drawingml/2006/main">
            <a:r>
              <a:t>- Mozilla MDN, chrome_url_overrides: https://developer.mozilla.org/en-US/docs/Mozilla/Add-ons/WebExtensions/manifest.json/chrome_url_overrides</a:t>
            </a:r>
          </a:p>
          <a:p xmlns:a="http://schemas.openxmlformats.org/drawingml/2006/main">
            <a:r>
              <a:t>- Mozilla Extension Workshop, temporary installation: https://extensionworkshop.com/documentation/develop/temporary-installation-in-firefox/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0:35:30–0:38:30.</a:t>
            </a:r>
          </a:p>
          <a:p xmlns:a="http://schemas.openxmlformats.org/drawingml/2006/main">
            <a:r>
              <a:t>Run the three tests yourself. The audience may follow, but there is no pause for an exercise.</a:t>
            </a:r>
          </a:p>
          <a:p xmlns:a="http://schemas.openxmlformats.org/drawingml/2006/main">
            <a:r>
              <a:t/>
            </a:r>
          </a:p>
          <a:p xmlns:a="http://schemas.openxmlformats.org/drawingml/2006/main">
            <a:r>
              <a:t>Reinforce that “it opened once” is not a meaningful test. AI output is a draft until the normal case, an edge case, and a safe failure have been tried.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0:38:30–0:42.</a:t>
            </a:r>
          </a:p>
          <a:p xmlns:a="http://schemas.openxmlformats.org/drawingml/2006/main">
            <a:r>
              <a:t>Ask rhetorically: “What changed besides the screen?” Draw out location data, a third party, network dependency, host permissions, stale results, and offline behaviour.</a:t>
            </a:r>
          </a:p>
          <a:p xmlns:a="http://schemas.openxmlformats.org/drawingml/2006/main">
            <a:r>
              <a:t/>
            </a:r>
          </a:p>
          <a:p xmlns:a="http://schemas.openxmlformats.org/drawingml/2006/main">
            <a:r>
              <a:t>Explain that the demo avoids automatic geolocation and uses a user-chosen location. Green-light tiny tools that are local, reversible, inspectable, and merely annoying when wrong. Slow down for private data, APIs, broad permissions, secrets, high stakes, or actions that affect other people.</a:t>
            </a:r>
          </a:p>
          <a:p xmlns:a="http://schemas.openxmlformats.org/drawingml/2006/main">
            <a:r>
              <a:t/>
            </a:r>
          </a:p>
          <a:p xmlns:a="http://schemas.openxmlformats.org/drawingml/2006/main">
            <a:r>
              <a:t>Disclose that temporary Firefox extensions disappear on restart and persistent installation in standard Firefox requires Mozilla signing.</a:t>
            </a:r>
          </a:p>
          <a:p xmlns:a="http://schemas.openxmlformats.org/drawingml/2006/main">
            <a:r>
              <a:t/>
            </a:r>
          </a:p>
          <a:p xmlns:a="http://schemas.openxmlformats.org/drawingml/2006/main">
            <a:r>
              <a:t>[Sources]</a:t>
            </a:r>
          </a:p>
          <a:p xmlns:a="http://schemas.openxmlformats.org/drawingml/2006/main">
            <a:r>
              <a:t>- Open-Meteo API documentation: https://open-meteo.com/en/docs</a:t>
            </a:r>
          </a:p>
          <a:p xmlns:a="http://schemas.openxmlformats.org/drawingml/2006/main">
            <a:r>
              <a:t>- Mozilla Support, add-on signing: https://support.mozilla.org/en-US/kb/add-on-signing-in-firefox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0:42–0:45.</a:t>
            </a:r>
          </a:p>
          <a:p xmlns:a="http://schemas.openxmlformats.org/drawingml/2006/main">
            <a:r>
              <a:t>Close the loop with the opening philosophy: the goal is not to generate more software for its own sake. It is to notice one small system that almost fits, describe the change clearly, keep the first version contained, and test it.</a:t>
            </a:r>
          </a:p>
          <a:p xmlns:a="http://schemas.openxmlformats.org/drawingml/2006/main">
            <a:r>
              <a:t/>
            </a:r>
          </a:p>
          <a:p xmlns:a="http://schemas.openxmlformats.org/drawingml/2006/main">
            <a:r>
              <a:t>Leave the resource link on screen. Invite final questions; if the earlier conversation used the remaining time, finish with the quote on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b02b9ca5ae42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005036bb094cd0" /><Relationship Type="http://schemas.openxmlformats.org/officeDocument/2006/relationships/slideLayout" Target="/ppt/slideLayouts/slideLayout1.xml" Id="R668a64051bbd45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8a64051bbd45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bc37685ce4439b" /><Relationship Type="http://schemas.openxmlformats.org/officeDocument/2006/relationships/notesSlide" Target="/ppt/notesSlides/notesSlide1.xml" Id="Re28c7ae859aa4f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0c94f8961740b7" /><Relationship Type="http://schemas.openxmlformats.org/officeDocument/2006/relationships/notesSlide" Target="/ppt/notesSlides/notesSlide2.xml" Id="Ra5d8fc2026a749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df277641e848e4" /><Relationship Type="http://schemas.openxmlformats.org/officeDocument/2006/relationships/notesSlide" Target="/ppt/notesSlides/notesSlide3.xml" Id="R961cb879d45c42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8f515dcf2a434d" /><Relationship Type="http://schemas.openxmlformats.org/officeDocument/2006/relationships/notesSlide" Target="/ppt/notesSlides/notesSlide4.xml" Id="Re84dc1535c3140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00571b00ef44b6" /><Relationship Type="http://schemas.openxmlformats.org/officeDocument/2006/relationships/notesSlide" Target="/ppt/notesSlides/notesSlide5.xml" Id="R6c05ece0406e4e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19a229eb1145ec" /><Relationship Type="http://schemas.openxmlformats.org/officeDocument/2006/relationships/notesSlide" Target="/ppt/notesSlides/notesSlide6.xml" Id="Rc4992eb5ec6b4c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b42d4c2e9a14180" /><Relationship Type="http://schemas.openxmlformats.org/officeDocument/2006/relationships/image" Target="/ppt/media/image.png" Id="R0ec59b0ba21b423a" /><Relationship Type="http://schemas.openxmlformats.org/officeDocument/2006/relationships/notesSlide" Target="/ppt/notesSlides/notesSlide7.xml" Id="Rdcc67e01940e4c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582c26b10246b1" /><Relationship Type="http://schemas.openxmlformats.org/officeDocument/2006/relationships/notesSlide" Target="/ppt/notesSlides/notesSlide8.xml" Id="Rdc386f1b22cb4b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f0dea6ff4d43d7" /><Relationship Type="http://schemas.openxmlformats.org/officeDocument/2006/relationships/notesSlide" Target="/ppt/notesSlides/notesSlide9.xml" Id="R74de26fbe1de4a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a25600a0684211" /><Relationship Type="http://schemas.openxmlformats.org/officeDocument/2006/relationships/notesSlide" Target="/ppt/notesSlides/notesSlide10.xml" Id="Red135bccbad64b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e914dc72814598" /><Relationship Type="http://schemas.openxmlformats.org/officeDocument/2006/relationships/notesSlide" Target="/ppt/notesSlides/notesSlide11.xml" Id="R83c31e6c74ed4b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c497cb4b214ea8" /><Relationship Type="http://schemas.openxmlformats.org/officeDocument/2006/relationships/notesSlide" Target="/ppt/notesSlides/notesSlide12.xml" Id="R61fedf5b2b0246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5ddb2b0d86400e" /><Relationship Type="http://schemas.openxmlformats.org/officeDocument/2006/relationships/notesSlide" Target="/ppt/notesSlides/notesSlide13.xml" Id="R187845b4442a45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f208b6845844e9" /><Relationship Type="http://schemas.openxmlformats.org/officeDocument/2006/relationships/hyperlink" Target="https://github.com/arlen-brower/festival-of-ai" TargetMode="External" Id="R87191af142a34349" /><Relationship Type="http://schemas.openxmlformats.org/officeDocument/2006/relationships/notesSlide" Target="/ppt/notesSlides/notesSlide14.xml" Id="R087025d2c8384a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kicker">
            <a:extLst xmlns:a="http://schemas.openxmlformats.org/drawingml/2006/main">
              <a:ext uri="{FF2B5EF4-FFF2-40B4-BE49-F238E27FC236}">
                <a16:creationId xmlns:a16="http://schemas.microsoft.com/office/drawing/2014/main" id="{B4377DD8-079D-4B4D-BE13-651402BF9923}"/>
              </a:ext>
            </a:extLst>
          </p:cNvPr>
          <p:cNvSpPr>
            <a:spLocks xmlns:a="http://schemas.openxmlformats.org/drawingml/2006/main" noGrp="1"/>
          </p:cNvSpPr>
          <p:nvPr/>
        </p:nvSpPr>
        <p:spPr>
          <a:xfrm xmlns:a="http://schemas.openxmlformats.org/drawingml/2006/main">
            <a:off x="533400" y="4572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FESTIVAL OF AI</a:t>
            </a:r>
          </a:p>
        </p:txBody>
      </p:sp>
      <p:sp>
        <p:nvSpPr>
          <p:cNvPr id="2" name="cover-title">
            <a:extLst xmlns:a="http://schemas.openxmlformats.org/drawingml/2006/main">
              <a:ext uri="{FF2B5EF4-FFF2-40B4-BE49-F238E27FC236}">
                <a16:creationId xmlns:a16="http://schemas.microsoft.com/office/drawing/2014/main" id="{4E18D32D-5977-4DD0-A9FB-BE69932AF739}"/>
              </a:ext>
            </a:extLst>
          </p:cNvPr>
          <p:cNvSpPr>
            <a:spLocks xmlns:a="http://schemas.openxmlformats.org/drawingml/2006/main" noGrp="1"/>
          </p:cNvSpPr>
          <p:nvPr/>
        </p:nvSpPr>
        <p:spPr>
          <a:xfrm xmlns:a="http://schemas.openxmlformats.org/drawingml/2006/main">
            <a:off x="533400" y="1714500"/>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5700" b="1">
                <a:solidFill>
                  <a:srgbClr val="111111"/>
                </a:solidFill>
                <a:latin typeface="Arial"/>
                <a:ea typeface="Arial"/>
                <a:cs typeface="Arial"/>
              </a:defRPr>
            </a:pPr>
            <a:r>
              <a:rPr sz="5700" b="1">
                <a:solidFill>
                  <a:srgbClr val="111111"/>
                </a:solidFill>
                <a:latin typeface="Arial"/>
                <a:ea typeface="Arial"/>
                <a:cs typeface="Arial"/>
              </a:rPr>
              <a:t>Customise Your Life</a:t>
            </a:r>
          </a:p>
        </p:txBody>
      </p:sp>
      <p:sp>
        <p:nvSpPr>
          <p:cNvPr id="3" name="cover-subtitle">
            <a:extLst xmlns:a="http://schemas.openxmlformats.org/drawingml/2006/main">
              <a:ext uri="{FF2B5EF4-FFF2-40B4-BE49-F238E27FC236}">
                <a16:creationId xmlns:a16="http://schemas.microsoft.com/office/drawing/2014/main" id="{F35513BA-F30A-44C1-97DF-C7EB6B25FB7B}"/>
              </a:ext>
            </a:extLst>
          </p:cNvPr>
          <p:cNvSpPr>
            <a:spLocks xmlns:a="http://schemas.openxmlformats.org/drawingml/2006/main" noGrp="1"/>
          </p:cNvSpPr>
          <p:nvPr/>
        </p:nvSpPr>
        <p:spPr>
          <a:xfrm xmlns:a="http://schemas.openxmlformats.org/drawingml/2006/main">
            <a:off x="533400" y="28575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a:solidFill>
                  <a:srgbClr val="5E6670"/>
                </a:solidFill>
                <a:latin typeface="Arial"/>
                <a:ea typeface="Arial"/>
                <a:cs typeface="Arial"/>
              </a:defRPr>
            </a:pPr>
            <a:r>
              <a:rPr sz="2550">
                <a:solidFill>
                  <a:srgbClr val="5E6670"/>
                </a:solidFill>
                <a:latin typeface="Arial"/>
                <a:ea typeface="Arial"/>
                <a:cs typeface="Arial"/>
              </a:rPr>
              <a:t>Building tiny personal tools with AI</a:t>
            </a:r>
          </a:p>
        </p:txBody>
      </p:sp>
      <p:sp>
        <p:nvSpPr>
          <p:cNvPr id="4" name="cover-rule">
            <a:extLst xmlns:a="http://schemas.openxmlformats.org/drawingml/2006/main">
              <a:ext uri="{FF2B5EF4-FFF2-40B4-BE49-F238E27FC236}">
                <a16:creationId xmlns:a16="http://schemas.microsoft.com/office/drawing/2014/main" id="{22219E67-80EC-4C91-A75C-832BDDC4D95F}"/>
              </a:ext>
            </a:extLst>
          </p:cNvPr>
          <p:cNvSpPr>
            <a:spLocks xmlns:a="http://schemas.openxmlformats.org/drawingml/2006/main" noGrp="1"/>
          </p:cNvSpPr>
          <p:nvPr/>
        </p:nvSpPr>
        <p:spPr>
          <a:xfrm xmlns:a="http://schemas.openxmlformats.org/drawingml/2006/main">
            <a:off x="533400" y="4610100"/>
            <a:ext cx="1714500" cy="0"/>
          </a:xfrm>
          <a:prstGeom xmlns:a="http://schemas.openxmlformats.org/drawingml/2006/main" prst="line">
            <a:avLst/>
          </a:prstGeom>
          <a:noFill xmlns:a="http://schemas.openxmlformats.org/drawingml/2006/main"/>
          <a:ln xmlns:a="http://schemas.openxmlformats.org/drawingml/2006/main" w="66675">
            <a:solidFill>
              <a:srgbClr val="6DCBF4"/>
            </a:solidFill>
            <a:prstDash val="solid"/>
          </a:ln>
        </p:spPr>
      </p:sp>
      <p:sp>
        <p:nvSpPr>
          <p:cNvPr id="5" name="cover-presenter">
            <a:extLst xmlns:a="http://schemas.openxmlformats.org/drawingml/2006/main">
              <a:ext uri="{FF2B5EF4-FFF2-40B4-BE49-F238E27FC236}">
                <a16:creationId xmlns:a16="http://schemas.microsoft.com/office/drawing/2014/main" id="{8413B411-4CEE-42F4-8EA9-BF0A0C660A38}"/>
              </a:ext>
            </a:extLst>
          </p:cNvPr>
          <p:cNvSpPr>
            <a:spLocks xmlns:a="http://schemas.openxmlformats.org/drawingml/2006/main" noGrp="1"/>
          </p:cNvSpPr>
          <p:nvPr/>
        </p:nvSpPr>
        <p:spPr>
          <a:xfrm xmlns:a="http://schemas.openxmlformats.org/drawingml/2006/main">
            <a:off x="533400" y="49530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Arlen Brower</a:t>
            </a:r>
          </a:p>
        </p:txBody>
      </p:sp>
      <p:sp>
        <p:nvSpPr>
          <p:cNvPr id="6" name="cover-role">
            <a:extLst xmlns:a="http://schemas.openxmlformats.org/drawingml/2006/main">
              <a:ext uri="{FF2B5EF4-FFF2-40B4-BE49-F238E27FC236}">
                <a16:creationId xmlns:a16="http://schemas.microsoft.com/office/drawing/2014/main" id="{50791347-B889-4B42-B1A8-D7F2DC115EB8}"/>
              </a:ext>
            </a:extLst>
          </p:cNvPr>
          <p:cNvSpPr>
            <a:spLocks xmlns:a="http://schemas.openxmlformats.org/drawingml/2006/main" noGrp="1"/>
          </p:cNvSpPr>
          <p:nvPr/>
        </p:nvSpPr>
        <p:spPr>
          <a:xfrm xmlns:a="http://schemas.openxmlformats.org/drawingml/2006/main">
            <a:off x="533400" y="539115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a:solidFill>
                  <a:srgbClr val="5E6670"/>
                </a:solidFill>
                <a:latin typeface="Arial"/>
                <a:ea typeface="Arial"/>
                <a:cs typeface="Arial"/>
              </a:defRPr>
            </a:pPr>
            <a:r>
              <a:rPr sz="1500">
                <a:solidFill>
                  <a:srgbClr val="5E6670"/>
                </a:solidFill>
                <a:latin typeface="Arial"/>
                <a:ea typeface="Arial"/>
                <a:cs typeface="Arial"/>
              </a:rPr>
              <a:t>Computer Science Lecturer · Industry Projects &amp; Placements</a:t>
            </a:r>
          </a:p>
        </p:txBody>
      </p:sp>
    </p:spTree>
    <p:extLst>
      <p:ext uri="{BB962C8B-B14F-4D97-AF65-F5344CB8AC3E}">
        <p14:creationId xmlns:p14="http://schemas.microsoft.com/office/powerpoint/2010/main" val="4778454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hrink-kicker">
            <a:extLst xmlns:a="http://schemas.openxmlformats.org/drawingml/2006/main">
              <a:ext uri="{FF2B5EF4-FFF2-40B4-BE49-F238E27FC236}">
                <a16:creationId xmlns:a16="http://schemas.microsoft.com/office/drawing/2014/main" id="{144A838F-6F9A-412D-96E5-693BDF0ECBA2}"/>
              </a:ext>
            </a:extLst>
          </p:cNvPr>
          <p:cNvSpPr>
            <a:spLocks xmlns:a="http://schemas.openxmlformats.org/drawingml/2006/main" noGrp="1"/>
          </p:cNvSpPr>
          <p:nvPr/>
        </p:nvSpPr>
        <p:spPr>
          <a:xfrm xmlns:a="http://schemas.openxmlformats.org/drawingml/2006/main">
            <a:off x="533400" y="457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WHO THIS IS FOR</a:t>
            </a:r>
          </a:p>
        </p:txBody>
      </p:sp>
      <p:sp>
        <p:nvSpPr>
          <p:cNvPr id="2" name="shrink-question">
            <a:extLst xmlns:a="http://schemas.openxmlformats.org/drawingml/2006/main">
              <a:ext uri="{FF2B5EF4-FFF2-40B4-BE49-F238E27FC236}">
                <a16:creationId xmlns:a16="http://schemas.microsoft.com/office/drawing/2014/main" id="{5FE0B3D5-E080-4FCB-A750-A3713DCF40C1}"/>
              </a:ext>
            </a:extLst>
          </p:cNvPr>
          <p:cNvSpPr>
            <a:spLocks xmlns:a="http://schemas.openxmlformats.org/drawingml/2006/main" noGrp="1"/>
          </p:cNvSpPr>
          <p:nvPr/>
        </p:nvSpPr>
        <p:spPr>
          <a:xfrm xmlns:a="http://schemas.openxmlformats.org/drawingml/2006/main">
            <a:off x="533400" y="219075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5550" b="1">
                <a:solidFill>
                  <a:srgbClr val="111111"/>
                </a:solidFill>
                <a:latin typeface="Arial"/>
                <a:ea typeface="Arial"/>
                <a:cs typeface="Arial"/>
              </a:defRPr>
            </a:pPr>
            <a:r>
              <a:rPr sz="5550" b="1">
                <a:solidFill>
                  <a:srgbClr val="111111"/>
                </a:solidFill>
                <a:latin typeface="Arial"/>
                <a:ea typeface="Arial"/>
                <a:cs typeface="Arial"/>
              </a:rPr>
              <a:t>If your software almost fits, this is for you.</a:t>
            </a:r>
          </a:p>
        </p:txBody>
      </p:sp>
      <p:sp>
        <p:nvSpPr>
          <p:cNvPr id="3" name="shrink-instruction">
            <a:extLst xmlns:a="http://schemas.openxmlformats.org/drawingml/2006/main">
              <a:ext uri="{FF2B5EF4-FFF2-40B4-BE49-F238E27FC236}">
                <a16:creationId xmlns:a16="http://schemas.microsoft.com/office/drawing/2014/main" id="{DEAF8E41-393F-4605-911E-A743446FEB28}"/>
              </a:ext>
            </a:extLst>
          </p:cNvPr>
          <p:cNvSpPr>
            <a:spLocks xmlns:a="http://schemas.openxmlformats.org/drawingml/2006/main" noGrp="1"/>
          </p:cNvSpPr>
          <p:nvPr/>
        </p:nvSpPr>
        <p:spPr>
          <a:xfrm xmlns:a="http://schemas.openxmlformats.org/drawingml/2006/main">
            <a:off x="533400" y="4286250"/>
            <a:ext cx="819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a:solidFill>
                  <a:srgbClr val="5E6670"/>
                </a:solidFill>
                <a:latin typeface="Arial"/>
                <a:ea typeface="Arial"/>
                <a:cs typeface="Arial"/>
              </a:defRPr>
            </a:pPr>
            <a:r>
              <a:rPr sz="2175">
                <a:solidFill>
                  <a:srgbClr val="5E6670"/>
                </a:solidFill>
                <a:latin typeface="Arial"/>
                <a:ea typeface="Arial"/>
                <a:cs typeface="Arial"/>
              </a:rPr>
              <a:t>Staff · students · researchers · hobbyists · curious non-programmers.</a:t>
            </a:r>
          </a:p>
        </p:txBody>
      </p:sp>
      <p:sp>
        <p:nvSpPr>
          <p:cNvPr id="4" name="shrink-accent">
            <a:extLst xmlns:a="http://schemas.openxmlformats.org/drawingml/2006/main">
              <a:ext uri="{FF2B5EF4-FFF2-40B4-BE49-F238E27FC236}">
                <a16:creationId xmlns:a16="http://schemas.microsoft.com/office/drawing/2014/main" id="{E18659E3-0AFA-4154-997E-78B133A462E3}"/>
              </a:ext>
            </a:extLst>
          </p:cNvPr>
          <p:cNvSpPr>
            <a:spLocks xmlns:a="http://schemas.openxmlformats.org/drawingml/2006/main" noGrp="1"/>
          </p:cNvSpPr>
          <p:nvPr/>
        </p:nvSpPr>
        <p:spPr>
          <a:xfrm xmlns:a="http://schemas.openxmlformats.org/drawingml/2006/main">
            <a:off x="9715500" y="4191000"/>
            <a:ext cx="1619250" cy="1714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5" name="shrink-page">
            <a:extLst xmlns:a="http://schemas.openxmlformats.org/drawingml/2006/main">
              <a:ext uri="{FF2B5EF4-FFF2-40B4-BE49-F238E27FC236}">
                <a16:creationId xmlns:a16="http://schemas.microsoft.com/office/drawing/2014/main" id="{95ED25D4-0F96-445C-9C9B-9A0CC92D38B3}"/>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02</a:t>
            </a:r>
          </a:p>
        </p:txBody>
      </p:sp>
    </p:spTree>
    <p:extLst>
      <p:ext uri="{BB962C8B-B14F-4D97-AF65-F5344CB8AC3E}">
        <p14:creationId xmlns:p14="http://schemas.microsoft.com/office/powerpoint/2010/main" val="20521584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hrink-kicker">
            <a:extLst xmlns:a="http://schemas.openxmlformats.org/drawingml/2006/main">
              <a:ext uri="{FF2B5EF4-FFF2-40B4-BE49-F238E27FC236}">
                <a16:creationId xmlns:a16="http://schemas.microsoft.com/office/drawing/2014/main" id="{144A838F-6F9A-412D-96E5-693BDF0ECBA2}"/>
              </a:ext>
            </a:extLst>
          </p:cNvPr>
          <p:cNvSpPr>
            <a:spLocks xmlns:a="http://schemas.openxmlformats.org/drawingml/2006/main" noGrp="1"/>
          </p:cNvSpPr>
          <p:nvPr/>
        </p:nvSpPr>
        <p:spPr>
          <a:xfrm xmlns:a="http://schemas.openxmlformats.org/drawingml/2006/main">
            <a:off x="533400" y="457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A PERSONAL PHILOSOPHY</a:t>
            </a:r>
          </a:p>
        </p:txBody>
      </p:sp>
      <p:sp>
        <p:nvSpPr>
          <p:cNvPr id="2" name="shrink-question">
            <a:extLst xmlns:a="http://schemas.openxmlformats.org/drawingml/2006/main">
              <a:ext uri="{FF2B5EF4-FFF2-40B4-BE49-F238E27FC236}">
                <a16:creationId xmlns:a16="http://schemas.microsoft.com/office/drawing/2014/main" id="{5FE0B3D5-E080-4FCB-A750-A3713DCF40C1}"/>
              </a:ext>
            </a:extLst>
          </p:cNvPr>
          <p:cNvSpPr>
            <a:spLocks xmlns:a="http://schemas.openxmlformats.org/drawingml/2006/main" noGrp="1"/>
          </p:cNvSpPr>
          <p:nvPr/>
        </p:nvSpPr>
        <p:spPr>
          <a:xfrm xmlns:a="http://schemas.openxmlformats.org/drawingml/2006/main">
            <a:off x="533400" y="219075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5550" b="1">
                <a:solidFill>
                  <a:srgbClr val="111111"/>
                </a:solidFill>
                <a:latin typeface="Arial"/>
                <a:ea typeface="Arial"/>
                <a:cs typeface="Arial"/>
              </a:defRPr>
            </a:pPr>
            <a:r>
              <a:rPr sz="5550" b="1">
                <a:solidFill>
                  <a:srgbClr val="111111"/>
                </a:solidFill>
                <a:latin typeface="Arial"/>
                <a:ea typeface="Arial"/>
                <a:cs typeface="Arial"/>
              </a:rPr>
              <a:t>Your computer should adapt to you.</a:t>
            </a:r>
          </a:p>
        </p:txBody>
      </p:sp>
      <p:sp>
        <p:nvSpPr>
          <p:cNvPr id="3" name="shrink-instruction">
            <a:extLst xmlns:a="http://schemas.openxmlformats.org/drawingml/2006/main">
              <a:ext uri="{FF2B5EF4-FFF2-40B4-BE49-F238E27FC236}">
                <a16:creationId xmlns:a16="http://schemas.microsoft.com/office/drawing/2014/main" id="{DEAF8E41-393F-4605-911E-A743446FEB28}"/>
              </a:ext>
            </a:extLst>
          </p:cNvPr>
          <p:cNvSpPr>
            <a:spLocks xmlns:a="http://schemas.openxmlformats.org/drawingml/2006/main" noGrp="1"/>
          </p:cNvSpPr>
          <p:nvPr/>
        </p:nvSpPr>
        <p:spPr>
          <a:xfrm xmlns:a="http://schemas.openxmlformats.org/drawingml/2006/main">
            <a:off x="533400" y="4286250"/>
            <a:ext cx="819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a:solidFill>
                  <a:srgbClr val="5E6670"/>
                </a:solidFill>
                <a:latin typeface="Arial"/>
                <a:ea typeface="Arial"/>
                <a:cs typeface="Arial"/>
              </a:defRPr>
            </a:pPr>
            <a:r>
              <a:rPr sz="2175">
                <a:solidFill>
                  <a:srgbClr val="5E6670"/>
                </a:solidFill>
                <a:latin typeface="Arial"/>
                <a:ea typeface="Arial"/>
                <a:cs typeface="Arial"/>
              </a:rPr>
              <a:t>Every computer science student should learn to shape their own environment.</a:t>
            </a:r>
          </a:p>
        </p:txBody>
      </p:sp>
      <p:sp>
        <p:nvSpPr>
          <p:cNvPr id="4" name="shrink-accent">
            <a:extLst xmlns:a="http://schemas.openxmlformats.org/drawingml/2006/main">
              <a:ext uri="{FF2B5EF4-FFF2-40B4-BE49-F238E27FC236}">
                <a16:creationId xmlns:a16="http://schemas.microsoft.com/office/drawing/2014/main" id="{E18659E3-0AFA-4154-997E-78B133A462E3}"/>
              </a:ext>
            </a:extLst>
          </p:cNvPr>
          <p:cNvSpPr>
            <a:spLocks xmlns:a="http://schemas.openxmlformats.org/drawingml/2006/main" noGrp="1"/>
          </p:cNvSpPr>
          <p:nvPr/>
        </p:nvSpPr>
        <p:spPr>
          <a:xfrm xmlns:a="http://schemas.openxmlformats.org/drawingml/2006/main">
            <a:off x="9715500" y="4191000"/>
            <a:ext cx="1619250" cy="1714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5" name="shrink-page">
            <a:extLst xmlns:a="http://schemas.openxmlformats.org/drawingml/2006/main">
              <a:ext uri="{FF2B5EF4-FFF2-40B4-BE49-F238E27FC236}">
                <a16:creationId xmlns:a16="http://schemas.microsoft.com/office/drawing/2014/main" id="{95ED25D4-0F96-445C-9C9B-9A0CC92D38B3}"/>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03</a:t>
            </a:r>
          </a:p>
        </p:txBody>
      </p:sp>
    </p:spTree>
    <p:extLst>
      <p:ext uri="{BB962C8B-B14F-4D97-AF65-F5344CB8AC3E}">
        <p14:creationId xmlns:p14="http://schemas.microsoft.com/office/powerpoint/2010/main" val="20521584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5">
            <a:extLst xmlns:a="http://schemas.openxmlformats.org/drawingml/2006/main">
              <a:ext uri="{FF2B5EF4-FFF2-40B4-BE49-F238E27FC236}">
                <a16:creationId xmlns:a16="http://schemas.microsoft.com/office/drawing/2014/main" id="{BF668EEC-EEE1-41F5-B248-0F1D66FD0AE6}"/>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THE OLD GATE</a:t>
            </a:r>
          </a:p>
        </p:txBody>
      </p:sp>
      <p:sp>
        <p:nvSpPr>
          <p:cNvPr id="2" name="title-5">
            <a:extLst xmlns:a="http://schemas.openxmlformats.org/drawingml/2006/main">
              <a:ext uri="{FF2B5EF4-FFF2-40B4-BE49-F238E27FC236}">
                <a16:creationId xmlns:a16="http://schemas.microsoft.com/office/drawing/2014/main" id="{73DA3907-E129-4402-934B-D46AA1DB0298}"/>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Customisation used to be a nerd hobby</a:t>
            </a:r>
          </a:p>
        </p:txBody>
      </p:sp>
      <p:sp>
        <p:nvSpPr>
          <p:cNvPr id="3" name="page-5">
            <a:extLst xmlns:a="http://schemas.openxmlformats.org/drawingml/2006/main">
              <a:ext uri="{FF2B5EF4-FFF2-40B4-BE49-F238E27FC236}">
                <a16:creationId xmlns:a16="http://schemas.microsoft.com/office/drawing/2014/main" id="{A6B1DCE2-D5D1-4244-9332-2FC373841590}"/>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04</a:t>
            </a:r>
          </a:p>
        </p:txBody>
      </p:sp>
      <p:sp>
        <p:nvSpPr>
          <p:cNvPr id="4" name="role-left-bg">
            <a:extLst xmlns:a="http://schemas.openxmlformats.org/drawingml/2006/main">
              <a:ext uri="{FF2B5EF4-FFF2-40B4-BE49-F238E27FC236}">
                <a16:creationId xmlns:a16="http://schemas.microsoft.com/office/drawing/2014/main" id="{805E4E1A-809C-472C-A504-8923185A864D}"/>
              </a:ext>
            </a:extLst>
          </p:cNvPr>
          <p:cNvSpPr>
            <a:spLocks xmlns:a="http://schemas.openxmlformats.org/drawingml/2006/main" noGrp="1"/>
          </p:cNvSpPr>
          <p:nvPr/>
        </p:nvSpPr>
        <p:spPr>
          <a:xfrm xmlns:a="http://schemas.openxmlformats.org/drawingml/2006/main">
            <a:off x="533400" y="2000250"/>
            <a:ext cx="5238750" cy="3714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role-right-bg">
            <a:extLst xmlns:a="http://schemas.openxmlformats.org/drawingml/2006/main">
              <a:ext uri="{FF2B5EF4-FFF2-40B4-BE49-F238E27FC236}">
                <a16:creationId xmlns:a16="http://schemas.microsoft.com/office/drawing/2014/main" id="{B8660D62-42D4-4193-AFF5-378C1535945D}"/>
              </a:ext>
            </a:extLst>
          </p:cNvPr>
          <p:cNvSpPr>
            <a:spLocks xmlns:a="http://schemas.openxmlformats.org/drawingml/2006/main" noGrp="1"/>
          </p:cNvSpPr>
          <p:nvPr/>
        </p:nvSpPr>
        <p:spPr>
          <a:xfrm xmlns:a="http://schemas.openxmlformats.org/drawingml/2006/main">
            <a:off x="6419850" y="2000250"/>
            <a:ext cx="5238750" cy="3714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role-left-title">
            <a:extLst xmlns:a="http://schemas.openxmlformats.org/drawingml/2006/main">
              <a:ext uri="{FF2B5EF4-FFF2-40B4-BE49-F238E27FC236}">
                <a16:creationId xmlns:a16="http://schemas.microsoft.com/office/drawing/2014/main" id="{1BC93D1F-A559-42B2-9512-E6D8E9DB3517}"/>
              </a:ext>
            </a:extLst>
          </p:cNvPr>
          <p:cNvSpPr>
            <a:spLocks xmlns:a="http://schemas.openxmlformats.org/drawingml/2006/main" noGrp="1"/>
          </p:cNvSpPr>
          <p:nvPr/>
        </p:nvSpPr>
        <p:spPr>
          <a:xfrm xmlns:a="http://schemas.openxmlformats.org/drawingml/2006/main">
            <a:off x="876300" y="2343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The old path</a:t>
            </a:r>
          </a:p>
        </p:txBody>
      </p:sp>
      <p:sp>
        <p:nvSpPr>
          <p:cNvPr id="7" name="role-right-title">
            <a:extLst xmlns:a="http://schemas.openxmlformats.org/drawingml/2006/main">
              <a:ext uri="{FF2B5EF4-FFF2-40B4-BE49-F238E27FC236}">
                <a16:creationId xmlns:a16="http://schemas.microsoft.com/office/drawing/2014/main" id="{DFE4E184-23E2-461C-A0A0-44CDEB28D5DE}"/>
              </a:ext>
            </a:extLst>
          </p:cNvPr>
          <p:cNvSpPr>
            <a:spLocks xmlns:a="http://schemas.openxmlformats.org/drawingml/2006/main" noGrp="1"/>
          </p:cNvSpPr>
          <p:nvPr/>
        </p:nvSpPr>
        <p:spPr>
          <a:xfrm xmlns:a="http://schemas.openxmlformats.org/drawingml/2006/main">
            <a:off x="6762750" y="2343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Who got in</a:t>
            </a:r>
          </a:p>
        </p:txBody>
      </p:sp>
      <p:sp>
        <p:nvSpPr>
          <p:cNvPr id="8" name="role-left-list">
            <a:extLst xmlns:a="http://schemas.openxmlformats.org/drawingml/2006/main">
              <a:ext uri="{FF2B5EF4-FFF2-40B4-BE49-F238E27FC236}">
                <a16:creationId xmlns:a16="http://schemas.microsoft.com/office/drawing/2014/main" id="{1BCF0FED-7DAC-496F-9FA7-58A3212CCDF5}"/>
              </a:ext>
            </a:extLst>
          </p:cNvPr>
          <p:cNvSpPr>
            <a:spLocks xmlns:a="http://schemas.openxmlformats.org/drawingml/2006/main" noGrp="1"/>
          </p:cNvSpPr>
          <p:nvPr/>
        </p:nvSpPr>
        <p:spPr>
          <a:xfrm xmlns:a="http://schemas.openxmlformats.org/drawingml/2006/main">
            <a:off x="876300" y="3086100"/>
            <a:ext cx="2857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Command line</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Config files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Documentation</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Trial and error</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Break things</a:t>
            </a:r>
          </a:p>
        </p:txBody>
      </p:sp>
      <p:sp>
        <p:nvSpPr>
          <p:cNvPr id="9" name="role-right-list">
            <a:extLst xmlns:a="http://schemas.openxmlformats.org/drawingml/2006/main">
              <a:ext uri="{FF2B5EF4-FFF2-40B4-BE49-F238E27FC236}">
                <a16:creationId xmlns:a16="http://schemas.microsoft.com/office/drawing/2014/main" id="{E0BCDEAE-50DC-4227-A42D-D98DC6F1F91E}"/>
              </a:ext>
            </a:extLst>
          </p:cNvPr>
          <p:cNvSpPr>
            <a:spLocks xmlns:a="http://schemas.openxmlformats.org/drawingml/2006/main" noGrp="1"/>
          </p:cNvSpPr>
          <p:nvPr/>
        </p:nvSpPr>
        <p:spPr>
          <a:xfrm xmlns:a="http://schemas.openxmlformats.org/drawingml/2006/main">
            <a:off x="6762750" y="3086100"/>
            <a:ext cx="4191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Time to tinker</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Technical language</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Debugging confidence</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Nerds like me</a:t>
            </a:r>
          </a:p>
        </p:txBody>
      </p:sp>
    </p:spTree>
    <p:extLst>
      <p:ext uri="{BB962C8B-B14F-4D97-AF65-F5344CB8AC3E}">
        <p14:creationId xmlns:p14="http://schemas.microsoft.com/office/powerpoint/2010/main" val="1855284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5">
            <a:extLst xmlns:a="http://schemas.openxmlformats.org/drawingml/2006/main">
              <a:ext uri="{FF2B5EF4-FFF2-40B4-BE49-F238E27FC236}">
                <a16:creationId xmlns:a16="http://schemas.microsoft.com/office/drawing/2014/main" id="{BF668EEC-EEE1-41F5-B248-0F1D66FD0AE6}"/>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WHAT AI CHANGES</a:t>
            </a:r>
          </a:p>
        </p:txBody>
      </p:sp>
      <p:sp>
        <p:nvSpPr>
          <p:cNvPr id="2" name="title-5">
            <a:extLst xmlns:a="http://schemas.openxmlformats.org/drawingml/2006/main">
              <a:ext uri="{FF2B5EF4-FFF2-40B4-BE49-F238E27FC236}">
                <a16:creationId xmlns:a16="http://schemas.microsoft.com/office/drawing/2014/main" id="{73DA3907-E129-4402-934B-D46AA1DB0298}"/>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Not knowing the syntax is no longer the blocker</a:t>
            </a:r>
          </a:p>
        </p:txBody>
      </p:sp>
      <p:sp>
        <p:nvSpPr>
          <p:cNvPr id="3" name="page-5">
            <a:extLst xmlns:a="http://schemas.openxmlformats.org/drawingml/2006/main">
              <a:ext uri="{FF2B5EF4-FFF2-40B4-BE49-F238E27FC236}">
                <a16:creationId xmlns:a16="http://schemas.microsoft.com/office/drawing/2014/main" id="{A6B1DCE2-D5D1-4244-9332-2FC373841590}"/>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05</a:t>
            </a:r>
          </a:p>
        </p:txBody>
      </p:sp>
      <p:sp>
        <p:nvSpPr>
          <p:cNvPr id="4" name="role-left-bg">
            <a:extLst xmlns:a="http://schemas.openxmlformats.org/drawingml/2006/main">
              <a:ext uri="{FF2B5EF4-FFF2-40B4-BE49-F238E27FC236}">
                <a16:creationId xmlns:a16="http://schemas.microsoft.com/office/drawing/2014/main" id="{805E4E1A-809C-472C-A504-8923185A864D}"/>
              </a:ext>
            </a:extLst>
          </p:cNvPr>
          <p:cNvSpPr>
            <a:spLocks xmlns:a="http://schemas.openxmlformats.org/drawingml/2006/main" noGrp="1"/>
          </p:cNvSpPr>
          <p:nvPr/>
        </p:nvSpPr>
        <p:spPr>
          <a:xfrm xmlns:a="http://schemas.openxmlformats.org/drawingml/2006/main">
            <a:off x="533400" y="2000250"/>
            <a:ext cx="5238750" cy="3714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role-right-bg">
            <a:extLst xmlns:a="http://schemas.openxmlformats.org/drawingml/2006/main">
              <a:ext uri="{FF2B5EF4-FFF2-40B4-BE49-F238E27FC236}">
                <a16:creationId xmlns:a16="http://schemas.microsoft.com/office/drawing/2014/main" id="{B8660D62-42D4-4193-AFF5-378C1535945D}"/>
              </a:ext>
            </a:extLst>
          </p:cNvPr>
          <p:cNvSpPr>
            <a:spLocks xmlns:a="http://schemas.openxmlformats.org/drawingml/2006/main" noGrp="1"/>
          </p:cNvSpPr>
          <p:nvPr/>
        </p:nvSpPr>
        <p:spPr>
          <a:xfrm xmlns:a="http://schemas.openxmlformats.org/drawingml/2006/main">
            <a:off x="6419850" y="2000250"/>
            <a:ext cx="5238750" cy="3714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role-left-title">
            <a:extLst xmlns:a="http://schemas.openxmlformats.org/drawingml/2006/main">
              <a:ext uri="{FF2B5EF4-FFF2-40B4-BE49-F238E27FC236}">
                <a16:creationId xmlns:a16="http://schemas.microsoft.com/office/drawing/2014/main" id="{1BC93D1F-A559-42B2-9512-E6D8E9DB3517}"/>
              </a:ext>
            </a:extLst>
          </p:cNvPr>
          <p:cNvSpPr>
            <a:spLocks xmlns:a="http://schemas.openxmlformats.org/drawingml/2006/main" noGrp="1"/>
          </p:cNvSpPr>
          <p:nvPr/>
        </p:nvSpPr>
        <p:spPr>
          <a:xfrm xmlns:a="http://schemas.openxmlformats.org/drawingml/2006/main">
            <a:off x="876300" y="2343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You can say</a:t>
            </a:r>
          </a:p>
        </p:txBody>
      </p:sp>
      <p:sp>
        <p:nvSpPr>
          <p:cNvPr id="7" name="role-right-title">
            <a:extLst xmlns:a="http://schemas.openxmlformats.org/drawingml/2006/main">
              <a:ext uri="{FF2B5EF4-FFF2-40B4-BE49-F238E27FC236}">
                <a16:creationId xmlns:a16="http://schemas.microsoft.com/office/drawing/2014/main" id="{DFE4E184-23E2-461C-A0A0-44CDEB28D5DE}"/>
              </a:ext>
            </a:extLst>
          </p:cNvPr>
          <p:cNvSpPr>
            <a:spLocks xmlns:a="http://schemas.openxmlformats.org/drawingml/2006/main" noGrp="1"/>
          </p:cNvSpPr>
          <p:nvPr/>
        </p:nvSpPr>
        <p:spPr>
          <a:xfrm xmlns:a="http://schemas.openxmlformats.org/drawingml/2006/main">
            <a:off x="6762750" y="2343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AI can supply</a:t>
            </a:r>
          </a:p>
        </p:txBody>
      </p:sp>
      <p:sp>
        <p:nvSpPr>
          <p:cNvPr id="8" name="role-left-list">
            <a:extLst xmlns:a="http://schemas.openxmlformats.org/drawingml/2006/main">
              <a:ext uri="{FF2B5EF4-FFF2-40B4-BE49-F238E27FC236}">
                <a16:creationId xmlns:a16="http://schemas.microsoft.com/office/drawing/2014/main" id="{1BCF0FED-7DAC-496F-9FA7-58A3212CCDF5}"/>
              </a:ext>
            </a:extLst>
          </p:cNvPr>
          <p:cNvSpPr>
            <a:spLocks xmlns:a="http://schemas.openxmlformats.org/drawingml/2006/main" noGrp="1"/>
          </p:cNvSpPr>
          <p:nvPr/>
        </p:nvSpPr>
        <p:spPr>
          <a:xfrm xmlns:a="http://schemas.openxmlformats.org/drawingml/2006/main">
            <a:off x="876300" y="3086100"/>
            <a:ext cx="2857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What annoys you</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Current steps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One example</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Private limits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What success means</a:t>
            </a:r>
          </a:p>
        </p:txBody>
      </p:sp>
      <p:sp>
        <p:nvSpPr>
          <p:cNvPr id="9" name="role-right-list">
            <a:extLst xmlns:a="http://schemas.openxmlformats.org/drawingml/2006/main">
              <a:ext uri="{FF2B5EF4-FFF2-40B4-BE49-F238E27FC236}">
                <a16:creationId xmlns:a16="http://schemas.microsoft.com/office/drawing/2014/main" id="{E0BCDEAE-50DC-4227-A42D-D98DC6F1F91E}"/>
              </a:ext>
            </a:extLst>
          </p:cNvPr>
          <p:cNvSpPr>
            <a:spLocks xmlns:a="http://schemas.openxmlformats.org/drawingml/2006/main" noGrp="1"/>
          </p:cNvSpPr>
          <p:nvPr/>
        </p:nvSpPr>
        <p:spPr>
          <a:xfrm xmlns:a="http://schemas.openxmlformats.org/drawingml/2006/main">
            <a:off x="6762750" y="3086100"/>
            <a:ext cx="4191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Unfamiliar syntax</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A working first draft</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Plain-language explanations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Small focused changes</a:t>
            </a:r>
          </a:p>
        </p:txBody>
      </p:sp>
    </p:spTree>
    <p:extLst>
      <p:ext uri="{BB962C8B-B14F-4D97-AF65-F5344CB8AC3E}">
        <p14:creationId xmlns:p14="http://schemas.microsoft.com/office/powerpoint/2010/main" val="1855284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4">
            <a:extLst xmlns:a="http://schemas.openxmlformats.org/drawingml/2006/main">
              <a:ext uri="{FF2B5EF4-FFF2-40B4-BE49-F238E27FC236}">
                <a16:creationId xmlns:a16="http://schemas.microsoft.com/office/drawing/2014/main" id="{62BC7B16-F0E4-4A8B-A676-F876815C1913}"/>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THE SWEET SPOT</a:t>
            </a:r>
          </a:p>
        </p:txBody>
      </p:sp>
      <p:sp>
        <p:nvSpPr>
          <p:cNvPr id="2" name="title-4">
            <a:extLst xmlns:a="http://schemas.openxmlformats.org/drawingml/2006/main">
              <a:ext uri="{FF2B5EF4-FFF2-40B4-BE49-F238E27FC236}">
                <a16:creationId xmlns:a16="http://schemas.microsoft.com/office/drawing/2014/main" id="{00118FBA-E4FA-4272-8C62-1E1F297B32D7}"/>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Software for one can be deliberately tiny</a:t>
            </a:r>
          </a:p>
        </p:txBody>
      </p:sp>
      <p:sp>
        <p:nvSpPr>
          <p:cNvPr id="3" name="page-4">
            <a:extLst xmlns:a="http://schemas.openxmlformats.org/drawingml/2006/main">
              <a:ext uri="{FF2B5EF4-FFF2-40B4-BE49-F238E27FC236}">
                <a16:creationId xmlns:a16="http://schemas.microsoft.com/office/drawing/2014/main" id="{04DF3D08-8CA2-43B8-88EE-BEB0801F4051}"/>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06</a:t>
            </a:r>
          </a:p>
        </p:txBody>
      </p:sp>
      <p:sp>
        <p:nvSpPr>
          <p:cNvPr id="4" name="one-number-0">
            <a:extLst xmlns:a="http://schemas.openxmlformats.org/drawingml/2006/main">
              <a:ext uri="{FF2B5EF4-FFF2-40B4-BE49-F238E27FC236}">
                <a16:creationId xmlns:a16="http://schemas.microsoft.com/office/drawing/2014/main" id="{6733D7A1-DB90-4243-A996-502121DE6F42}"/>
              </a:ext>
            </a:extLst>
          </p:cNvPr>
          <p:cNvSpPr>
            <a:spLocks xmlns:a="http://schemas.openxmlformats.org/drawingml/2006/main" noGrp="1"/>
          </p:cNvSpPr>
          <p:nvPr/>
        </p:nvSpPr>
        <p:spPr>
          <a:xfrm xmlns:a="http://schemas.openxmlformats.org/drawingml/2006/main">
            <a:off x="666750" y="2038350"/>
            <a:ext cx="114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800" b="1">
                <a:solidFill>
                  <a:srgbClr val="3D8DFF"/>
                </a:solidFill>
                <a:latin typeface="Arial"/>
                <a:ea typeface="Arial"/>
                <a:cs typeface="Arial"/>
              </a:defRPr>
            </a:pPr>
            <a:r>
              <a:rPr sz="7800" b="1">
                <a:solidFill>
                  <a:srgbClr val="3D8DFF"/>
                </a:solidFill>
                <a:latin typeface="Arial"/>
                <a:ea typeface="Arial"/>
                <a:cs typeface="Arial"/>
              </a:rPr>
              <a:t>1</a:t>
            </a:r>
          </a:p>
        </p:txBody>
      </p:sp>
      <p:sp>
        <p:nvSpPr>
          <p:cNvPr id="5" name="one-label-0">
            <a:extLst xmlns:a="http://schemas.openxmlformats.org/drawingml/2006/main">
              <a:ext uri="{FF2B5EF4-FFF2-40B4-BE49-F238E27FC236}">
                <a16:creationId xmlns:a16="http://schemas.microsoft.com/office/drawing/2014/main" id="{08443BD9-B154-4985-93C2-37EE63A950CF}"/>
              </a:ext>
            </a:extLst>
          </p:cNvPr>
          <p:cNvSpPr>
            <a:spLocks xmlns:a="http://schemas.openxmlformats.org/drawingml/2006/main" noGrp="1"/>
          </p:cNvSpPr>
          <p:nvPr/>
        </p:nvSpPr>
        <p:spPr>
          <a:xfrm xmlns:a="http://schemas.openxmlformats.org/drawingml/2006/main">
            <a:off x="1666875" y="23622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person</a:t>
            </a:r>
          </a:p>
        </p:txBody>
      </p:sp>
      <p:sp>
        <p:nvSpPr>
          <p:cNvPr id="6" name="one-body-0">
            <a:extLst xmlns:a="http://schemas.openxmlformats.org/drawingml/2006/main">
              <a:ext uri="{FF2B5EF4-FFF2-40B4-BE49-F238E27FC236}">
                <a16:creationId xmlns:a16="http://schemas.microsoft.com/office/drawing/2014/main" id="{7A5A64C0-D789-4609-ADF5-771F371B97CD}"/>
              </a:ext>
            </a:extLst>
          </p:cNvPr>
          <p:cNvSpPr>
            <a:spLocks xmlns:a="http://schemas.openxmlformats.org/drawingml/2006/main" noGrp="1"/>
          </p:cNvSpPr>
          <p:nvPr/>
        </p:nvSpPr>
        <p:spPr>
          <a:xfrm xmlns:a="http://schemas.openxmlformats.org/drawingml/2006/main">
            <a:off x="666750" y="3619500"/>
            <a:ext cx="304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a:solidFill>
                  <a:srgbClr val="5E6670"/>
                </a:solidFill>
                <a:latin typeface="Arial"/>
                <a:ea typeface="Arial"/>
                <a:cs typeface="Arial"/>
              </a:defRPr>
            </a:pPr>
            <a:r>
              <a:rPr sz="1800">
                <a:solidFill>
                  <a:srgbClr val="5E6670"/>
                </a:solidFill>
                <a:latin typeface="Arial"/>
                <a:ea typeface="Arial"/>
                <a:cs typeface="Arial"/>
              </a:rPr>
              <a:t>Start with your own work, study, hobby, or everyday life.</a:t>
            </a:r>
          </a:p>
        </p:txBody>
      </p:sp>
      <p:sp>
        <p:nvSpPr>
          <p:cNvPr id="7" name="one-number-1">
            <a:extLst xmlns:a="http://schemas.openxmlformats.org/drawingml/2006/main">
              <a:ext uri="{FF2B5EF4-FFF2-40B4-BE49-F238E27FC236}">
                <a16:creationId xmlns:a16="http://schemas.microsoft.com/office/drawing/2014/main" id="{48CE29F7-B92E-4088-9B0E-686E339426A7}"/>
              </a:ext>
            </a:extLst>
          </p:cNvPr>
          <p:cNvSpPr>
            <a:spLocks xmlns:a="http://schemas.openxmlformats.org/drawingml/2006/main" noGrp="1"/>
          </p:cNvSpPr>
          <p:nvPr/>
        </p:nvSpPr>
        <p:spPr>
          <a:xfrm xmlns:a="http://schemas.openxmlformats.org/drawingml/2006/main">
            <a:off x="4429125" y="2038350"/>
            <a:ext cx="114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800" b="1">
                <a:solidFill>
                  <a:srgbClr val="3D8DFF"/>
                </a:solidFill>
                <a:latin typeface="Arial"/>
                <a:ea typeface="Arial"/>
                <a:cs typeface="Arial"/>
              </a:defRPr>
            </a:pPr>
            <a:r>
              <a:rPr sz="7800" b="1">
                <a:solidFill>
                  <a:srgbClr val="3D8DFF"/>
                </a:solidFill>
                <a:latin typeface="Arial"/>
                <a:ea typeface="Arial"/>
                <a:cs typeface="Arial"/>
              </a:rPr>
              <a:t>1</a:t>
            </a:r>
          </a:p>
        </p:txBody>
      </p:sp>
      <p:sp>
        <p:nvSpPr>
          <p:cNvPr id="8" name="one-label-1">
            <a:extLst xmlns:a="http://schemas.openxmlformats.org/drawingml/2006/main">
              <a:ext uri="{FF2B5EF4-FFF2-40B4-BE49-F238E27FC236}">
                <a16:creationId xmlns:a16="http://schemas.microsoft.com/office/drawing/2014/main" id="{B2951D40-2A9B-4D33-8479-019BEFCC8D83}"/>
              </a:ext>
            </a:extLst>
          </p:cNvPr>
          <p:cNvSpPr>
            <a:spLocks xmlns:a="http://schemas.openxmlformats.org/drawingml/2006/main" noGrp="1"/>
          </p:cNvSpPr>
          <p:nvPr/>
        </p:nvSpPr>
        <p:spPr>
          <a:xfrm xmlns:a="http://schemas.openxmlformats.org/drawingml/2006/main">
            <a:off x="5429250" y="23622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repeated job</a:t>
            </a:r>
          </a:p>
        </p:txBody>
      </p:sp>
      <p:sp>
        <p:nvSpPr>
          <p:cNvPr id="9" name="one-body-1">
            <a:extLst xmlns:a="http://schemas.openxmlformats.org/drawingml/2006/main">
              <a:ext uri="{FF2B5EF4-FFF2-40B4-BE49-F238E27FC236}">
                <a16:creationId xmlns:a16="http://schemas.microsoft.com/office/drawing/2014/main" id="{BE634942-DAA3-4C09-B6A3-739D9DD02E4F}"/>
              </a:ext>
            </a:extLst>
          </p:cNvPr>
          <p:cNvSpPr>
            <a:spLocks xmlns:a="http://schemas.openxmlformats.org/drawingml/2006/main" noGrp="1"/>
          </p:cNvSpPr>
          <p:nvPr/>
        </p:nvSpPr>
        <p:spPr>
          <a:xfrm xmlns:a="http://schemas.openxmlformats.org/drawingml/2006/main">
            <a:off x="4429125" y="3619500"/>
            <a:ext cx="304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a:solidFill>
                  <a:srgbClr val="5E6670"/>
                </a:solidFill>
                <a:latin typeface="Arial"/>
                <a:ea typeface="Arial"/>
                <a:cs typeface="Arial"/>
              </a:defRPr>
            </a:pPr>
            <a:r>
              <a:rPr sz="1800">
                <a:solidFill>
                  <a:srgbClr val="5E6670"/>
                </a:solidFill>
                <a:latin typeface="Arial"/>
                <a:ea typeface="Arial"/>
                <a:cs typeface="Arial"/>
              </a:rPr>
              <a:t>Choose one moment of friction—not the whole system around it.</a:t>
            </a:r>
          </a:p>
        </p:txBody>
      </p:sp>
      <p:sp>
        <p:nvSpPr>
          <p:cNvPr id="10" name="one-number-2">
            <a:extLst xmlns:a="http://schemas.openxmlformats.org/drawingml/2006/main">
              <a:ext uri="{FF2B5EF4-FFF2-40B4-BE49-F238E27FC236}">
                <a16:creationId xmlns:a16="http://schemas.microsoft.com/office/drawing/2014/main" id="{F27C150A-42D9-40C9-B05D-1FEAB2741DA1}"/>
              </a:ext>
            </a:extLst>
          </p:cNvPr>
          <p:cNvSpPr>
            <a:spLocks xmlns:a="http://schemas.openxmlformats.org/drawingml/2006/main" noGrp="1"/>
          </p:cNvSpPr>
          <p:nvPr/>
        </p:nvSpPr>
        <p:spPr>
          <a:xfrm xmlns:a="http://schemas.openxmlformats.org/drawingml/2006/main">
            <a:off x="8191500" y="2038350"/>
            <a:ext cx="114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800" b="1">
                <a:solidFill>
                  <a:srgbClr val="3D8DFF"/>
                </a:solidFill>
                <a:latin typeface="Arial"/>
                <a:ea typeface="Arial"/>
                <a:cs typeface="Arial"/>
              </a:defRPr>
            </a:pPr>
            <a:r>
              <a:rPr sz="7800" b="1">
                <a:solidFill>
                  <a:srgbClr val="3D8DFF"/>
                </a:solidFill>
                <a:latin typeface="Arial"/>
                <a:ea typeface="Arial"/>
                <a:cs typeface="Arial"/>
              </a:rPr>
              <a:t>1</a:t>
            </a:r>
          </a:p>
        </p:txBody>
      </p:sp>
      <p:sp>
        <p:nvSpPr>
          <p:cNvPr id="11" name="one-label-2">
            <a:extLst xmlns:a="http://schemas.openxmlformats.org/drawingml/2006/main">
              <a:ext uri="{FF2B5EF4-FFF2-40B4-BE49-F238E27FC236}">
                <a16:creationId xmlns:a16="http://schemas.microsoft.com/office/drawing/2014/main" id="{DFA8FD3D-6120-4CB4-AFB3-0054D4E1C540}"/>
              </a:ext>
            </a:extLst>
          </p:cNvPr>
          <p:cNvSpPr>
            <a:spLocks xmlns:a="http://schemas.openxmlformats.org/drawingml/2006/main" noGrp="1"/>
          </p:cNvSpPr>
          <p:nvPr/>
        </p:nvSpPr>
        <p:spPr>
          <a:xfrm xmlns:a="http://schemas.openxmlformats.org/drawingml/2006/main">
            <a:off x="9191625" y="23622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useful outcome</a:t>
            </a:r>
          </a:p>
        </p:txBody>
      </p:sp>
      <p:sp>
        <p:nvSpPr>
          <p:cNvPr id="12" name="one-body-2">
            <a:extLst xmlns:a="http://schemas.openxmlformats.org/drawingml/2006/main">
              <a:ext uri="{FF2B5EF4-FFF2-40B4-BE49-F238E27FC236}">
                <a16:creationId xmlns:a16="http://schemas.microsoft.com/office/drawing/2014/main" id="{908E9F47-CD90-4AF6-8838-61776F655623}"/>
              </a:ext>
            </a:extLst>
          </p:cNvPr>
          <p:cNvSpPr>
            <a:spLocks xmlns:a="http://schemas.openxmlformats.org/drawingml/2006/main" noGrp="1"/>
          </p:cNvSpPr>
          <p:nvPr/>
        </p:nvSpPr>
        <p:spPr>
          <a:xfrm xmlns:a="http://schemas.openxmlformats.org/drawingml/2006/main">
            <a:off x="8191500" y="3619500"/>
            <a:ext cx="304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a:solidFill>
                  <a:srgbClr val="5E6670"/>
                </a:solidFill>
                <a:latin typeface="Arial"/>
                <a:ea typeface="Arial"/>
                <a:cs typeface="Arial"/>
              </a:defRPr>
            </a:pPr>
            <a:r>
              <a:rPr sz="1800">
                <a:solidFill>
                  <a:srgbClr val="5E6670"/>
                </a:solidFill>
                <a:latin typeface="Arial"/>
                <a:ea typeface="Arial"/>
                <a:cs typeface="Arial"/>
              </a:rPr>
              <a:t>Decide what ‘better’ looks like before building anything.</a:t>
            </a:r>
          </a:p>
        </p:txBody>
      </p:sp>
      <p:sp>
        <p:nvSpPr>
          <p:cNvPr id="13" name="one-bottom-rule">
            <a:extLst xmlns:a="http://schemas.openxmlformats.org/drawingml/2006/main">
              <a:ext uri="{FF2B5EF4-FFF2-40B4-BE49-F238E27FC236}">
                <a16:creationId xmlns:a16="http://schemas.microsoft.com/office/drawing/2014/main" id="{7F870CB3-3855-48DE-B075-27B6C0A93AA0}"/>
              </a:ext>
            </a:extLst>
          </p:cNvPr>
          <p:cNvSpPr>
            <a:spLocks xmlns:a="http://schemas.openxmlformats.org/drawingml/2006/main" noGrp="1"/>
          </p:cNvSpPr>
          <p:nvPr/>
        </p:nvSpPr>
        <p:spPr>
          <a:xfrm xmlns:a="http://schemas.openxmlformats.org/drawingml/2006/main">
            <a:off x="533400" y="5543550"/>
            <a:ext cx="1112520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4" name="one-bottom">
            <a:extLst xmlns:a="http://schemas.openxmlformats.org/drawingml/2006/main">
              <a:ext uri="{FF2B5EF4-FFF2-40B4-BE49-F238E27FC236}">
                <a16:creationId xmlns:a16="http://schemas.microsoft.com/office/drawing/2014/main" id="{28BD03B5-103C-49F4-9819-CE6E0C98144B}"/>
              </a:ext>
            </a:extLst>
          </p:cNvPr>
          <p:cNvSpPr>
            <a:spLocks xmlns:a="http://schemas.openxmlformats.org/drawingml/2006/main" noGrp="1"/>
          </p:cNvSpPr>
          <p:nvPr/>
        </p:nvSpPr>
        <p:spPr>
          <a:xfrm xmlns:a="http://schemas.openxmlformats.org/drawingml/2006/main">
            <a:off x="533400" y="58102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Small enough to understand. Useful enough to earn its place.</a:t>
            </a:r>
          </a:p>
        </p:txBody>
      </p:sp>
    </p:spTree>
    <p:extLst>
      <p:ext uri="{BB962C8B-B14F-4D97-AF65-F5344CB8AC3E}">
        <p14:creationId xmlns:p14="http://schemas.microsoft.com/office/powerpoint/2010/main" val="16974974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ro-kicker">
            <a:extLst xmlns:a="http://schemas.openxmlformats.org/drawingml/2006/main">
              <a:ext uri="{FF2B5EF4-FFF2-40B4-BE49-F238E27FC236}">
                <a16:creationId xmlns:a16="http://schemas.microsoft.com/office/drawing/2014/main" id="{68D26AE8-9F1C-4591-AB6A-C174D587A9AC}"/>
              </a:ext>
            </a:extLst>
          </p:cNvPr>
          <p:cNvSpPr>
            <a:spLocks xmlns:a="http://schemas.openxmlformats.org/drawingml/2006/main" noGrp="1"/>
          </p:cNvSpPr>
          <p:nvPr/>
        </p:nvSpPr>
        <p:spPr>
          <a:xfrm xmlns:a="http://schemas.openxmlformats.org/drawingml/2006/main">
            <a:off x="533400" y="4381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MY BROWSER, MY RULES</a:t>
            </a:r>
          </a:p>
        </p:txBody>
      </p:sp>
      <p:sp>
        <p:nvSpPr>
          <p:cNvPr id="2" name="hero-question">
            <a:extLst xmlns:a="http://schemas.openxmlformats.org/drawingml/2006/main">
              <a:ext uri="{FF2B5EF4-FFF2-40B4-BE49-F238E27FC236}">
                <a16:creationId xmlns:a16="http://schemas.microsoft.com/office/drawing/2014/main" id="{DF6FA93F-0F93-4AC9-9DB8-733C515D6B0D}"/>
              </a:ext>
            </a:extLst>
          </p:cNvPr>
          <p:cNvSpPr>
            <a:spLocks xmlns:a="http://schemas.openxmlformats.org/drawingml/2006/main" noGrp="1"/>
          </p:cNvSpPr>
          <p:nvPr/>
        </p:nvSpPr>
        <p:spPr>
          <a:xfrm xmlns:a="http://schemas.openxmlformats.org/drawingml/2006/main">
            <a:off x="533400" y="1352550"/>
            <a:ext cx="4191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a:solidFill>
                  <a:srgbClr val="111111"/>
                </a:solidFill>
                <a:latin typeface="Arial"/>
                <a:ea typeface="Arial"/>
                <a:cs typeface="Arial"/>
              </a:defRPr>
            </a:pPr>
            <a:r>
              <a:rPr sz="4350" b="1">
                <a:solidFill>
                  <a:srgbClr val="111111"/>
                </a:solidFill>
                <a:latin typeface="Arial"/>
                <a:ea typeface="Arial"/>
                <a:cs typeface="Arial"/>
              </a:rPr>
              <a:t>What would you want this page to do for you?</a:t>
            </a:r>
          </a:p>
        </p:txBody>
      </p:sp>
      <p:sp>
        <p:nvSpPr>
          <p:cNvPr id="3" name="hero-caption">
            <a:extLst xmlns:a="http://schemas.openxmlformats.org/drawingml/2006/main">
              <a:ext uri="{FF2B5EF4-FFF2-40B4-BE49-F238E27FC236}">
                <a16:creationId xmlns:a16="http://schemas.microsoft.com/office/drawing/2014/main" id="{3601CD0D-7055-4732-8BCF-7C7B4E2F4CA1}"/>
              </a:ext>
            </a:extLst>
          </p:cNvPr>
          <p:cNvSpPr>
            <a:spLocks xmlns:a="http://schemas.openxmlformats.org/drawingml/2006/main" noGrp="1"/>
          </p:cNvSpPr>
          <p:nvPr/>
        </p:nvSpPr>
        <p:spPr>
          <a:xfrm xmlns:a="http://schemas.openxmlformats.org/drawingml/2006/main">
            <a:off x="533400" y="4400550"/>
            <a:ext cx="4000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A greeting. Tasks. Useful links. Weather. One page that is unmistakably yours.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ec59b0ba21b423a"/>
          <a:stretch xmlns:a="http://schemas.openxmlformats.org/drawingml/2006/main"/>
        </p:blipFill>
        <p:spPr>
          <a:xfrm xmlns:a="http://schemas.openxmlformats.org/drawingml/2006/main">
            <a:off x="4476750" y="1336571"/>
            <a:ext cx="7334250" cy="4127709"/>
          </a:xfrm>
          <a:prstGeom xmlns:a="http://schemas.openxmlformats.org/drawingml/2006/main" prst="rect">
            <a:avLst/>
          </a:prstGeom>
        </p:spPr>
      </p:pic>
      <p:sp>
        <p:nvSpPr>
          <p:cNvPr id="5" name="hero-page">
            <a:extLst xmlns:a="http://schemas.openxmlformats.org/drawingml/2006/main">
              <a:ext uri="{FF2B5EF4-FFF2-40B4-BE49-F238E27FC236}">
                <a16:creationId xmlns:a16="http://schemas.microsoft.com/office/drawing/2014/main" id="{EF9EF8A5-FFF3-4509-A44D-991A3A8BF2A0}"/>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07</a:t>
            </a:r>
          </a:p>
        </p:txBody>
      </p:sp>
    </p:spTree>
    <p:extLst>
      <p:ext uri="{BB962C8B-B14F-4D97-AF65-F5344CB8AC3E}">
        <p14:creationId xmlns:p14="http://schemas.microsoft.com/office/powerpoint/2010/main" val="19047273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3">
            <a:extLst xmlns:a="http://schemas.openxmlformats.org/drawingml/2006/main">
              <a:ext uri="{FF2B5EF4-FFF2-40B4-BE49-F238E27FC236}">
                <a16:creationId xmlns:a16="http://schemas.microsoft.com/office/drawing/2014/main" id="{3157F5A6-0CAD-4A56-9052-F154BA5A461A}"/>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START WITH FRICTION</a:t>
            </a:r>
          </a:p>
        </p:txBody>
      </p:sp>
      <p:sp>
        <p:nvSpPr>
          <p:cNvPr id="2" name="title-3">
            <a:extLst xmlns:a="http://schemas.openxmlformats.org/drawingml/2006/main">
              <a:ext uri="{FF2B5EF4-FFF2-40B4-BE49-F238E27FC236}">
                <a16:creationId xmlns:a16="http://schemas.microsoft.com/office/drawing/2014/main" id="{3D923E4F-86F5-4B24-98CA-382CA321CABF}"/>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Start with the thing that keeps annoying you</a:t>
            </a:r>
          </a:p>
        </p:txBody>
      </p:sp>
      <p:sp>
        <p:nvSpPr>
          <p:cNvPr id="3" name="page-3">
            <a:extLst xmlns:a="http://schemas.openxmlformats.org/drawingml/2006/main">
              <a:ext uri="{FF2B5EF4-FFF2-40B4-BE49-F238E27FC236}">
                <a16:creationId xmlns:a16="http://schemas.microsoft.com/office/drawing/2014/main" id="{82917CC8-4BD6-4451-8ECC-69181354738D}"/>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08</a:t>
            </a:r>
          </a:p>
        </p:txBody>
      </p:sp>
      <p:sp>
        <p:nvSpPr>
          <p:cNvPr id="4" name="friction-lead">
            <a:extLst xmlns:a="http://schemas.openxmlformats.org/drawingml/2006/main">
              <a:ext uri="{FF2B5EF4-FFF2-40B4-BE49-F238E27FC236}">
                <a16:creationId xmlns:a16="http://schemas.microsoft.com/office/drawing/2014/main" id="{D1178FC0-78FD-4039-BB50-6111D16E6500}"/>
              </a:ext>
            </a:extLst>
          </p:cNvPr>
          <p:cNvSpPr>
            <a:spLocks xmlns:a="http://schemas.openxmlformats.org/drawingml/2006/main" noGrp="1"/>
          </p:cNvSpPr>
          <p:nvPr/>
        </p:nvSpPr>
        <p:spPr>
          <a:xfrm xmlns:a="http://schemas.openxmlformats.org/drawingml/2006/main">
            <a:off x="533400" y="179070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5E6670"/>
                </a:solidFill>
                <a:latin typeface="Arial"/>
                <a:ea typeface="Arial"/>
                <a:cs typeface="Arial"/>
              </a:defRPr>
            </a:pPr>
            <a:r>
              <a:rPr sz="2025">
                <a:solidFill>
                  <a:srgbClr val="5E6670"/>
                </a:solidFill>
                <a:latin typeface="Arial"/>
                <a:ea typeface="Arial"/>
                <a:cs typeface="Arial"/>
              </a:rPr>
              <a:t>Tiny tools often begin with a sentence you have stopped saying out loud:</a:t>
            </a:r>
          </a:p>
        </p:txBody>
      </p:sp>
      <p:sp>
        <p:nvSpPr>
          <p:cNvPr id="5" name="column-rule-1">
            <a:extLst xmlns:a="http://schemas.openxmlformats.org/drawingml/2006/main">
              <a:ext uri="{FF2B5EF4-FFF2-40B4-BE49-F238E27FC236}">
                <a16:creationId xmlns:a16="http://schemas.microsoft.com/office/drawing/2014/main" id="{33AAB865-4638-43B2-9C65-352F87FB81B5}"/>
              </a:ext>
            </a:extLst>
          </p:cNvPr>
          <p:cNvSpPr>
            <a:spLocks xmlns:a="http://schemas.openxmlformats.org/drawingml/2006/main" noGrp="1"/>
          </p:cNvSpPr>
          <p:nvPr/>
        </p:nvSpPr>
        <p:spPr>
          <a:xfrm xmlns:a="http://schemas.openxmlformats.org/drawingml/2006/main">
            <a:off x="533400" y="2933700"/>
            <a:ext cx="3333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6" name="column-label-1">
            <a:extLst xmlns:a="http://schemas.openxmlformats.org/drawingml/2006/main">
              <a:ext uri="{FF2B5EF4-FFF2-40B4-BE49-F238E27FC236}">
                <a16:creationId xmlns:a16="http://schemas.microsoft.com/office/drawing/2014/main" id="{1E9CFC72-7C3F-4528-8857-1C44E7466A84}"/>
              </a:ext>
            </a:extLst>
          </p:cNvPr>
          <p:cNvSpPr>
            <a:spLocks xmlns:a="http://schemas.openxmlformats.org/drawingml/2006/main" noGrp="1"/>
          </p:cNvSpPr>
          <p:nvPr/>
        </p:nvSpPr>
        <p:spPr>
          <a:xfrm xmlns:a="http://schemas.openxmlformats.org/drawingml/2006/main">
            <a:off x="533400" y="3162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“I copy this again.”</a:t>
            </a:r>
          </a:p>
        </p:txBody>
      </p:sp>
      <p:sp>
        <p:nvSpPr>
          <p:cNvPr id="7" name="column-body-1">
            <a:extLst xmlns:a="http://schemas.openxmlformats.org/drawingml/2006/main">
              <a:ext uri="{FF2B5EF4-FFF2-40B4-BE49-F238E27FC236}">
                <a16:creationId xmlns:a16="http://schemas.microsoft.com/office/drawing/2014/main" id="{747F8E1E-F99C-4740-8C90-67F9DF92BB67}"/>
              </a:ext>
            </a:extLst>
          </p:cNvPr>
          <p:cNvSpPr>
            <a:spLocks xmlns:a="http://schemas.openxmlformats.org/drawingml/2006/main" noGrp="1"/>
          </p:cNvSpPr>
          <p:nvPr/>
        </p:nvSpPr>
        <p:spPr>
          <a:xfrm xmlns:a="http://schemas.openxmlformats.org/drawingml/2006/main">
            <a:off x="533400" y="3810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Moving the same information between places, then cleaning it up by hand.</a:t>
            </a:r>
          </a:p>
        </p:txBody>
      </p:sp>
      <p:sp>
        <p:nvSpPr>
          <p:cNvPr id="8" name="column-rule-2">
            <a:extLst xmlns:a="http://schemas.openxmlformats.org/drawingml/2006/main">
              <a:ext uri="{FF2B5EF4-FFF2-40B4-BE49-F238E27FC236}">
                <a16:creationId xmlns:a16="http://schemas.microsoft.com/office/drawing/2014/main" id="{46735238-D97A-4E31-8C80-AD86F9EA9148}"/>
              </a:ext>
            </a:extLst>
          </p:cNvPr>
          <p:cNvSpPr>
            <a:spLocks xmlns:a="http://schemas.openxmlformats.org/drawingml/2006/main" noGrp="1"/>
          </p:cNvSpPr>
          <p:nvPr/>
        </p:nvSpPr>
        <p:spPr>
          <a:xfrm xmlns:a="http://schemas.openxmlformats.org/drawingml/2006/main">
            <a:off x="4429125" y="2933700"/>
            <a:ext cx="3333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9" name="column-label-2">
            <a:extLst xmlns:a="http://schemas.openxmlformats.org/drawingml/2006/main">
              <a:ext uri="{FF2B5EF4-FFF2-40B4-BE49-F238E27FC236}">
                <a16:creationId xmlns:a16="http://schemas.microsoft.com/office/drawing/2014/main" id="{993695B1-F485-4777-9D1F-00BF385346D7}"/>
              </a:ext>
            </a:extLst>
          </p:cNvPr>
          <p:cNvSpPr>
            <a:spLocks xmlns:a="http://schemas.openxmlformats.org/drawingml/2006/main" noGrp="1"/>
          </p:cNvSpPr>
          <p:nvPr/>
        </p:nvSpPr>
        <p:spPr>
          <a:xfrm xmlns:a="http://schemas.openxmlformats.org/drawingml/2006/main">
            <a:off x="4429125" y="3162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“I rearrange this again.”</a:t>
            </a:r>
          </a:p>
        </p:txBody>
      </p:sp>
      <p:sp>
        <p:nvSpPr>
          <p:cNvPr id="10" name="column-body-2">
            <a:extLst xmlns:a="http://schemas.openxmlformats.org/drawingml/2006/main">
              <a:ext uri="{FF2B5EF4-FFF2-40B4-BE49-F238E27FC236}">
                <a16:creationId xmlns:a16="http://schemas.microsoft.com/office/drawing/2014/main" id="{10AAB7B8-41A4-495C-87A1-A783C960B651}"/>
              </a:ext>
            </a:extLst>
          </p:cNvPr>
          <p:cNvSpPr>
            <a:spLocks xmlns:a="http://schemas.openxmlformats.org/drawingml/2006/main" noGrp="1"/>
          </p:cNvSpPr>
          <p:nvPr/>
        </p:nvSpPr>
        <p:spPr>
          <a:xfrm xmlns:a="http://schemas.openxmlformats.org/drawingml/2006/main">
            <a:off x="4429125" y="3810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Turning messy notes, lists, or dates into the same useful structure.</a:t>
            </a:r>
          </a:p>
        </p:txBody>
      </p:sp>
      <p:sp>
        <p:nvSpPr>
          <p:cNvPr id="11" name="column-rule-3">
            <a:extLst xmlns:a="http://schemas.openxmlformats.org/drawingml/2006/main">
              <a:ext uri="{FF2B5EF4-FFF2-40B4-BE49-F238E27FC236}">
                <a16:creationId xmlns:a16="http://schemas.microsoft.com/office/drawing/2014/main" id="{725A0005-E0F6-41DA-9042-0F7130465BD3}"/>
              </a:ext>
            </a:extLst>
          </p:cNvPr>
          <p:cNvSpPr>
            <a:spLocks xmlns:a="http://schemas.openxmlformats.org/drawingml/2006/main" noGrp="1"/>
          </p:cNvSpPr>
          <p:nvPr/>
        </p:nvSpPr>
        <p:spPr>
          <a:xfrm xmlns:a="http://schemas.openxmlformats.org/drawingml/2006/main">
            <a:off x="8324850" y="2933700"/>
            <a:ext cx="3333750" cy="0"/>
          </a:xfrm>
          <a:prstGeom xmlns:a="http://schemas.openxmlformats.org/drawingml/2006/main" prst="line">
            <a:avLst/>
          </a:prstGeom>
          <a:noFill xmlns:a="http://schemas.openxmlformats.org/drawingml/2006/main"/>
          <a:ln xmlns:a="http://schemas.openxmlformats.org/drawingml/2006/main" w="47625">
            <a:solidFill>
              <a:srgbClr val="3D8DFF"/>
            </a:solidFill>
            <a:prstDash val="solid"/>
          </a:ln>
        </p:spPr>
      </p:sp>
      <p:sp>
        <p:nvSpPr>
          <p:cNvPr id="12" name="column-label-3">
            <a:extLst xmlns:a="http://schemas.openxmlformats.org/drawingml/2006/main">
              <a:ext uri="{FF2B5EF4-FFF2-40B4-BE49-F238E27FC236}">
                <a16:creationId xmlns:a16="http://schemas.microsoft.com/office/drawing/2014/main" id="{60DAE47D-E665-4E33-9F7B-D0CCD37932DC}"/>
              </a:ext>
            </a:extLst>
          </p:cNvPr>
          <p:cNvSpPr>
            <a:spLocks xmlns:a="http://schemas.openxmlformats.org/drawingml/2006/main" noGrp="1"/>
          </p:cNvSpPr>
          <p:nvPr/>
        </p:nvSpPr>
        <p:spPr>
          <a:xfrm xmlns:a="http://schemas.openxmlformats.org/drawingml/2006/main">
            <a:off x="8324850" y="316230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“I click this again.”</a:t>
            </a:r>
          </a:p>
        </p:txBody>
      </p:sp>
      <p:sp>
        <p:nvSpPr>
          <p:cNvPr id="13" name="column-body-3">
            <a:extLst xmlns:a="http://schemas.openxmlformats.org/drawingml/2006/main">
              <a:ext uri="{FF2B5EF4-FFF2-40B4-BE49-F238E27FC236}">
                <a16:creationId xmlns:a16="http://schemas.microsoft.com/office/drawing/2014/main" id="{109593F0-14DD-4CB5-95DE-7C598310B1D6}"/>
              </a:ext>
            </a:extLst>
          </p:cNvPr>
          <p:cNvSpPr>
            <a:spLocks xmlns:a="http://schemas.openxmlformats.org/drawingml/2006/main" noGrp="1"/>
          </p:cNvSpPr>
          <p:nvPr/>
        </p:nvSpPr>
        <p:spPr>
          <a:xfrm xmlns:a="http://schemas.openxmlformats.org/drawingml/2006/main">
            <a:off x="8324850" y="38100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Repeating a small sequence because no existing tool fits exactly.</a:t>
            </a:r>
          </a:p>
        </p:txBody>
      </p:sp>
    </p:spTree>
    <p:extLst>
      <p:ext uri="{BB962C8B-B14F-4D97-AF65-F5344CB8AC3E}">
        <p14:creationId xmlns:p14="http://schemas.microsoft.com/office/powerpoint/2010/main" val="14310413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5">
            <a:extLst xmlns:a="http://schemas.openxmlformats.org/drawingml/2006/main">
              <a:ext uri="{FF2B5EF4-FFF2-40B4-BE49-F238E27FC236}">
                <a16:creationId xmlns:a16="http://schemas.microsoft.com/office/drawing/2014/main" id="{BF668EEC-EEE1-41F5-B248-0F1D66FD0AE6}"/>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YOU DO NOT NEED TO CODE</a:t>
            </a:r>
          </a:p>
        </p:txBody>
      </p:sp>
      <p:sp>
        <p:nvSpPr>
          <p:cNvPr id="2" name="title-5">
            <a:extLst xmlns:a="http://schemas.openxmlformats.org/drawingml/2006/main">
              <a:ext uri="{FF2B5EF4-FFF2-40B4-BE49-F238E27FC236}">
                <a16:creationId xmlns:a16="http://schemas.microsoft.com/office/drawing/2014/main" id="{73DA3907-E129-4402-934B-D46AA1DB0298}"/>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Your job is to say what good looks like</a:t>
            </a:r>
          </a:p>
        </p:txBody>
      </p:sp>
      <p:sp>
        <p:nvSpPr>
          <p:cNvPr id="3" name="page-5">
            <a:extLst xmlns:a="http://schemas.openxmlformats.org/drawingml/2006/main">
              <a:ext uri="{FF2B5EF4-FFF2-40B4-BE49-F238E27FC236}">
                <a16:creationId xmlns:a16="http://schemas.microsoft.com/office/drawing/2014/main" id="{A6B1DCE2-D5D1-4244-9332-2FC373841590}"/>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09</a:t>
            </a:r>
          </a:p>
        </p:txBody>
      </p:sp>
      <p:sp>
        <p:nvSpPr>
          <p:cNvPr id="4" name="role-left-bg">
            <a:extLst xmlns:a="http://schemas.openxmlformats.org/drawingml/2006/main">
              <a:ext uri="{FF2B5EF4-FFF2-40B4-BE49-F238E27FC236}">
                <a16:creationId xmlns:a16="http://schemas.microsoft.com/office/drawing/2014/main" id="{805E4E1A-809C-472C-A504-8923185A864D}"/>
              </a:ext>
            </a:extLst>
          </p:cNvPr>
          <p:cNvSpPr>
            <a:spLocks xmlns:a="http://schemas.openxmlformats.org/drawingml/2006/main" noGrp="1"/>
          </p:cNvSpPr>
          <p:nvPr/>
        </p:nvSpPr>
        <p:spPr>
          <a:xfrm xmlns:a="http://schemas.openxmlformats.org/drawingml/2006/main">
            <a:off x="533400" y="2000250"/>
            <a:ext cx="5238750" cy="3714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role-right-bg">
            <a:extLst xmlns:a="http://schemas.openxmlformats.org/drawingml/2006/main">
              <a:ext uri="{FF2B5EF4-FFF2-40B4-BE49-F238E27FC236}">
                <a16:creationId xmlns:a16="http://schemas.microsoft.com/office/drawing/2014/main" id="{B8660D62-42D4-4193-AFF5-378C1535945D}"/>
              </a:ext>
            </a:extLst>
          </p:cNvPr>
          <p:cNvSpPr>
            <a:spLocks xmlns:a="http://schemas.openxmlformats.org/drawingml/2006/main" noGrp="1"/>
          </p:cNvSpPr>
          <p:nvPr/>
        </p:nvSpPr>
        <p:spPr>
          <a:xfrm xmlns:a="http://schemas.openxmlformats.org/drawingml/2006/main">
            <a:off x="6419850" y="2000250"/>
            <a:ext cx="5238750" cy="3714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role-left-title">
            <a:extLst xmlns:a="http://schemas.openxmlformats.org/drawingml/2006/main">
              <a:ext uri="{FF2B5EF4-FFF2-40B4-BE49-F238E27FC236}">
                <a16:creationId xmlns:a16="http://schemas.microsoft.com/office/drawing/2014/main" id="{1BC93D1F-A559-42B2-9512-E6D8E9DB3517}"/>
              </a:ext>
            </a:extLst>
          </p:cNvPr>
          <p:cNvSpPr>
            <a:spLocks xmlns:a="http://schemas.openxmlformats.org/drawingml/2006/main" noGrp="1"/>
          </p:cNvSpPr>
          <p:nvPr/>
        </p:nvSpPr>
        <p:spPr>
          <a:xfrm xmlns:a="http://schemas.openxmlformats.org/drawingml/2006/main">
            <a:off x="876300" y="2343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You bring</a:t>
            </a:r>
          </a:p>
        </p:txBody>
      </p:sp>
      <p:sp>
        <p:nvSpPr>
          <p:cNvPr id="7" name="role-right-title">
            <a:extLst xmlns:a="http://schemas.openxmlformats.org/drawingml/2006/main">
              <a:ext uri="{FF2B5EF4-FFF2-40B4-BE49-F238E27FC236}">
                <a16:creationId xmlns:a16="http://schemas.microsoft.com/office/drawing/2014/main" id="{DFE4E184-23E2-461C-A0A0-44CDEB28D5DE}"/>
              </a:ext>
            </a:extLst>
          </p:cNvPr>
          <p:cNvSpPr>
            <a:spLocks xmlns:a="http://schemas.openxmlformats.org/drawingml/2006/main" noGrp="1"/>
          </p:cNvSpPr>
          <p:nvPr/>
        </p:nvSpPr>
        <p:spPr>
          <a:xfrm xmlns:a="http://schemas.openxmlformats.org/drawingml/2006/main">
            <a:off x="6762750" y="2343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AI can bring</a:t>
            </a:r>
          </a:p>
        </p:txBody>
      </p:sp>
      <p:sp>
        <p:nvSpPr>
          <p:cNvPr id="8" name="role-left-list">
            <a:extLst xmlns:a="http://schemas.openxmlformats.org/drawingml/2006/main">
              <a:ext uri="{FF2B5EF4-FFF2-40B4-BE49-F238E27FC236}">
                <a16:creationId xmlns:a16="http://schemas.microsoft.com/office/drawing/2014/main" id="{1BCF0FED-7DAC-496F-9FA7-58A3212CCDF5}"/>
              </a:ext>
            </a:extLst>
          </p:cNvPr>
          <p:cNvSpPr>
            <a:spLocks xmlns:a="http://schemas.openxmlformats.org/drawingml/2006/main" noGrp="1"/>
          </p:cNvSpPr>
          <p:nvPr/>
        </p:nvSpPr>
        <p:spPr>
          <a:xfrm xmlns:a="http://schemas.openxmlformats.org/drawingml/2006/main">
            <a:off x="876300" y="3086100"/>
            <a:ext cx="2857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Purpose</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Examples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Boundaries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Judgement</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Tests</a:t>
            </a:r>
          </a:p>
        </p:txBody>
      </p:sp>
      <p:sp>
        <p:nvSpPr>
          <p:cNvPr id="9" name="role-right-list">
            <a:extLst xmlns:a="http://schemas.openxmlformats.org/drawingml/2006/main">
              <a:ext uri="{FF2B5EF4-FFF2-40B4-BE49-F238E27FC236}">
                <a16:creationId xmlns:a16="http://schemas.microsoft.com/office/drawing/2014/main" id="{E0BCDEAE-50DC-4227-A42D-D98DC6F1F91E}"/>
              </a:ext>
            </a:extLst>
          </p:cNvPr>
          <p:cNvSpPr>
            <a:spLocks xmlns:a="http://schemas.openxmlformats.org/drawingml/2006/main" noGrp="1"/>
          </p:cNvSpPr>
          <p:nvPr/>
        </p:nvSpPr>
        <p:spPr>
          <a:xfrm xmlns:a="http://schemas.openxmlformats.org/drawingml/2006/main">
            <a:off x="6762750" y="3086100"/>
            <a:ext cx="4191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Unfamiliar syntax</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A first draft</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Plain-language explanations</a:t>
            </a:r>
          </a:p>
          <a:p xmlns:a="http://schemas.openxmlformats.org/drawingml/2006/main">
            <a:pPr algn="l">
              <a:lnSpc>
                <a:spcPct val="134000"/>
              </a:lnSpc>
              <a:buNone/>
              <a:defRPr sz="2325">
                <a:solidFill>
                  <a:srgbClr val="111111"/>
                </a:solidFill>
                <a:latin typeface="Arial"/>
                <a:ea typeface="Arial"/>
                <a:cs typeface="Arial"/>
              </a:defRPr>
            </a:pPr>
            <a:r>
              <a:rPr sz="2325">
                <a:solidFill>
                  <a:srgbClr val="111111"/>
                </a:solidFill>
                <a:latin typeface="Arial"/>
                <a:ea typeface="Arial"/>
                <a:cs typeface="Arial"/>
              </a:rPr>
              <a:t>Focused changes</a:t>
            </a:r>
          </a:p>
        </p:txBody>
      </p:sp>
    </p:spTree>
    <p:extLst>
      <p:ext uri="{BB962C8B-B14F-4D97-AF65-F5344CB8AC3E}">
        <p14:creationId xmlns:p14="http://schemas.microsoft.com/office/powerpoint/2010/main" val="1855284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10">
            <a:extLst xmlns:a="http://schemas.openxmlformats.org/drawingml/2006/main">
              <a:ext uri="{FF2B5EF4-FFF2-40B4-BE49-F238E27FC236}">
                <a16:creationId xmlns:a16="http://schemas.microsoft.com/office/drawing/2014/main" id="{94CA24EC-08EF-4F7B-9A01-55673C49D118}"/>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BYOD, IF YOU LIKE</a:t>
            </a:r>
          </a:p>
        </p:txBody>
      </p:sp>
      <p:sp>
        <p:nvSpPr>
          <p:cNvPr id="2" name="title-10">
            <a:extLst xmlns:a="http://schemas.openxmlformats.org/drawingml/2006/main">
              <a:ext uri="{FF2B5EF4-FFF2-40B4-BE49-F238E27FC236}">
                <a16:creationId xmlns:a16="http://schemas.microsoft.com/office/drawing/2014/main" id="{9195A823-DCB8-42C0-BFF4-CC999F4C7B59}"/>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Watching is fine. Following along is optional.</a:t>
            </a:r>
          </a:p>
        </p:txBody>
      </p:sp>
      <p:sp>
        <p:nvSpPr>
          <p:cNvPr id="3" name="page-10">
            <a:extLst xmlns:a="http://schemas.openxmlformats.org/drawingml/2006/main">
              <a:ext uri="{FF2B5EF4-FFF2-40B4-BE49-F238E27FC236}">
                <a16:creationId xmlns:a16="http://schemas.microsoft.com/office/drawing/2014/main" id="{1EEAC21B-4F76-417E-A56A-4B76722A82EF}"/>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10</a:t>
            </a:r>
          </a:p>
        </p:txBody>
      </p:sp>
      <p:sp>
        <p:nvSpPr>
          <p:cNvPr id="4" name="lane-a-bg">
            <a:extLst xmlns:a="http://schemas.openxmlformats.org/drawingml/2006/main">
              <a:ext uri="{FF2B5EF4-FFF2-40B4-BE49-F238E27FC236}">
                <a16:creationId xmlns:a16="http://schemas.microsoft.com/office/drawing/2014/main" id="{08E4E8CD-207D-48CA-B2D1-5EEC7B589311}"/>
              </a:ext>
            </a:extLst>
          </p:cNvPr>
          <p:cNvSpPr>
            <a:spLocks xmlns:a="http://schemas.openxmlformats.org/drawingml/2006/main" noGrp="1"/>
          </p:cNvSpPr>
          <p:nvPr/>
        </p:nvSpPr>
        <p:spPr>
          <a:xfrm xmlns:a="http://schemas.openxmlformats.org/drawingml/2006/main">
            <a:off x="533400" y="2095500"/>
            <a:ext cx="5219700" cy="3333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ane-b-bg">
            <a:extLst xmlns:a="http://schemas.openxmlformats.org/drawingml/2006/main">
              <a:ext uri="{FF2B5EF4-FFF2-40B4-BE49-F238E27FC236}">
                <a16:creationId xmlns:a16="http://schemas.microsoft.com/office/drawing/2014/main" id="{99105EB0-8675-4EE8-BF86-BBAF3F1247BD}"/>
              </a:ext>
            </a:extLst>
          </p:cNvPr>
          <p:cNvSpPr>
            <a:spLocks xmlns:a="http://schemas.openxmlformats.org/drawingml/2006/main" noGrp="1"/>
          </p:cNvSpPr>
          <p:nvPr/>
        </p:nvSpPr>
        <p:spPr>
          <a:xfrm xmlns:a="http://schemas.openxmlformats.org/drawingml/2006/main">
            <a:off x="6438900" y="2095500"/>
            <a:ext cx="5219700" cy="3333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lane-a-title">
            <a:extLst xmlns:a="http://schemas.openxmlformats.org/drawingml/2006/main">
              <a:ext uri="{FF2B5EF4-FFF2-40B4-BE49-F238E27FC236}">
                <a16:creationId xmlns:a16="http://schemas.microsoft.com/office/drawing/2014/main" id="{45D00E57-C397-4563-9558-F4A0999EBD39}"/>
              </a:ext>
            </a:extLst>
          </p:cNvPr>
          <p:cNvSpPr>
            <a:spLocks xmlns:a="http://schemas.openxmlformats.org/drawingml/2006/main" noGrp="1"/>
          </p:cNvSpPr>
          <p:nvPr/>
        </p:nvSpPr>
        <p:spPr>
          <a:xfrm xmlns:a="http://schemas.openxmlformats.org/drawingml/2006/main">
            <a:off x="876300" y="24574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775" b="1">
                <a:solidFill>
                  <a:srgbClr val="111111"/>
                </a:solidFill>
                <a:latin typeface="Arial"/>
                <a:ea typeface="Arial"/>
                <a:cs typeface="Arial"/>
              </a:defRPr>
            </a:pPr>
            <a:r>
              <a:rPr sz="2775" b="1">
                <a:solidFill>
                  <a:srgbClr val="111111"/>
                </a:solidFill>
                <a:latin typeface="Arial"/>
                <a:ea typeface="Arial"/>
                <a:cs typeface="Arial"/>
              </a:rPr>
              <a:t>Just watch</a:t>
            </a:r>
          </a:p>
        </p:txBody>
      </p:sp>
      <p:sp>
        <p:nvSpPr>
          <p:cNvPr id="7" name="lane-a-sub">
            <a:extLst xmlns:a="http://schemas.openxmlformats.org/drawingml/2006/main">
              <a:ext uri="{FF2B5EF4-FFF2-40B4-BE49-F238E27FC236}">
                <a16:creationId xmlns:a16="http://schemas.microsoft.com/office/drawing/2014/main" id="{D5A7C274-927A-405F-9D1F-11EADEF81711}"/>
              </a:ext>
            </a:extLst>
          </p:cNvPr>
          <p:cNvSpPr>
            <a:spLocks xmlns:a="http://schemas.openxmlformats.org/drawingml/2006/main" noGrp="1"/>
          </p:cNvSpPr>
          <p:nvPr/>
        </p:nvSpPr>
        <p:spPr>
          <a:xfrm xmlns:a="http://schemas.openxmlformats.org/drawingml/2006/main">
            <a:off x="876300" y="30289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a:solidFill>
                  <a:srgbClr val="5E6670"/>
                </a:solidFill>
                <a:latin typeface="Arial"/>
                <a:ea typeface="Arial"/>
                <a:cs typeface="Arial"/>
              </a:defRPr>
            </a:pPr>
            <a:r>
              <a:rPr sz="1800">
                <a:solidFill>
                  <a:srgbClr val="5E6670"/>
                </a:solidFill>
                <a:latin typeface="Arial"/>
                <a:ea typeface="Arial"/>
                <a:cs typeface="Arial"/>
              </a:rPr>
              <a:t>Listen for the choices, not the code.</a:t>
            </a:r>
          </a:p>
        </p:txBody>
      </p:sp>
      <p:sp>
        <p:nvSpPr>
          <p:cNvPr id="8" name="lane-a-body">
            <a:extLst xmlns:a="http://schemas.openxmlformats.org/drawingml/2006/main">
              <a:ext uri="{FF2B5EF4-FFF2-40B4-BE49-F238E27FC236}">
                <a16:creationId xmlns:a16="http://schemas.microsoft.com/office/drawing/2014/main" id="{BE79A709-BFFF-4588-BB6F-EA1E83244638}"/>
              </a:ext>
            </a:extLst>
          </p:cNvPr>
          <p:cNvSpPr>
            <a:spLocks xmlns:a="http://schemas.openxmlformats.org/drawingml/2006/main" noGrp="1"/>
          </p:cNvSpPr>
          <p:nvPr/>
        </p:nvSpPr>
        <p:spPr>
          <a:xfrm xmlns:a="http://schemas.openxmlformats.org/drawingml/2006/main">
            <a:off x="876300" y="3638550"/>
            <a:ext cx="3714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How the problem is framed</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How the scope shrinks</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How tests drive changes</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Where I slow down</a:t>
            </a:r>
          </a:p>
        </p:txBody>
      </p:sp>
      <p:sp>
        <p:nvSpPr>
          <p:cNvPr id="9" name="lane-b-title">
            <a:extLst xmlns:a="http://schemas.openxmlformats.org/drawingml/2006/main">
              <a:ext uri="{FF2B5EF4-FFF2-40B4-BE49-F238E27FC236}">
                <a16:creationId xmlns:a16="http://schemas.microsoft.com/office/drawing/2014/main" id="{6EFBB39E-06E6-4B51-9881-D32DAFF22547}"/>
              </a:ext>
            </a:extLst>
          </p:cNvPr>
          <p:cNvSpPr>
            <a:spLocks xmlns:a="http://schemas.openxmlformats.org/drawingml/2006/main" noGrp="1"/>
          </p:cNvSpPr>
          <p:nvPr/>
        </p:nvSpPr>
        <p:spPr>
          <a:xfrm xmlns:a="http://schemas.openxmlformats.org/drawingml/2006/main">
            <a:off x="6781800" y="24574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775" b="1">
                <a:solidFill>
                  <a:srgbClr val="111111"/>
                </a:solidFill>
                <a:latin typeface="Arial"/>
                <a:ea typeface="Arial"/>
                <a:cs typeface="Arial"/>
              </a:defRPr>
            </a:pPr>
            <a:r>
              <a:rPr sz="2775" b="1">
                <a:solidFill>
                  <a:srgbClr val="111111"/>
                </a:solidFill>
                <a:latin typeface="Arial"/>
                <a:ea typeface="Arial"/>
                <a:cs typeface="Arial"/>
              </a:rPr>
              <a:t>Follow along</a:t>
            </a:r>
          </a:p>
        </p:txBody>
      </p:sp>
      <p:sp>
        <p:nvSpPr>
          <p:cNvPr id="10" name="lane-b-sub">
            <a:extLst xmlns:a="http://schemas.openxmlformats.org/drawingml/2006/main">
              <a:ext uri="{FF2B5EF4-FFF2-40B4-BE49-F238E27FC236}">
                <a16:creationId xmlns:a16="http://schemas.microsoft.com/office/drawing/2014/main" id="{3BB313B6-9A56-48EE-BA52-8D1DDD4A15A9}"/>
              </a:ext>
            </a:extLst>
          </p:cNvPr>
          <p:cNvSpPr>
            <a:spLocks xmlns:a="http://schemas.openxmlformats.org/drawingml/2006/main" noGrp="1"/>
          </p:cNvSpPr>
          <p:nvPr/>
        </p:nvSpPr>
        <p:spPr>
          <a:xfrm xmlns:a="http://schemas.openxmlformats.org/drawingml/2006/main">
            <a:off x="6781800" y="30289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a:solidFill>
                  <a:srgbClr val="5E6670"/>
                </a:solidFill>
                <a:latin typeface="Arial"/>
                <a:ea typeface="Arial"/>
                <a:cs typeface="Arial"/>
              </a:defRPr>
            </a:pPr>
            <a:r>
              <a:rPr sz="1800">
                <a:solidFill>
                  <a:srgbClr val="5E6670"/>
                </a:solidFill>
                <a:latin typeface="Arial"/>
                <a:ea typeface="Arial"/>
                <a:cs typeface="Arial"/>
              </a:rPr>
              <a:t>Use any approved AI tool.</a:t>
            </a:r>
          </a:p>
        </p:txBody>
      </p:sp>
      <p:sp>
        <p:nvSpPr>
          <p:cNvPr id="11" name="lane-b-body">
            <a:extLst xmlns:a="http://schemas.openxmlformats.org/drawingml/2006/main">
              <a:ext uri="{FF2B5EF4-FFF2-40B4-BE49-F238E27FC236}">
                <a16:creationId xmlns:a16="http://schemas.microsoft.com/office/drawing/2014/main" id="{63845FAC-98C1-460A-BCDD-E2090FAC32D7}"/>
              </a:ext>
            </a:extLst>
          </p:cNvPr>
          <p:cNvSpPr>
            <a:spLocks xmlns:a="http://schemas.openxmlformats.org/drawingml/2006/main" noGrp="1"/>
          </p:cNvSpPr>
          <p:nvPr/>
        </p:nvSpPr>
        <p:spPr>
          <a:xfrm xmlns:a="http://schemas.openxmlformats.org/drawingml/2006/main">
            <a:off x="6781800" y="3638550"/>
            <a:ext cx="3905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Name one small irritation</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Ask for the smallest version</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Use made-up or permitted data</a:t>
            </a:r>
          </a:p>
          <a:p xmlns:a="http://schemas.openxmlformats.org/drawingml/2006/main">
            <a:pPr algn="l">
              <a:lnSpc>
                <a:spcPct val="128000"/>
              </a:lnSpc>
              <a:buNone/>
              <a:defRPr sz="1800">
                <a:solidFill>
                  <a:srgbClr val="111111"/>
                </a:solidFill>
                <a:latin typeface="Arial"/>
                <a:ea typeface="Arial"/>
                <a:cs typeface="Arial"/>
              </a:defRPr>
            </a:pPr>
            <a:r>
              <a:rPr sz="1800">
                <a:solidFill>
                  <a:srgbClr val="111111"/>
                </a:solidFill>
                <a:latin typeface="Arial"/>
                <a:ea typeface="Arial"/>
                <a:cs typeface="Arial"/>
              </a:rPr>
              <a:t>Stop whenever you like</a:t>
            </a:r>
          </a:p>
        </p:txBody>
      </p:sp>
    </p:spTree>
    <p:extLst>
      <p:ext uri="{BB962C8B-B14F-4D97-AF65-F5344CB8AC3E}">
        <p14:creationId xmlns:p14="http://schemas.microsoft.com/office/powerpoint/2010/main" val="1858649842"/>
      </p:ext>
    </p:extLst>
  </p:cSld>
</p:sld>
</file>

<file path=ppt/slides/slide1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2" name="demo-kicker">
            <a:extLst xmlns:a="http://schemas.openxmlformats.org/drawingml/2006/main">
              <a:ext uri="{FF2B5EF4-FFF2-40B4-BE49-F238E27FC236}">
                <a16:creationId xmlns:a16="http://schemas.microsoft.com/office/drawing/2014/main" id="{5A9C4D57-944B-4462-A641-C3531406ABF4}"/>
              </a:ext>
            </a:extLst>
          </p:cNvPr>
          <p:cNvSpPr>
            <a:spLocks xmlns:a="http://schemas.openxmlformats.org/drawingml/2006/main" noGrp="1"/>
          </p:cNvSpPr>
          <p:nvPr/>
        </p:nvSpPr>
        <p:spPr>
          <a:xfrm xmlns:a="http://schemas.openxmlformats.org/drawingml/2006/main">
            <a:off x="533400" y="457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6DCBF4"/>
                </a:solidFill>
                <a:latin typeface="Arial"/>
                <a:ea typeface="Arial"/>
                <a:cs typeface="Arial"/>
              </a:defRPr>
            </a:pPr>
            <a:r>
              <a:rPr sz="1500" b="1">
                <a:solidFill>
                  <a:srgbClr val="6DCBF4"/>
                </a:solidFill>
                <a:latin typeface="Arial"/>
                <a:ea typeface="Arial"/>
                <a:cs typeface="Arial"/>
              </a:rPr>
              <a:t>LIVE DEMO</a:t>
            </a:r>
          </a:p>
        </p:txBody>
      </p:sp>
      <p:sp>
        <p:nvSpPr>
          <p:cNvPr id="2" name="demo-title">
            <a:extLst xmlns:a="http://schemas.openxmlformats.org/drawingml/2006/main">
              <a:ext uri="{FF2B5EF4-FFF2-40B4-BE49-F238E27FC236}">
                <a16:creationId xmlns:a16="http://schemas.microsoft.com/office/drawing/2014/main" id="{68019BAC-72E4-4ADF-B9E4-915B9DD01266}"/>
              </a:ext>
            </a:extLst>
          </p:cNvPr>
          <p:cNvSpPr>
            <a:spLocks xmlns:a="http://schemas.openxmlformats.org/drawingml/2006/main" noGrp="1"/>
          </p:cNvSpPr>
          <p:nvPr/>
        </p:nvSpPr>
        <p:spPr>
          <a:xfrm xmlns:a="http://schemas.openxmlformats.org/drawingml/2006/main">
            <a:off x="533400" y="1219200"/>
            <a:ext cx="1009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Let’s make my browser work for me</a:t>
            </a:r>
          </a:p>
        </p:txBody>
      </p:sp>
      <p:sp>
        <p:nvSpPr>
          <p:cNvPr id="3" name="demo-step-0">
            <a:extLst xmlns:a="http://schemas.openxmlformats.org/drawingml/2006/main">
              <a:ext uri="{FF2B5EF4-FFF2-40B4-BE49-F238E27FC236}">
                <a16:creationId xmlns:a16="http://schemas.microsoft.com/office/drawing/2014/main" id="{C45F194A-AB27-42C5-ABE1-4FF3503C1A6B}"/>
              </a:ext>
            </a:extLst>
          </p:cNvPr>
          <p:cNvSpPr>
            <a:spLocks xmlns:a="http://schemas.openxmlformats.org/drawingml/2006/main" noGrp="1"/>
          </p:cNvSpPr>
          <p:nvPr/>
        </p:nvSpPr>
        <p:spPr>
          <a:xfrm xmlns:a="http://schemas.openxmlformats.org/drawingml/2006/main">
            <a:off x="5905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250" b="1">
                <a:solidFill>
                  <a:srgbClr val="FFFFFF"/>
                </a:solidFill>
                <a:latin typeface="Arial"/>
                <a:ea typeface="Arial"/>
                <a:cs typeface="Arial"/>
              </a:defRPr>
            </a:pPr>
            <a:r>
              <a:rPr sz="2250" b="1">
                <a:solidFill>
                  <a:srgbClr val="FFFFFF"/>
                </a:solidFill>
                <a:latin typeface="Arial"/>
                <a:ea typeface="Arial"/>
                <a:cs typeface="Arial"/>
              </a:rPr>
              <a:t>Brief</a:t>
            </a:r>
          </a:p>
        </p:txBody>
      </p:sp>
      <p:sp>
        <p:nvSpPr>
          <p:cNvPr id="4" name="demo-arrow-0">
            <a:extLst xmlns:a="http://schemas.openxmlformats.org/drawingml/2006/main">
              <a:ext uri="{FF2B5EF4-FFF2-40B4-BE49-F238E27FC236}">
                <a16:creationId xmlns:a16="http://schemas.microsoft.com/office/drawing/2014/main" id="{43961646-F7E0-4F19-B8AD-8D6C242F41F7}"/>
              </a:ext>
            </a:extLst>
          </p:cNvPr>
          <p:cNvSpPr>
            <a:spLocks xmlns:a="http://schemas.openxmlformats.org/drawingml/2006/main" noGrp="1"/>
          </p:cNvSpPr>
          <p:nvPr/>
        </p:nvSpPr>
        <p:spPr>
          <a:xfrm xmlns:a="http://schemas.openxmlformats.org/drawingml/2006/main">
            <a:off x="2781300" y="3448050"/>
            <a:ext cx="51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a:solidFill>
                  <a:srgbClr val="5E6670"/>
                </a:solidFill>
                <a:latin typeface="Arial"/>
                <a:ea typeface="Arial"/>
                <a:cs typeface="Arial"/>
              </a:defRPr>
            </a:pPr>
            <a:r>
              <a:rPr sz="3000">
                <a:solidFill>
                  <a:srgbClr val="5E6670"/>
                </a:solidFill>
                <a:latin typeface="Arial"/>
                <a:ea typeface="Arial"/>
                <a:cs typeface="Arial"/>
              </a:rPr>
              <a:t>→</a:t>
            </a:r>
          </a:p>
        </p:txBody>
      </p:sp>
      <p:sp>
        <p:nvSpPr>
          <p:cNvPr id="5" name="demo-step-1">
            <a:extLst xmlns:a="http://schemas.openxmlformats.org/drawingml/2006/main">
              <a:ext uri="{FF2B5EF4-FFF2-40B4-BE49-F238E27FC236}">
                <a16:creationId xmlns:a16="http://schemas.microsoft.com/office/drawing/2014/main" id="{497DA5DC-58C7-4804-8E5C-44C85AFA7A31}"/>
              </a:ext>
            </a:extLst>
          </p:cNvPr>
          <p:cNvSpPr>
            <a:spLocks xmlns:a="http://schemas.openxmlformats.org/drawingml/2006/main" noGrp="1"/>
          </p:cNvSpPr>
          <p:nvPr/>
        </p:nvSpPr>
        <p:spPr>
          <a:xfrm xmlns:a="http://schemas.openxmlformats.org/drawingml/2006/main">
            <a:off x="34099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250" b="1">
                <a:solidFill>
                  <a:srgbClr val="FFFFFF"/>
                </a:solidFill>
                <a:latin typeface="Arial"/>
                <a:ea typeface="Arial"/>
                <a:cs typeface="Arial"/>
              </a:defRPr>
            </a:pPr>
            <a:r>
              <a:rPr sz="2250" b="1">
                <a:solidFill>
                  <a:srgbClr val="FFFFFF"/>
                </a:solidFill>
                <a:latin typeface="Arial"/>
                <a:ea typeface="Arial"/>
                <a:cs typeface="Arial"/>
              </a:rPr>
              <a:t>Local page</a:t>
            </a:r>
          </a:p>
        </p:txBody>
      </p:sp>
      <p:sp>
        <p:nvSpPr>
          <p:cNvPr id="6" name="demo-arrow-1">
            <a:extLst xmlns:a="http://schemas.openxmlformats.org/drawingml/2006/main">
              <a:ext uri="{FF2B5EF4-FFF2-40B4-BE49-F238E27FC236}">
                <a16:creationId xmlns:a16="http://schemas.microsoft.com/office/drawing/2014/main" id="{1E99F0DE-F14E-45CA-BFD8-6A81E94E4B82}"/>
              </a:ext>
            </a:extLst>
          </p:cNvPr>
          <p:cNvSpPr>
            <a:spLocks xmlns:a="http://schemas.openxmlformats.org/drawingml/2006/main" noGrp="1"/>
          </p:cNvSpPr>
          <p:nvPr/>
        </p:nvSpPr>
        <p:spPr>
          <a:xfrm xmlns:a="http://schemas.openxmlformats.org/drawingml/2006/main">
            <a:off x="5600700" y="3448050"/>
            <a:ext cx="51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a:solidFill>
                  <a:srgbClr val="5E6670"/>
                </a:solidFill>
                <a:latin typeface="Arial"/>
                <a:ea typeface="Arial"/>
                <a:cs typeface="Arial"/>
              </a:defRPr>
            </a:pPr>
            <a:r>
              <a:rPr sz="3000">
                <a:solidFill>
                  <a:srgbClr val="5E6670"/>
                </a:solidFill>
                <a:latin typeface="Arial"/>
                <a:ea typeface="Arial"/>
                <a:cs typeface="Arial"/>
              </a:rPr>
              <a:t>→</a:t>
            </a:r>
          </a:p>
        </p:txBody>
      </p:sp>
      <p:sp>
        <p:nvSpPr>
          <p:cNvPr id="7" name="demo-step-2">
            <a:extLst xmlns:a="http://schemas.openxmlformats.org/drawingml/2006/main">
              <a:ext uri="{FF2B5EF4-FFF2-40B4-BE49-F238E27FC236}">
                <a16:creationId xmlns:a16="http://schemas.microsoft.com/office/drawing/2014/main" id="{48AD8F0E-BBCE-450F-9F83-75BA8362EDEA}"/>
              </a:ext>
            </a:extLst>
          </p:cNvPr>
          <p:cNvSpPr>
            <a:spLocks xmlns:a="http://schemas.openxmlformats.org/drawingml/2006/main" noGrp="1"/>
          </p:cNvSpPr>
          <p:nvPr/>
        </p:nvSpPr>
        <p:spPr>
          <a:xfrm xmlns:a="http://schemas.openxmlformats.org/drawingml/2006/main">
            <a:off x="62293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250" b="1">
                <a:solidFill>
                  <a:srgbClr val="FFFFFF"/>
                </a:solidFill>
                <a:latin typeface="Arial"/>
                <a:ea typeface="Arial"/>
                <a:cs typeface="Arial"/>
              </a:defRPr>
            </a:pPr>
            <a:r>
              <a:rPr sz="2250" b="1">
                <a:solidFill>
                  <a:srgbClr val="FFFFFF"/>
                </a:solidFill>
                <a:latin typeface="Arial"/>
                <a:ea typeface="Arial"/>
                <a:cs typeface="Arial"/>
              </a:rPr>
              <a:t>Firefox</a:t>
            </a:r>
          </a:p>
        </p:txBody>
      </p:sp>
      <p:sp>
        <p:nvSpPr>
          <p:cNvPr id="8" name="demo-arrow-2">
            <a:extLst xmlns:a="http://schemas.openxmlformats.org/drawingml/2006/main">
              <a:ext uri="{FF2B5EF4-FFF2-40B4-BE49-F238E27FC236}">
                <a16:creationId xmlns:a16="http://schemas.microsoft.com/office/drawing/2014/main" id="{915C0112-E677-48F1-AA39-78D79A3F0163}"/>
              </a:ext>
            </a:extLst>
          </p:cNvPr>
          <p:cNvSpPr>
            <a:spLocks xmlns:a="http://schemas.openxmlformats.org/drawingml/2006/main" noGrp="1"/>
          </p:cNvSpPr>
          <p:nvPr/>
        </p:nvSpPr>
        <p:spPr>
          <a:xfrm xmlns:a="http://schemas.openxmlformats.org/drawingml/2006/main">
            <a:off x="8420100" y="3448050"/>
            <a:ext cx="514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a:solidFill>
                  <a:srgbClr val="5E6670"/>
                </a:solidFill>
                <a:latin typeface="Arial"/>
                <a:ea typeface="Arial"/>
                <a:cs typeface="Arial"/>
              </a:defRPr>
            </a:pPr>
            <a:r>
              <a:rPr sz="3000">
                <a:solidFill>
                  <a:srgbClr val="5E6670"/>
                </a:solidFill>
                <a:latin typeface="Arial"/>
                <a:ea typeface="Arial"/>
                <a:cs typeface="Arial"/>
              </a:rPr>
              <a:t>→</a:t>
            </a:r>
          </a:p>
        </p:txBody>
      </p:sp>
      <p:sp>
        <p:nvSpPr>
          <p:cNvPr id="9" name="demo-step-3">
            <a:extLst xmlns:a="http://schemas.openxmlformats.org/drawingml/2006/main">
              <a:ext uri="{FF2B5EF4-FFF2-40B4-BE49-F238E27FC236}">
                <a16:creationId xmlns:a16="http://schemas.microsoft.com/office/drawing/2014/main" id="{C9D10BB5-E64A-47F8-BA09-4D6B76D2E053}"/>
              </a:ext>
            </a:extLst>
          </p:cNvPr>
          <p:cNvSpPr>
            <a:spLocks xmlns:a="http://schemas.openxmlformats.org/drawingml/2006/main" noGrp="1"/>
          </p:cNvSpPr>
          <p:nvPr/>
        </p:nvSpPr>
        <p:spPr>
          <a:xfrm xmlns:a="http://schemas.openxmlformats.org/drawingml/2006/main">
            <a:off x="90487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250" b="1">
                <a:solidFill>
                  <a:srgbClr val="6DCBF4"/>
                </a:solidFill>
                <a:latin typeface="Arial"/>
                <a:ea typeface="Arial"/>
                <a:cs typeface="Arial"/>
              </a:defRPr>
            </a:pPr>
            <a:r>
              <a:rPr sz="2250" b="1">
                <a:solidFill>
                  <a:srgbClr val="6DCBF4"/>
                </a:solidFill>
                <a:latin typeface="Arial"/>
                <a:ea typeface="Arial"/>
                <a:cs typeface="Arial"/>
              </a:rPr>
              <a:t>One change</a:t>
            </a:r>
          </a:p>
        </p:txBody>
      </p:sp>
      <p:sp>
        <p:nvSpPr>
          <p:cNvPr id="10" name="demo-method">
            <a:extLst xmlns:a="http://schemas.openxmlformats.org/drawingml/2006/main">
              <a:ext uri="{FF2B5EF4-FFF2-40B4-BE49-F238E27FC236}">
                <a16:creationId xmlns:a16="http://schemas.microsoft.com/office/drawing/2014/main" id="{F3D9929C-C9CB-4BFE-9463-F74807C9718A}"/>
              </a:ext>
            </a:extLst>
          </p:cNvPr>
          <p:cNvSpPr>
            <a:spLocks xmlns:a="http://schemas.openxmlformats.org/drawingml/2006/main" noGrp="1"/>
          </p:cNvSpPr>
          <p:nvPr/>
        </p:nvSpPr>
        <p:spPr>
          <a:xfrm xmlns:a="http://schemas.openxmlformats.org/drawingml/2006/main">
            <a:off x="533400" y="51625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a:solidFill>
                  <a:srgbClr val="B8BCC4"/>
                </a:solidFill>
                <a:latin typeface="Arial"/>
                <a:ea typeface="Arial"/>
                <a:cs typeface="Arial"/>
              </a:defRPr>
            </a:pPr>
            <a:r>
              <a:rPr sz="1875">
                <a:solidFill>
                  <a:srgbClr val="B8BCC4"/>
                </a:solidFill>
                <a:latin typeface="Arial"/>
                <a:ea typeface="Arial"/>
                <a:cs typeface="Arial"/>
              </a:rPr>
              <a:t>Describe · build · inspect permissions · test · change · stop</a:t>
            </a:r>
          </a:p>
        </p:txBody>
      </p:sp>
      <p:sp>
        <p:nvSpPr>
          <p:cNvPr id="11" name="demo-page">
            <a:extLst xmlns:a="http://schemas.openxmlformats.org/drawingml/2006/main">
              <a:ext uri="{FF2B5EF4-FFF2-40B4-BE49-F238E27FC236}">
                <a16:creationId xmlns:a16="http://schemas.microsoft.com/office/drawing/2014/main" id="{39DC9003-F3AC-4797-BFF2-0BC6ADB990AA}"/>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B8BCC4"/>
                </a:solidFill>
                <a:latin typeface="Arial"/>
                <a:ea typeface="Arial"/>
                <a:cs typeface="Arial"/>
              </a:defRPr>
            </a:pPr>
            <a:r>
              <a:rPr sz="1200">
                <a:solidFill>
                  <a:srgbClr val="B8BCC4"/>
                </a:solidFill>
                <a:latin typeface="Arial"/>
                <a:ea typeface="Arial"/>
                <a:cs typeface="Arial"/>
              </a:rPr>
              <a:t>11</a:t>
            </a:r>
          </a:p>
        </p:txBody>
      </p:sp>
    </p:spTree>
    <p:extLst>
      <p:ext uri="{BB962C8B-B14F-4D97-AF65-F5344CB8AC3E}">
        <p14:creationId xmlns:p14="http://schemas.microsoft.com/office/powerpoint/2010/main" val="18331743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1">
            <a:extLst xmlns:a="http://schemas.openxmlformats.org/drawingml/2006/main">
              <a:ext uri="{FF2B5EF4-FFF2-40B4-BE49-F238E27FC236}">
                <a16:creationId xmlns:a16="http://schemas.microsoft.com/office/drawing/2014/main" id="{7352D459-6247-488B-AD66-ACF9672A9DEE}"/>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GENERATED OUTPUT IS A DRAFT</a:t>
            </a:r>
          </a:p>
        </p:txBody>
      </p:sp>
      <p:sp>
        <p:nvSpPr>
          <p:cNvPr id="2" name="title-11">
            <a:extLst xmlns:a="http://schemas.openxmlformats.org/drawingml/2006/main">
              <a:ext uri="{FF2B5EF4-FFF2-40B4-BE49-F238E27FC236}">
                <a16:creationId xmlns:a16="http://schemas.microsoft.com/office/drawing/2014/main" id="{C29BAB44-71E2-4B57-8271-788CA64933CA}"/>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Test it—don’t just admire it</a:t>
            </a:r>
          </a:p>
        </p:txBody>
      </p:sp>
      <p:sp>
        <p:nvSpPr>
          <p:cNvPr id="3" name="page-11">
            <a:extLst xmlns:a="http://schemas.openxmlformats.org/drawingml/2006/main">
              <a:ext uri="{FF2B5EF4-FFF2-40B4-BE49-F238E27FC236}">
                <a16:creationId xmlns:a16="http://schemas.microsoft.com/office/drawing/2014/main" id="{4C7BEF1D-03F7-4232-B7E7-DABFF5759D36}"/>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12</a:t>
            </a:r>
          </a:p>
        </p:txBody>
      </p:sp>
      <p:sp>
        <p:nvSpPr>
          <p:cNvPr id="4" name="column-rule-11">
            <a:extLst xmlns:a="http://schemas.openxmlformats.org/drawingml/2006/main">
              <a:ext uri="{FF2B5EF4-FFF2-40B4-BE49-F238E27FC236}">
                <a16:creationId xmlns:a16="http://schemas.microsoft.com/office/drawing/2014/main" id="{70086001-1153-412A-B1CA-D76EB280FC2B}"/>
              </a:ext>
            </a:extLst>
          </p:cNvPr>
          <p:cNvSpPr>
            <a:spLocks xmlns:a="http://schemas.openxmlformats.org/drawingml/2006/main" noGrp="1"/>
          </p:cNvSpPr>
          <p:nvPr/>
        </p:nvSpPr>
        <p:spPr>
          <a:xfrm xmlns:a="http://schemas.openxmlformats.org/drawingml/2006/main">
            <a:off x="533400" y="2533650"/>
            <a:ext cx="3333750" cy="0"/>
          </a:xfrm>
          <a:prstGeom xmlns:a="http://schemas.openxmlformats.org/drawingml/2006/main" prst="line">
            <a:avLst/>
          </a:prstGeom>
          <a:noFill xmlns:a="http://schemas.openxmlformats.org/drawingml/2006/main"/>
          <a:ln xmlns:a="http://schemas.openxmlformats.org/drawingml/2006/main" w="47625">
            <a:solidFill>
              <a:srgbClr val="2F8F4E"/>
            </a:solidFill>
            <a:prstDash val="solid"/>
          </a:ln>
        </p:spPr>
      </p:sp>
      <p:sp>
        <p:nvSpPr>
          <p:cNvPr id="5" name="column-label-11">
            <a:extLst xmlns:a="http://schemas.openxmlformats.org/drawingml/2006/main">
              <a:ext uri="{FF2B5EF4-FFF2-40B4-BE49-F238E27FC236}">
                <a16:creationId xmlns:a16="http://schemas.microsoft.com/office/drawing/2014/main" id="{003FFE44-B0E7-4C7F-9B9C-5CFF80F002C0}"/>
              </a:ext>
            </a:extLst>
          </p:cNvPr>
          <p:cNvSpPr>
            <a:spLocks xmlns:a="http://schemas.openxmlformats.org/drawingml/2006/main" noGrp="1"/>
          </p:cNvSpPr>
          <p:nvPr/>
        </p:nvSpPr>
        <p:spPr>
          <a:xfrm xmlns:a="http://schemas.openxmlformats.org/drawingml/2006/main">
            <a:off x="533400" y="27622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Normal</a:t>
            </a:r>
          </a:p>
        </p:txBody>
      </p:sp>
      <p:sp>
        <p:nvSpPr>
          <p:cNvPr id="6" name="column-body-11">
            <a:extLst xmlns:a="http://schemas.openxmlformats.org/drawingml/2006/main">
              <a:ext uri="{FF2B5EF4-FFF2-40B4-BE49-F238E27FC236}">
                <a16:creationId xmlns:a16="http://schemas.microsoft.com/office/drawing/2014/main" id="{47F379A1-8CCE-43C8-88D8-22AA31BE832E}"/>
              </a:ext>
            </a:extLst>
          </p:cNvPr>
          <p:cNvSpPr>
            <a:spLocks xmlns:a="http://schemas.openxmlformats.org/drawingml/2006/main" noGrp="1"/>
          </p:cNvSpPr>
          <p:nvPr/>
        </p:nvSpPr>
        <p:spPr>
          <a:xfrm xmlns:a="http://schemas.openxmlformats.org/drawingml/2006/main">
            <a:off x="533400" y="340995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Add a task, complete it, and open another new tab. It should still be there.</a:t>
            </a:r>
          </a:p>
        </p:txBody>
      </p:sp>
      <p:sp>
        <p:nvSpPr>
          <p:cNvPr id="7" name="column-rule-12">
            <a:extLst xmlns:a="http://schemas.openxmlformats.org/drawingml/2006/main">
              <a:ext uri="{FF2B5EF4-FFF2-40B4-BE49-F238E27FC236}">
                <a16:creationId xmlns:a16="http://schemas.microsoft.com/office/drawing/2014/main" id="{E1757F1F-9023-4DAE-84C1-E9B5C11E9AC9}"/>
              </a:ext>
            </a:extLst>
          </p:cNvPr>
          <p:cNvSpPr>
            <a:spLocks xmlns:a="http://schemas.openxmlformats.org/drawingml/2006/main" noGrp="1"/>
          </p:cNvSpPr>
          <p:nvPr/>
        </p:nvSpPr>
        <p:spPr>
          <a:xfrm xmlns:a="http://schemas.openxmlformats.org/drawingml/2006/main">
            <a:off x="4429125" y="2533650"/>
            <a:ext cx="3333750" cy="0"/>
          </a:xfrm>
          <a:prstGeom xmlns:a="http://schemas.openxmlformats.org/drawingml/2006/main" prst="line">
            <a:avLst/>
          </a:prstGeom>
          <a:noFill xmlns:a="http://schemas.openxmlformats.org/drawingml/2006/main"/>
          <a:ln xmlns:a="http://schemas.openxmlformats.org/drawingml/2006/main" w="47625">
            <a:solidFill>
              <a:srgbClr val="C98508"/>
            </a:solidFill>
            <a:prstDash val="solid"/>
          </a:ln>
        </p:spPr>
      </p:sp>
      <p:sp>
        <p:nvSpPr>
          <p:cNvPr id="8" name="column-label-12">
            <a:extLst xmlns:a="http://schemas.openxmlformats.org/drawingml/2006/main">
              <a:ext uri="{FF2B5EF4-FFF2-40B4-BE49-F238E27FC236}">
                <a16:creationId xmlns:a16="http://schemas.microsoft.com/office/drawing/2014/main" id="{5957EF50-372E-42B5-A25F-A7F1DFC680BC}"/>
              </a:ext>
            </a:extLst>
          </p:cNvPr>
          <p:cNvSpPr>
            <a:spLocks xmlns:a="http://schemas.openxmlformats.org/drawingml/2006/main" noGrp="1"/>
          </p:cNvSpPr>
          <p:nvPr/>
        </p:nvSpPr>
        <p:spPr>
          <a:xfrm xmlns:a="http://schemas.openxmlformats.org/drawingml/2006/main">
            <a:off x="4429125" y="27622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Edge</a:t>
            </a:r>
          </a:p>
        </p:txBody>
      </p:sp>
      <p:sp>
        <p:nvSpPr>
          <p:cNvPr id="9" name="column-body-12">
            <a:extLst xmlns:a="http://schemas.openxmlformats.org/drawingml/2006/main">
              <a:ext uri="{FF2B5EF4-FFF2-40B4-BE49-F238E27FC236}">
                <a16:creationId xmlns:a16="http://schemas.microsoft.com/office/drawing/2014/main" id="{6964914C-B7A5-4BF0-AAF2-E37F80F58E0F}"/>
              </a:ext>
            </a:extLst>
          </p:cNvPr>
          <p:cNvSpPr>
            <a:spLocks xmlns:a="http://schemas.openxmlformats.org/drawingml/2006/main" noGrp="1"/>
          </p:cNvSpPr>
          <p:nvPr/>
        </p:nvSpPr>
        <p:spPr>
          <a:xfrm xmlns:a="http://schemas.openxmlformats.org/drawingml/2006/main">
            <a:off x="4429125" y="340995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Submit an empty task or only spaces. Nothing should break or be added.</a:t>
            </a:r>
          </a:p>
        </p:txBody>
      </p:sp>
      <p:sp>
        <p:nvSpPr>
          <p:cNvPr id="10" name="column-rule-13">
            <a:extLst xmlns:a="http://schemas.openxmlformats.org/drawingml/2006/main">
              <a:ext uri="{FF2B5EF4-FFF2-40B4-BE49-F238E27FC236}">
                <a16:creationId xmlns:a16="http://schemas.microsoft.com/office/drawing/2014/main" id="{FB777B20-4C67-4562-8956-4EA63A149FAE}"/>
              </a:ext>
            </a:extLst>
          </p:cNvPr>
          <p:cNvSpPr>
            <a:spLocks xmlns:a="http://schemas.openxmlformats.org/drawingml/2006/main" noGrp="1"/>
          </p:cNvSpPr>
          <p:nvPr/>
        </p:nvSpPr>
        <p:spPr>
          <a:xfrm xmlns:a="http://schemas.openxmlformats.org/drawingml/2006/main">
            <a:off x="8324850" y="2533650"/>
            <a:ext cx="3333750" cy="0"/>
          </a:xfrm>
          <a:prstGeom xmlns:a="http://schemas.openxmlformats.org/drawingml/2006/main" prst="line">
            <a:avLst/>
          </a:prstGeom>
          <a:noFill xmlns:a="http://schemas.openxmlformats.org/drawingml/2006/main"/>
          <a:ln xmlns:a="http://schemas.openxmlformats.org/drawingml/2006/main" w="47625">
            <a:solidFill>
              <a:srgbClr val="C94646"/>
            </a:solidFill>
            <a:prstDash val="solid"/>
          </a:ln>
        </p:spPr>
      </p:sp>
      <p:sp>
        <p:nvSpPr>
          <p:cNvPr id="11" name="column-label-13">
            <a:extLst xmlns:a="http://schemas.openxmlformats.org/drawingml/2006/main">
              <a:ext uri="{FF2B5EF4-FFF2-40B4-BE49-F238E27FC236}">
                <a16:creationId xmlns:a16="http://schemas.microsoft.com/office/drawing/2014/main" id="{1A5CE2E7-E47C-4E0C-A948-BD18C0486D9D}"/>
              </a:ext>
            </a:extLst>
          </p:cNvPr>
          <p:cNvSpPr>
            <a:spLocks xmlns:a="http://schemas.openxmlformats.org/drawingml/2006/main" noGrp="1"/>
          </p:cNvSpPr>
          <p:nvPr/>
        </p:nvSpPr>
        <p:spPr>
          <a:xfrm xmlns:a="http://schemas.openxmlformats.org/drawingml/2006/main">
            <a:off x="8324850" y="27622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Safe failure</a:t>
            </a:r>
          </a:p>
        </p:txBody>
      </p:sp>
      <p:sp>
        <p:nvSpPr>
          <p:cNvPr id="12" name="column-body-13">
            <a:extLst xmlns:a="http://schemas.openxmlformats.org/drawingml/2006/main">
              <a:ext uri="{FF2B5EF4-FFF2-40B4-BE49-F238E27FC236}">
                <a16:creationId xmlns:a16="http://schemas.microsoft.com/office/drawing/2014/main" id="{AEB14CBE-F62E-4395-8374-4E2903DABBA1}"/>
              </a:ext>
            </a:extLst>
          </p:cNvPr>
          <p:cNvSpPr>
            <a:spLocks xmlns:a="http://schemas.openxmlformats.org/drawingml/2006/main" noGrp="1"/>
          </p:cNvSpPr>
          <p:nvPr/>
        </p:nvSpPr>
        <p:spPr>
          <a:xfrm xmlns:a="http://schemas.openxmlformats.org/drawingml/2006/main">
            <a:off x="8324850" y="340995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a:solidFill>
                  <a:srgbClr val="5E6670"/>
                </a:solidFill>
                <a:latin typeface="Arial"/>
                <a:ea typeface="Arial"/>
                <a:cs typeface="Arial"/>
              </a:defRPr>
            </a:pPr>
            <a:r>
              <a:rPr sz="1875">
                <a:solidFill>
                  <a:srgbClr val="5E6670"/>
                </a:solidFill>
                <a:latin typeface="Arial"/>
                <a:ea typeface="Arial"/>
                <a:cs typeface="Arial"/>
              </a:rPr>
              <a:t>Turn the network off. Tasks and links should work even when weather cannot.</a:t>
            </a:r>
          </a:p>
        </p:txBody>
      </p:sp>
      <p:sp>
        <p:nvSpPr>
          <p:cNvPr id="13" name="test-bottom">
            <a:extLst xmlns:a="http://schemas.openxmlformats.org/drawingml/2006/main">
              <a:ext uri="{FF2B5EF4-FFF2-40B4-BE49-F238E27FC236}">
                <a16:creationId xmlns:a16="http://schemas.microsoft.com/office/drawing/2014/main" id="{05D4821D-A181-4F15-B51D-52AFA39677D0}"/>
              </a:ext>
            </a:extLst>
          </p:cNvPr>
          <p:cNvSpPr>
            <a:spLocks xmlns:a="http://schemas.openxmlformats.org/drawingml/2006/main" noGrp="1"/>
          </p:cNvSpPr>
          <p:nvPr/>
        </p:nvSpPr>
        <p:spPr>
          <a:xfrm xmlns:a="http://schemas.openxmlformats.org/drawingml/2006/main">
            <a:off x="533400" y="5715000"/>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A good prompt asks for tests. A good builder actually runs them.</a:t>
            </a:r>
          </a:p>
        </p:txBody>
      </p:sp>
    </p:spTree>
    <p:extLst>
      <p:ext uri="{BB962C8B-B14F-4D97-AF65-F5344CB8AC3E}">
        <p14:creationId xmlns:p14="http://schemas.microsoft.com/office/powerpoint/2010/main" val="6748547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12">
            <a:extLst xmlns:a="http://schemas.openxmlformats.org/drawingml/2006/main">
              <a:ext uri="{FF2B5EF4-FFF2-40B4-BE49-F238E27FC236}">
                <a16:creationId xmlns:a16="http://schemas.microsoft.com/office/drawing/2014/main" id="{1541391C-402F-467F-B491-2709EAC37936}"/>
              </a:ext>
            </a:extLst>
          </p:cNvPr>
          <p:cNvSpPr>
            <a:spLocks xmlns:a="http://schemas.openxmlformats.org/drawingml/2006/main" noGrp="1"/>
          </p:cNvSpPr>
          <p:nvPr/>
        </p:nvSpPr>
        <p:spPr>
          <a:xfrm xmlns:a="http://schemas.openxmlformats.org/drawingml/2006/main">
            <a:off x="533400" y="36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THE BOUNDARY MOVES</a:t>
            </a:r>
          </a:p>
        </p:txBody>
      </p:sp>
      <p:sp>
        <p:nvSpPr>
          <p:cNvPr id="2" name="title-12">
            <a:extLst xmlns:a="http://schemas.openxmlformats.org/drawingml/2006/main">
              <a:ext uri="{FF2B5EF4-FFF2-40B4-BE49-F238E27FC236}">
                <a16:creationId xmlns:a16="http://schemas.microsoft.com/office/drawing/2014/main" id="{AC0618EE-305C-4ED2-866E-AC3EC486EB55}"/>
              </a:ext>
            </a:extLst>
          </p:cNvPr>
          <p:cNvSpPr>
            <a:spLocks xmlns:a="http://schemas.openxmlformats.org/drawingml/2006/main" noGrp="1"/>
          </p:cNvSpPr>
          <p:nvPr/>
        </p:nvSpPr>
        <p:spPr>
          <a:xfrm xmlns:a="http://schemas.openxmlformats.org/drawingml/2006/main">
            <a:off x="533400" y="819150"/>
            <a:ext cx="1066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111111"/>
                </a:solidFill>
                <a:latin typeface="Arial"/>
                <a:ea typeface="Arial"/>
                <a:cs typeface="Arial"/>
              </a:defRPr>
            </a:pPr>
            <a:r>
              <a:rPr sz="3600" b="1">
                <a:solidFill>
                  <a:srgbClr val="111111"/>
                </a:solidFill>
                <a:latin typeface="Arial"/>
                <a:ea typeface="Arial"/>
                <a:cs typeface="Arial"/>
              </a:rPr>
              <a:t>Adding weather changes more than the screen</a:t>
            </a:r>
          </a:p>
        </p:txBody>
      </p:sp>
      <p:sp>
        <p:nvSpPr>
          <p:cNvPr id="3" name="page-12">
            <a:extLst xmlns:a="http://schemas.openxmlformats.org/drawingml/2006/main">
              <a:ext uri="{FF2B5EF4-FFF2-40B4-BE49-F238E27FC236}">
                <a16:creationId xmlns:a16="http://schemas.microsoft.com/office/drawing/2014/main" id="{8D242116-DDE6-4632-B483-81058A8F167B}"/>
              </a:ext>
            </a:extLst>
          </p:cNvPr>
          <p:cNvSpPr>
            <a:spLocks xmlns:a="http://schemas.openxmlformats.org/drawingml/2006/main" noGrp="1"/>
          </p:cNvSpPr>
          <p:nvPr/>
        </p:nvSpPr>
        <p:spPr>
          <a:xfrm xmlns:a="http://schemas.openxmlformats.org/drawingml/2006/main">
            <a:off x="11239500" y="63436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a:solidFill>
                  <a:srgbClr val="5E6670"/>
                </a:solidFill>
                <a:latin typeface="Arial"/>
                <a:ea typeface="Arial"/>
                <a:cs typeface="Arial"/>
              </a:defRPr>
            </a:pPr>
            <a:r>
              <a:rPr sz="1200">
                <a:solidFill>
                  <a:srgbClr val="5E6670"/>
                </a:solidFill>
                <a:latin typeface="Arial"/>
                <a:ea typeface="Arial"/>
                <a:cs typeface="Arial"/>
              </a:rPr>
              <a:t>13</a:t>
            </a:r>
          </a:p>
        </p:txBody>
      </p:sp>
      <p:sp>
        <p:nvSpPr>
          <p:cNvPr id="4" name="local-bg">
            <a:extLst xmlns:a="http://schemas.openxmlformats.org/drawingml/2006/main">
              <a:ext uri="{FF2B5EF4-FFF2-40B4-BE49-F238E27FC236}">
                <a16:creationId xmlns:a16="http://schemas.microsoft.com/office/drawing/2014/main" id="{B5B2FB49-7DD6-4697-B862-80EF61D4E022}"/>
              </a:ext>
            </a:extLst>
          </p:cNvPr>
          <p:cNvSpPr>
            <a:spLocks xmlns:a="http://schemas.openxmlformats.org/drawingml/2006/main" noGrp="1"/>
          </p:cNvSpPr>
          <p:nvPr/>
        </p:nvSpPr>
        <p:spPr>
          <a:xfrm xmlns:a="http://schemas.openxmlformats.org/drawingml/2006/main">
            <a:off x="533400" y="2114550"/>
            <a:ext cx="4381500" cy="32385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connected-bg">
            <a:extLst xmlns:a="http://schemas.openxmlformats.org/drawingml/2006/main">
              <a:ext uri="{FF2B5EF4-FFF2-40B4-BE49-F238E27FC236}">
                <a16:creationId xmlns:a16="http://schemas.microsoft.com/office/drawing/2014/main" id="{61F536D7-2991-4705-B1CB-6464083E1B64}"/>
              </a:ext>
            </a:extLst>
          </p:cNvPr>
          <p:cNvSpPr>
            <a:spLocks xmlns:a="http://schemas.openxmlformats.org/drawingml/2006/main" noGrp="1"/>
          </p:cNvSpPr>
          <p:nvPr/>
        </p:nvSpPr>
        <p:spPr>
          <a:xfrm xmlns:a="http://schemas.openxmlformats.org/drawingml/2006/main">
            <a:off x="7277100" y="2114550"/>
            <a:ext cx="4381500" cy="3238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local-label">
            <a:extLst xmlns:a="http://schemas.openxmlformats.org/drawingml/2006/main">
              <a:ext uri="{FF2B5EF4-FFF2-40B4-BE49-F238E27FC236}">
                <a16:creationId xmlns:a16="http://schemas.microsoft.com/office/drawing/2014/main" id="{964A867E-4596-45AF-84B5-A0391421B824}"/>
              </a:ext>
            </a:extLst>
          </p:cNvPr>
          <p:cNvSpPr>
            <a:spLocks xmlns:a="http://schemas.openxmlformats.org/drawingml/2006/main" noGrp="1"/>
          </p:cNvSpPr>
          <p:nvPr/>
        </p:nvSpPr>
        <p:spPr>
          <a:xfrm xmlns:a="http://schemas.openxmlformats.org/drawingml/2006/main">
            <a:off x="876300" y="24574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5E6670"/>
                </a:solidFill>
                <a:latin typeface="Arial"/>
                <a:ea typeface="Arial"/>
                <a:cs typeface="Arial"/>
              </a:defRPr>
            </a:pPr>
            <a:r>
              <a:rPr sz="1650" b="1">
                <a:solidFill>
                  <a:srgbClr val="5E6670"/>
                </a:solidFill>
                <a:latin typeface="Arial"/>
                <a:ea typeface="Arial"/>
                <a:cs typeface="Arial"/>
              </a:rPr>
              <a:t>LOCAL</a:t>
            </a:r>
          </a:p>
        </p:txBody>
      </p:sp>
      <p:sp>
        <p:nvSpPr>
          <p:cNvPr id="7" name="local-title">
            <a:extLst xmlns:a="http://schemas.openxmlformats.org/drawingml/2006/main">
              <a:ext uri="{FF2B5EF4-FFF2-40B4-BE49-F238E27FC236}">
                <a16:creationId xmlns:a16="http://schemas.microsoft.com/office/drawing/2014/main" id="{42742DDC-0B12-47D1-9BCA-CEE6AB0BC81D}"/>
              </a:ext>
            </a:extLst>
          </p:cNvPr>
          <p:cNvSpPr>
            <a:spLocks xmlns:a="http://schemas.openxmlformats.org/drawingml/2006/main" noGrp="1"/>
          </p:cNvSpPr>
          <p:nvPr/>
        </p:nvSpPr>
        <p:spPr>
          <a:xfrm xmlns:a="http://schemas.openxmlformats.org/drawingml/2006/main">
            <a:off x="876300" y="30099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700" b="1">
                <a:solidFill>
                  <a:srgbClr val="111111"/>
                </a:solidFill>
                <a:latin typeface="Arial"/>
                <a:ea typeface="Arial"/>
                <a:cs typeface="Arial"/>
              </a:defRPr>
            </a:pPr>
            <a:r>
              <a:rPr sz="2700" b="1">
                <a:solidFill>
                  <a:srgbClr val="111111"/>
                </a:solidFill>
                <a:latin typeface="Arial"/>
                <a:ea typeface="Arial"/>
                <a:cs typeface="Arial"/>
              </a:rPr>
              <a:t>Tasks + links</a:t>
            </a:r>
          </a:p>
        </p:txBody>
      </p:sp>
      <p:sp>
        <p:nvSpPr>
          <p:cNvPr id="8" name="local-body">
            <a:extLst xmlns:a="http://schemas.openxmlformats.org/drawingml/2006/main">
              <a:ext uri="{FF2B5EF4-FFF2-40B4-BE49-F238E27FC236}">
                <a16:creationId xmlns:a16="http://schemas.microsoft.com/office/drawing/2014/main" id="{3F8E4FAE-5274-4125-8115-9ED9B4873EF0}"/>
              </a:ext>
            </a:extLst>
          </p:cNvPr>
          <p:cNvSpPr>
            <a:spLocks xmlns:a="http://schemas.openxmlformats.org/drawingml/2006/main" noGrp="1"/>
          </p:cNvSpPr>
          <p:nvPr/>
        </p:nvSpPr>
        <p:spPr>
          <a:xfrm xmlns:a="http://schemas.openxmlformats.org/drawingml/2006/main">
            <a:off x="876300" y="381000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Stay on the device</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Work without a network</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Are easy to inspect</a:t>
            </a:r>
          </a:p>
        </p:txBody>
      </p:sp>
      <p:sp>
        <p:nvSpPr>
          <p:cNvPr id="9" name="boundary-arrow">
            <a:extLst xmlns:a="http://schemas.openxmlformats.org/drawingml/2006/main">
              <a:ext uri="{FF2B5EF4-FFF2-40B4-BE49-F238E27FC236}">
                <a16:creationId xmlns:a16="http://schemas.microsoft.com/office/drawing/2014/main" id="{D9198AF4-8457-4BC6-B035-169E7E909130}"/>
              </a:ext>
            </a:extLst>
          </p:cNvPr>
          <p:cNvSpPr>
            <a:spLocks xmlns:a="http://schemas.openxmlformats.org/drawingml/2006/main" noGrp="1"/>
          </p:cNvSpPr>
          <p:nvPr/>
        </p:nvSpPr>
        <p:spPr>
          <a:xfrm xmlns:a="http://schemas.openxmlformats.org/drawingml/2006/main">
            <a:off x="5410200" y="3257550"/>
            <a:ext cx="133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5250">
                <a:solidFill>
                  <a:srgbClr val="3D8DFF"/>
                </a:solidFill>
                <a:latin typeface="Arial"/>
                <a:ea typeface="Arial"/>
                <a:cs typeface="Arial"/>
              </a:defRPr>
            </a:pPr>
            <a:r>
              <a:rPr sz="5250">
                <a:solidFill>
                  <a:srgbClr val="3D8DFF"/>
                </a:solidFill>
                <a:latin typeface="Arial"/>
                <a:ea typeface="Arial"/>
                <a:cs typeface="Arial"/>
              </a:rPr>
              <a:t>→</a:t>
            </a:r>
          </a:p>
        </p:txBody>
      </p:sp>
      <p:sp>
        <p:nvSpPr>
          <p:cNvPr id="10" name="connected-label">
            <a:extLst xmlns:a="http://schemas.openxmlformats.org/drawingml/2006/main">
              <a:ext uri="{FF2B5EF4-FFF2-40B4-BE49-F238E27FC236}">
                <a16:creationId xmlns:a16="http://schemas.microsoft.com/office/drawing/2014/main" id="{E0F1C729-B33B-4DEB-9EB7-A693D5C35B6C}"/>
              </a:ext>
            </a:extLst>
          </p:cNvPr>
          <p:cNvSpPr>
            <a:spLocks xmlns:a="http://schemas.openxmlformats.org/drawingml/2006/main" noGrp="1"/>
          </p:cNvSpPr>
          <p:nvPr/>
        </p:nvSpPr>
        <p:spPr>
          <a:xfrm xmlns:a="http://schemas.openxmlformats.org/drawingml/2006/main">
            <a:off x="7620000" y="24574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CONNECTED</a:t>
            </a:r>
          </a:p>
        </p:txBody>
      </p:sp>
      <p:sp>
        <p:nvSpPr>
          <p:cNvPr id="11" name="connected-title">
            <a:extLst xmlns:a="http://schemas.openxmlformats.org/drawingml/2006/main">
              <a:ext uri="{FF2B5EF4-FFF2-40B4-BE49-F238E27FC236}">
                <a16:creationId xmlns:a16="http://schemas.microsoft.com/office/drawing/2014/main" id="{DA15F508-69B6-4562-9FF0-866D2B0D0319}"/>
              </a:ext>
            </a:extLst>
          </p:cNvPr>
          <p:cNvSpPr>
            <a:spLocks xmlns:a="http://schemas.openxmlformats.org/drawingml/2006/main" noGrp="1"/>
          </p:cNvSpPr>
          <p:nvPr/>
        </p:nvSpPr>
        <p:spPr>
          <a:xfrm xmlns:a="http://schemas.openxmlformats.org/drawingml/2006/main">
            <a:off x="7620000" y="300990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700" b="1">
                <a:solidFill>
                  <a:srgbClr val="111111"/>
                </a:solidFill>
                <a:latin typeface="Arial"/>
                <a:ea typeface="Arial"/>
                <a:cs typeface="Arial"/>
              </a:defRPr>
            </a:pPr>
            <a:r>
              <a:rPr sz="2700" b="1">
                <a:solidFill>
                  <a:srgbClr val="111111"/>
                </a:solidFill>
                <a:latin typeface="Arial"/>
                <a:ea typeface="Arial"/>
                <a:cs typeface="Arial"/>
              </a:rPr>
              <a:t>Weather</a:t>
            </a:r>
          </a:p>
        </p:txBody>
      </p:sp>
      <p:sp>
        <p:nvSpPr>
          <p:cNvPr id="12" name="connected-body">
            <a:extLst xmlns:a="http://schemas.openxmlformats.org/drawingml/2006/main">
              <a:ext uri="{FF2B5EF4-FFF2-40B4-BE49-F238E27FC236}">
                <a16:creationId xmlns:a16="http://schemas.microsoft.com/office/drawing/2014/main" id="{A7934490-2A8B-4890-9F44-800E4A86F770}"/>
              </a:ext>
            </a:extLst>
          </p:cNvPr>
          <p:cNvSpPr>
            <a:spLocks xmlns:a="http://schemas.openxmlformats.org/drawingml/2006/main" noGrp="1"/>
          </p:cNvSpPr>
          <p:nvPr/>
        </p:nvSpPr>
        <p:spPr>
          <a:xfrm xmlns:a="http://schemas.openxmlformats.org/drawingml/2006/main">
            <a:off x="7620000" y="3810000"/>
            <a:ext cx="342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Sends a chosen location</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Depends on another service</a:t>
            </a:r>
          </a:p>
          <a:p xmlns:a="http://schemas.openxmlformats.org/drawingml/2006/main">
            <a:pPr algn="l">
              <a:lnSpc>
                <a:spcPct val="125000"/>
              </a:lnSpc>
              <a:buNone/>
              <a:defRPr sz="1950">
                <a:solidFill>
                  <a:srgbClr val="111111"/>
                </a:solidFill>
                <a:latin typeface="Arial"/>
                <a:ea typeface="Arial"/>
                <a:cs typeface="Arial"/>
              </a:defRPr>
            </a:pPr>
            <a:r>
              <a:rPr sz="1950">
                <a:solidFill>
                  <a:srgbClr val="111111"/>
                </a:solidFill>
                <a:latin typeface="Arial"/>
                <a:ea typeface="Arial"/>
                <a:cs typeface="Arial"/>
              </a:rPr>
              <a:t>Needs a graceful offline state</a:t>
            </a:r>
          </a:p>
        </p:txBody>
      </p:sp>
    </p:spTree>
    <p:extLst>
      <p:ext uri="{BB962C8B-B14F-4D97-AF65-F5344CB8AC3E}">
        <p14:creationId xmlns:p14="http://schemas.microsoft.com/office/powerpoint/2010/main" val="81327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lose-kicker">
            <a:extLst xmlns:a="http://schemas.openxmlformats.org/drawingml/2006/main">
              <a:ext uri="{FF2B5EF4-FFF2-40B4-BE49-F238E27FC236}">
                <a16:creationId xmlns:a16="http://schemas.microsoft.com/office/drawing/2014/main" id="{0BB7F412-4028-41DF-8441-6656424DA38D}"/>
              </a:ext>
            </a:extLst>
          </p:cNvPr>
          <p:cNvSpPr>
            <a:spLocks xmlns:a="http://schemas.openxmlformats.org/drawingml/2006/main" noGrp="1"/>
          </p:cNvSpPr>
          <p:nvPr/>
        </p:nvSpPr>
        <p:spPr>
          <a:xfrm xmlns:a="http://schemas.openxmlformats.org/drawingml/2006/main">
            <a:off x="533400" y="457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ONE IDEA TO TAKE HOME</a:t>
            </a:r>
          </a:p>
        </p:txBody>
      </p:sp>
      <p:sp>
        <p:nvSpPr>
          <p:cNvPr id="2" name="close-title">
            <a:extLst xmlns:a="http://schemas.openxmlformats.org/drawingml/2006/main">
              <a:ext uri="{FF2B5EF4-FFF2-40B4-BE49-F238E27FC236}">
                <a16:creationId xmlns:a16="http://schemas.microsoft.com/office/drawing/2014/main" id="{2F052C1F-F288-47ED-A00B-9DED1A453BD0}"/>
              </a:ext>
            </a:extLst>
          </p:cNvPr>
          <p:cNvSpPr>
            <a:spLocks xmlns:a="http://schemas.openxmlformats.org/drawingml/2006/main" noGrp="1"/>
          </p:cNvSpPr>
          <p:nvPr/>
        </p:nvSpPr>
        <p:spPr>
          <a:xfrm xmlns:a="http://schemas.openxmlformats.org/drawingml/2006/main">
            <a:off x="533400" y="1238250"/>
            <a:ext cx="1000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4000"/>
              </a:lnSpc>
              <a:buNone/>
              <a:defRPr sz="4650" b="1">
                <a:solidFill>
                  <a:srgbClr val="111111"/>
                </a:solidFill>
                <a:latin typeface="Arial"/>
                <a:ea typeface="Arial"/>
                <a:cs typeface="Arial"/>
              </a:defRPr>
            </a:pPr>
            <a:r>
              <a:rPr sz="4650" b="1">
                <a:solidFill>
                  <a:srgbClr val="111111"/>
                </a:solidFill>
                <a:latin typeface="Arial"/>
                <a:ea typeface="Arial"/>
                <a:cs typeface="Arial"/>
              </a:rPr>
              <a:t>Change one small system around you</a:t>
            </a:r>
          </a:p>
        </p:txBody>
      </p:sp>
      <p:sp>
        <p:nvSpPr>
          <p:cNvPr id="3" name="close-check-0">
            <a:extLst xmlns:a="http://schemas.openxmlformats.org/drawingml/2006/main">
              <a:ext uri="{FF2B5EF4-FFF2-40B4-BE49-F238E27FC236}">
                <a16:creationId xmlns:a16="http://schemas.microsoft.com/office/drawing/2014/main" id="{35C55557-C93C-49E1-807E-9EFF5A73DB34}"/>
              </a:ext>
            </a:extLst>
          </p:cNvPr>
          <p:cNvSpPr>
            <a:spLocks xmlns:a="http://schemas.openxmlformats.org/drawingml/2006/main" noGrp="1"/>
          </p:cNvSpPr>
          <p:nvPr/>
        </p:nvSpPr>
        <p:spPr>
          <a:xfrm xmlns:a="http://schemas.openxmlformats.org/drawingml/2006/main">
            <a:off x="628650" y="2819400"/>
            <a:ext cx="247650" cy="247650"/>
          </a:xfrm>
          <a:prstGeom xmlns:a="http://schemas.openxmlformats.org/drawingml/2006/main" prst="rect">
            <a:avLst/>
          </a:prstGeom>
          <a:solidFill xmlns:a="http://schemas.openxmlformats.org/drawingml/2006/main">
            <a:srgbClr val="6DCBF4"/>
          </a:solidFill>
          <a:ln xmlns:a="http://schemas.openxmlformats.org/drawingml/2006/main" w="9525">
            <a:solidFill>
              <a:srgbClr val="B8BCC4"/>
            </a:solidFill>
            <a:prstDash val="solid"/>
          </a:ln>
        </p:spPr>
      </p:sp>
      <p:sp>
        <p:nvSpPr>
          <p:cNvPr id="4" name="close-action-0">
            <a:extLst xmlns:a="http://schemas.openxmlformats.org/drawingml/2006/main">
              <a:ext uri="{FF2B5EF4-FFF2-40B4-BE49-F238E27FC236}">
                <a16:creationId xmlns:a16="http://schemas.microsoft.com/office/drawing/2014/main" id="{E8FF662E-92C6-45C3-BD28-E5661716F7B2}"/>
              </a:ext>
            </a:extLst>
          </p:cNvPr>
          <p:cNvSpPr>
            <a:spLocks xmlns:a="http://schemas.openxmlformats.org/drawingml/2006/main" noGrp="1"/>
          </p:cNvSpPr>
          <p:nvPr/>
        </p:nvSpPr>
        <p:spPr>
          <a:xfrm xmlns:a="http://schemas.openxmlformats.org/drawingml/2006/main">
            <a:off x="1123950" y="2781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a:solidFill>
                  <a:srgbClr val="111111"/>
                </a:solidFill>
                <a:latin typeface="Arial"/>
                <a:ea typeface="Arial"/>
                <a:cs typeface="Arial"/>
              </a:defRPr>
            </a:pPr>
            <a:r>
              <a:rPr sz="2100">
                <a:solidFill>
                  <a:srgbClr val="111111"/>
                </a:solidFill>
                <a:latin typeface="Arial"/>
                <a:ea typeface="Arial"/>
                <a:cs typeface="Arial"/>
              </a:rPr>
              <a:t>Notice one irritation</a:t>
            </a:r>
          </a:p>
        </p:txBody>
      </p:sp>
      <p:sp>
        <p:nvSpPr>
          <p:cNvPr id="5" name="close-check-1">
            <a:extLst xmlns:a="http://schemas.openxmlformats.org/drawingml/2006/main">
              <a:ext uri="{FF2B5EF4-FFF2-40B4-BE49-F238E27FC236}">
                <a16:creationId xmlns:a16="http://schemas.microsoft.com/office/drawing/2014/main" id="{E7CD69C2-F867-4C71-8E81-BBF048E37C8D}"/>
              </a:ext>
            </a:extLst>
          </p:cNvPr>
          <p:cNvSpPr>
            <a:spLocks xmlns:a="http://schemas.openxmlformats.org/drawingml/2006/main" noGrp="1"/>
          </p:cNvSpPr>
          <p:nvPr/>
        </p:nvSpPr>
        <p:spPr>
          <a:xfrm xmlns:a="http://schemas.openxmlformats.org/drawingml/2006/main">
            <a:off x="628650" y="3409950"/>
            <a:ext cx="247650" cy="247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6" name="close-action-1">
            <a:extLst xmlns:a="http://schemas.openxmlformats.org/drawingml/2006/main">
              <a:ext uri="{FF2B5EF4-FFF2-40B4-BE49-F238E27FC236}">
                <a16:creationId xmlns:a16="http://schemas.microsoft.com/office/drawing/2014/main" id="{8C043583-1DAB-4023-B167-1451029A8856}"/>
              </a:ext>
            </a:extLst>
          </p:cNvPr>
          <p:cNvSpPr>
            <a:spLocks xmlns:a="http://schemas.openxmlformats.org/drawingml/2006/main" noGrp="1"/>
          </p:cNvSpPr>
          <p:nvPr/>
        </p:nvSpPr>
        <p:spPr>
          <a:xfrm xmlns:a="http://schemas.openxmlformats.org/drawingml/2006/main">
            <a:off x="1123950" y="33718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a:solidFill>
                  <a:srgbClr val="111111"/>
                </a:solidFill>
                <a:latin typeface="Arial"/>
                <a:ea typeface="Arial"/>
                <a:cs typeface="Arial"/>
              </a:defRPr>
            </a:pPr>
            <a:r>
              <a:rPr sz="2100">
                <a:solidFill>
                  <a:srgbClr val="111111"/>
                </a:solidFill>
                <a:latin typeface="Arial"/>
                <a:ea typeface="Arial"/>
                <a:cs typeface="Arial"/>
              </a:rPr>
              <a:t>Ask for the smallest version</a:t>
            </a:r>
          </a:p>
        </p:txBody>
      </p:sp>
      <p:sp>
        <p:nvSpPr>
          <p:cNvPr id="7" name="close-check-2">
            <a:extLst xmlns:a="http://schemas.openxmlformats.org/drawingml/2006/main">
              <a:ext uri="{FF2B5EF4-FFF2-40B4-BE49-F238E27FC236}">
                <a16:creationId xmlns:a16="http://schemas.microsoft.com/office/drawing/2014/main" id="{A3557C8C-0F7D-44FA-A35E-94F21CD87B17}"/>
              </a:ext>
            </a:extLst>
          </p:cNvPr>
          <p:cNvSpPr>
            <a:spLocks xmlns:a="http://schemas.openxmlformats.org/drawingml/2006/main" noGrp="1"/>
          </p:cNvSpPr>
          <p:nvPr/>
        </p:nvSpPr>
        <p:spPr>
          <a:xfrm xmlns:a="http://schemas.openxmlformats.org/drawingml/2006/main">
            <a:off x="628650" y="4000500"/>
            <a:ext cx="247650" cy="247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8" name="close-action-2">
            <a:extLst xmlns:a="http://schemas.openxmlformats.org/drawingml/2006/main">
              <a:ext uri="{FF2B5EF4-FFF2-40B4-BE49-F238E27FC236}">
                <a16:creationId xmlns:a16="http://schemas.microsoft.com/office/drawing/2014/main" id="{3244F7ED-3269-41B5-BBF8-9F342E6C83B7}"/>
              </a:ext>
            </a:extLst>
          </p:cNvPr>
          <p:cNvSpPr>
            <a:spLocks xmlns:a="http://schemas.openxmlformats.org/drawingml/2006/main" noGrp="1"/>
          </p:cNvSpPr>
          <p:nvPr/>
        </p:nvSpPr>
        <p:spPr>
          <a:xfrm xmlns:a="http://schemas.openxmlformats.org/drawingml/2006/main">
            <a:off x="1123950" y="39624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a:solidFill>
                  <a:srgbClr val="111111"/>
                </a:solidFill>
                <a:latin typeface="Arial"/>
                <a:ea typeface="Arial"/>
                <a:cs typeface="Arial"/>
              </a:defRPr>
            </a:pPr>
            <a:r>
              <a:rPr sz="2100">
                <a:solidFill>
                  <a:srgbClr val="111111"/>
                </a:solidFill>
                <a:latin typeface="Arial"/>
                <a:ea typeface="Arial"/>
                <a:cs typeface="Arial"/>
              </a:rPr>
              <a:t>Keep it local + reversible</a:t>
            </a:r>
          </a:p>
        </p:txBody>
      </p:sp>
      <p:sp>
        <p:nvSpPr>
          <p:cNvPr id="9" name="close-check-3">
            <a:extLst xmlns:a="http://schemas.openxmlformats.org/drawingml/2006/main">
              <a:ext uri="{FF2B5EF4-FFF2-40B4-BE49-F238E27FC236}">
                <a16:creationId xmlns:a16="http://schemas.microsoft.com/office/drawing/2014/main" id="{70F3D2DF-A0EC-4A46-B31A-3DE5912014C9}"/>
              </a:ext>
            </a:extLst>
          </p:cNvPr>
          <p:cNvSpPr>
            <a:spLocks xmlns:a="http://schemas.openxmlformats.org/drawingml/2006/main" noGrp="1"/>
          </p:cNvSpPr>
          <p:nvPr/>
        </p:nvSpPr>
        <p:spPr>
          <a:xfrm xmlns:a="http://schemas.openxmlformats.org/drawingml/2006/main">
            <a:off x="628650" y="4591050"/>
            <a:ext cx="247650" cy="2476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close-action-3">
            <a:extLst xmlns:a="http://schemas.openxmlformats.org/drawingml/2006/main">
              <a:ext uri="{FF2B5EF4-FFF2-40B4-BE49-F238E27FC236}">
                <a16:creationId xmlns:a16="http://schemas.microsoft.com/office/drawing/2014/main" id="{42402610-B6E7-4FED-83D9-D70DD1A7E636}"/>
              </a:ext>
            </a:extLst>
          </p:cNvPr>
          <p:cNvSpPr>
            <a:spLocks xmlns:a="http://schemas.openxmlformats.org/drawingml/2006/main" noGrp="1"/>
          </p:cNvSpPr>
          <p:nvPr/>
        </p:nvSpPr>
        <p:spPr>
          <a:xfrm xmlns:a="http://schemas.openxmlformats.org/drawingml/2006/main">
            <a:off x="1123950" y="45529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a:solidFill>
                  <a:srgbClr val="111111"/>
                </a:solidFill>
                <a:latin typeface="Arial"/>
                <a:ea typeface="Arial"/>
                <a:cs typeface="Arial"/>
              </a:defRPr>
            </a:pPr>
            <a:r>
              <a:rPr sz="2100">
                <a:solidFill>
                  <a:srgbClr val="111111"/>
                </a:solidFill>
                <a:latin typeface="Arial"/>
                <a:ea typeface="Arial"/>
                <a:cs typeface="Arial"/>
              </a:rPr>
              <a:t>Test before you trust it</a:t>
            </a:r>
          </a:p>
        </p:txBody>
      </p:sp>
      <p:sp>
        <p:nvSpPr>
          <p:cNvPr id="11" name="close-quote-bg">
            <a:extLst xmlns:a="http://schemas.openxmlformats.org/drawingml/2006/main">
              <a:ext uri="{FF2B5EF4-FFF2-40B4-BE49-F238E27FC236}">
                <a16:creationId xmlns:a16="http://schemas.microsoft.com/office/drawing/2014/main" id="{DE80C623-391C-4A59-B273-9B7777C8CE23}"/>
              </a:ext>
            </a:extLst>
          </p:cNvPr>
          <p:cNvSpPr>
            <a:spLocks xmlns:a="http://schemas.openxmlformats.org/drawingml/2006/main" noGrp="1"/>
          </p:cNvSpPr>
          <p:nvPr/>
        </p:nvSpPr>
        <p:spPr>
          <a:xfrm xmlns:a="http://schemas.openxmlformats.org/drawingml/2006/main">
            <a:off x="7239000" y="2781300"/>
            <a:ext cx="43053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2" name="close-quote">
            <a:extLst xmlns:a="http://schemas.openxmlformats.org/drawingml/2006/main">
              <a:ext uri="{FF2B5EF4-FFF2-40B4-BE49-F238E27FC236}">
                <a16:creationId xmlns:a16="http://schemas.microsoft.com/office/drawing/2014/main" id="{ABCB95E6-0D8E-4FDD-9668-53CD90A59CA0}"/>
              </a:ext>
            </a:extLst>
          </p:cNvPr>
          <p:cNvSpPr>
            <a:spLocks xmlns:a="http://schemas.openxmlformats.org/drawingml/2006/main" noGrp="1"/>
          </p:cNvSpPr>
          <p:nvPr/>
        </p:nvSpPr>
        <p:spPr>
          <a:xfrm xmlns:a="http://schemas.openxmlformats.org/drawingml/2006/main">
            <a:off x="7600950" y="3105150"/>
            <a:ext cx="3581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11111"/>
                </a:solidFill>
                <a:latin typeface="Arial"/>
                <a:ea typeface="Arial"/>
                <a:cs typeface="Arial"/>
              </a:defRPr>
            </a:pPr>
            <a:r>
              <a:rPr sz="2025" b="1">
                <a:solidFill>
                  <a:srgbClr val="111111"/>
                </a:solidFill>
                <a:latin typeface="Arial"/>
                <a:ea typeface="Arial"/>
                <a:cs typeface="Arial"/>
              </a:rPr>
              <a:t>Not more software.</a:t>
            </a:r>
          </a:p>
          <a:p xmlns:a="http://schemas.openxmlformats.org/drawingml/2006/main">
            <a:r>
              <a:t/>
            </a:r>
          </a:p>
          <a:p xmlns:a="http://schemas.openxmlformats.org/drawingml/2006/main">
            <a:pPr algn="l">
              <a:lnSpc>
                <a:spcPct val="105000"/>
              </a:lnSpc>
              <a:buNone/>
              <a:defRPr sz="2025" b="1">
                <a:solidFill>
                  <a:srgbClr val="111111"/>
                </a:solidFill>
                <a:latin typeface="Arial"/>
                <a:ea typeface="Arial"/>
                <a:cs typeface="Arial"/>
              </a:defRPr>
            </a:pPr>
            <a:r>
              <a:rPr sz="2025" b="1">
                <a:solidFill>
                  <a:srgbClr val="111111"/>
                </a:solidFill>
                <a:latin typeface="Arial"/>
                <a:ea typeface="Arial"/>
                <a:cs typeface="Arial"/>
              </a:rPr>
              <a:t>The power to shape small systems around you—and the judgement to test them.</a:t>
            </a:r>
          </a:p>
        </p:txBody>
      </p:sp>
      <p:sp>
        <p:nvSpPr>
          <p:cNvPr id="13" name="close-repo">
            <a:extLst xmlns:a="http://schemas.openxmlformats.org/drawingml/2006/main">
              <a:ext uri="{FF2B5EF4-FFF2-40B4-BE49-F238E27FC236}">
                <a16:creationId xmlns:a16="http://schemas.microsoft.com/office/drawing/2014/main" id="{F4B5DEA6-8B02-431A-A993-2B997EFDAAF9}"/>
              </a:ext>
            </a:extLst>
          </p:cNvPr>
          <p:cNvSpPr>
            <a:spLocks xmlns:a="http://schemas.openxmlformats.org/drawingml/2006/main" noGrp="1"/>
          </p:cNvSpPr>
          <p:nvPr/>
        </p:nvSpPr>
        <p:spPr>
          <a:xfrm xmlns:a="http://schemas.openxmlformats.org/drawingml/2006/main">
            <a:off x="533400" y="58674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a:solidFill>
                  <a:srgbClr val="3D8DFF"/>
                </a:solidFill>
                <a:latin typeface="Arial"/>
                <a:ea typeface="Arial"/>
                <a:cs typeface="Arial"/>
              </a:defRPr>
            </a:pPr>
            <a:r>
              <a:rPr sz="1500">
                <a:solidFill>
                  <a:srgbClr val="3D8DFF"/>
                </a:solidFill>
                <a:latin typeface="Arial"/>
                <a:ea typeface="Arial"/>
                <a:cs typeface="Arial"/>
                <a:hlinkClick xmlns:r="http://schemas.openxmlformats.org/officeDocument/2006/relationships" r:id="R87191af142a34349"/>
              </a:rPr>
              <a:t>github.com/arlen-brower/festival-of-ai</a:t>
            </a:r>
          </a:p>
        </p:txBody>
      </p:sp>
    </p:spTree>
    <p:extLst>
      <p:ext uri="{BB962C8B-B14F-4D97-AF65-F5344CB8AC3E}">
        <p14:creationId xmlns:p14="http://schemas.microsoft.com/office/powerpoint/2010/main" val="427048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2026-08-17T08:10:22.3330000Z</dcterms:created>
  <dcterms:modified xsi:type="dcterms:W3CDTF">2026-08-17T08:10:22.3330000Z</dcterms:modified>
</coreProperties>
</file>